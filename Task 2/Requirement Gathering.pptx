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60" r:id="rId5"/>
    <p:sldId id="259" r:id="rId6"/>
    <p:sldId id="261" r:id="rId7"/>
    <p:sldId id="267" r:id="rId8"/>
    <p:sldId id="269" r:id="rId9"/>
    <p:sldId id="276" r:id="rId10"/>
    <p:sldId id="272" r:id="rId11"/>
    <p:sldId id="273" r:id="rId12"/>
    <p:sldId id="275" r:id="rId13"/>
    <p:sldId id="262" r:id="rId14"/>
    <p:sldId id="274" r:id="rId15"/>
    <p:sldId id="277" r:id="rId16"/>
    <p:sldId id="263" r:id="rId17"/>
    <p:sldId id="264" r:id="rId18"/>
    <p:sldId id="265" r:id="rId19"/>
  </p:sldIdLst>
  <p:sldSz cx="18288000" cy="10287000"/>
  <p:notesSz cx="6858000" cy="9144000"/>
  <p:embeddedFontLst>
    <p:embeddedFont>
      <p:font typeface="Canva Sans" panose="020B0604020202020204" charset="0"/>
      <p:regular r:id="rId21"/>
    </p:embeddedFont>
    <p:embeddedFont>
      <p:font typeface="Canva Sans Bold" panose="020B0604020202020204" charset="0"/>
      <p:regular r:id="rId22"/>
    </p:embeddedFont>
    <p:embeddedFont>
      <p:font typeface="Inter" panose="020B0604020202020204" charset="0"/>
      <p:regular r:id="rId23"/>
    </p:embeddedFont>
    <p:embeddedFont>
      <p:font typeface="Inter Bold" panose="020B0604020202020204" charset="0"/>
      <p:regular r:id="rId24"/>
    </p:embeddedFont>
    <p:embeddedFont>
      <p:font typeface="Inter Ultra-Bold" panose="020B0604020202020204" charset="0"/>
      <p:regular r:id="rId25"/>
    </p:embeddedFont>
    <p:embeddedFont>
      <p:font typeface="Montaser Arabic Bold" panose="020B0604020202020204" charset="-78"/>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22" autoAdjust="0"/>
  </p:normalViewPr>
  <p:slideViewPr>
    <p:cSldViewPr>
      <p:cViewPr varScale="1">
        <p:scale>
          <a:sx n="43" d="100"/>
          <a:sy n="43" d="100"/>
        </p:scale>
        <p:origin x="96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5A362-1412-43FB-A8CF-2BE123509351}"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58732F-F623-4F52-BF99-D2BD551A3E83}" type="slidenum">
              <a:rPr lang="en-US" smtClean="0"/>
              <a:t>‹#›</a:t>
            </a:fld>
            <a:endParaRPr lang="en-US"/>
          </a:p>
        </p:txBody>
      </p:sp>
    </p:spTree>
    <p:extLst>
      <p:ext uri="{BB962C8B-B14F-4D97-AF65-F5344CB8AC3E}">
        <p14:creationId xmlns:p14="http://schemas.microsoft.com/office/powerpoint/2010/main" val="308022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8732F-F623-4F52-BF99-D2BD551A3E83}" type="slidenum">
              <a:rPr lang="en-US" smtClean="0"/>
              <a:t>4</a:t>
            </a:fld>
            <a:endParaRPr lang="en-US"/>
          </a:p>
        </p:txBody>
      </p:sp>
    </p:spTree>
    <p:extLst>
      <p:ext uri="{BB962C8B-B14F-4D97-AF65-F5344CB8AC3E}">
        <p14:creationId xmlns:p14="http://schemas.microsoft.com/office/powerpoint/2010/main" val="64786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555203" y="665140"/>
            <a:ext cx="17177593" cy="8956719"/>
            <a:chOff x="0" y="0"/>
            <a:chExt cx="2661259" cy="1387630"/>
          </a:xfrm>
        </p:grpSpPr>
        <p:sp>
          <p:nvSpPr>
            <p:cNvPr id="3" name="Freeform 3"/>
            <p:cNvSpPr/>
            <p:nvPr/>
          </p:nvSpPr>
          <p:spPr>
            <a:xfrm>
              <a:off x="0" y="0"/>
              <a:ext cx="2661259" cy="1387630"/>
            </a:xfrm>
            <a:custGeom>
              <a:avLst/>
              <a:gdLst/>
              <a:ahLst/>
              <a:cxnLst/>
              <a:rect l="l" t="t" r="r" b="b"/>
              <a:pathLst>
                <a:path w="2661259" h="1387630">
                  <a:moveTo>
                    <a:pt x="9014" y="0"/>
                  </a:moveTo>
                  <a:lnTo>
                    <a:pt x="2652245" y="0"/>
                  </a:lnTo>
                  <a:cubicBezTo>
                    <a:pt x="2654635" y="0"/>
                    <a:pt x="2656928" y="950"/>
                    <a:pt x="2658619" y="2640"/>
                  </a:cubicBezTo>
                  <a:cubicBezTo>
                    <a:pt x="2660309" y="4331"/>
                    <a:pt x="2661259" y="6623"/>
                    <a:pt x="2661259" y="9014"/>
                  </a:cubicBezTo>
                  <a:lnTo>
                    <a:pt x="2661259" y="1378616"/>
                  </a:lnTo>
                  <a:cubicBezTo>
                    <a:pt x="2661259" y="1381007"/>
                    <a:pt x="2660309" y="1383300"/>
                    <a:pt x="2658619" y="1384990"/>
                  </a:cubicBezTo>
                  <a:cubicBezTo>
                    <a:pt x="2656928" y="1386680"/>
                    <a:pt x="2654635" y="1387630"/>
                    <a:pt x="2652245" y="1387630"/>
                  </a:cubicBezTo>
                  <a:lnTo>
                    <a:pt x="9014" y="1387630"/>
                  </a:lnTo>
                  <a:cubicBezTo>
                    <a:pt x="6623" y="1387630"/>
                    <a:pt x="4331" y="1386680"/>
                    <a:pt x="2640" y="1384990"/>
                  </a:cubicBezTo>
                  <a:cubicBezTo>
                    <a:pt x="950" y="1383300"/>
                    <a:pt x="0" y="1381007"/>
                    <a:pt x="0" y="1378616"/>
                  </a:cubicBezTo>
                  <a:lnTo>
                    <a:pt x="0" y="9014"/>
                  </a:lnTo>
                  <a:cubicBezTo>
                    <a:pt x="0" y="6623"/>
                    <a:pt x="950" y="4331"/>
                    <a:pt x="2640" y="2640"/>
                  </a:cubicBezTo>
                  <a:cubicBezTo>
                    <a:pt x="4331" y="950"/>
                    <a:pt x="6623" y="0"/>
                    <a:pt x="9014" y="0"/>
                  </a:cubicBezTo>
                  <a:close/>
                </a:path>
              </a:pathLst>
            </a:custGeom>
            <a:blipFill>
              <a:blip r:embed="rId2"/>
              <a:stretch>
                <a:fillRect l="-32139" t="-33689" r="-2766" b="-39012"/>
              </a:stretch>
            </a:blipFill>
          </p:spPr>
        </p:sp>
      </p:grpSp>
      <p:sp>
        <p:nvSpPr>
          <p:cNvPr id="4" name="TextBox 4"/>
          <p:cNvSpPr txBox="1"/>
          <p:nvPr/>
        </p:nvSpPr>
        <p:spPr>
          <a:xfrm>
            <a:off x="855064" y="5569583"/>
            <a:ext cx="14232536" cy="3385542"/>
          </a:xfrm>
          <a:prstGeom prst="rect">
            <a:avLst/>
          </a:prstGeom>
        </p:spPr>
        <p:txBody>
          <a:bodyPr wrap="square" lIns="0" tIns="0" rIns="0" bIns="0" rtlCol="0" anchor="t">
            <a:spAutoFit/>
          </a:bodyPr>
          <a:lstStyle/>
          <a:p>
            <a:pPr algn="l">
              <a:lnSpc>
                <a:spcPts val="13200"/>
              </a:lnSpc>
            </a:pPr>
            <a:r>
              <a:rPr lang="en-US" sz="13200" b="1" dirty="0">
                <a:solidFill>
                  <a:srgbClr val="FFFFFF"/>
                </a:solidFill>
                <a:latin typeface="Montaser Arabic Bold"/>
                <a:ea typeface="Montaser Arabic Bold"/>
                <a:cs typeface="Montaser Arabic Bold"/>
                <a:sym typeface="Montaser Arabic Bold"/>
              </a:rPr>
              <a:t>Requirement Gathering Phase</a:t>
            </a:r>
          </a:p>
        </p:txBody>
      </p:sp>
      <p:sp>
        <p:nvSpPr>
          <p:cNvPr id="5" name="TextBox 5"/>
          <p:cNvSpPr txBox="1"/>
          <p:nvPr/>
        </p:nvSpPr>
        <p:spPr>
          <a:xfrm>
            <a:off x="14684241" y="8683083"/>
            <a:ext cx="3624203" cy="596901"/>
          </a:xfrm>
          <a:prstGeom prst="rect">
            <a:avLst/>
          </a:prstGeom>
        </p:spPr>
        <p:txBody>
          <a:bodyPr lIns="0" tIns="0" rIns="0" bIns="0" rtlCol="0" anchor="t">
            <a:spAutoFit/>
          </a:bodyPr>
          <a:lstStyle/>
          <a:p>
            <a:pPr algn="l">
              <a:lnSpc>
                <a:spcPts val="4899"/>
              </a:lnSpc>
            </a:pPr>
            <a:r>
              <a:rPr lang="en-US" sz="3499" b="1" dirty="0">
                <a:solidFill>
                  <a:srgbClr val="C1FF72"/>
                </a:solidFill>
                <a:latin typeface="Inter Bold"/>
                <a:ea typeface="Inter Bold"/>
                <a:cs typeface="Inter Bold"/>
                <a:sym typeface="Inter Bold"/>
              </a:rPr>
              <a:t>BY  GROUP 8</a:t>
            </a:r>
          </a:p>
        </p:txBody>
      </p:sp>
      <p:sp>
        <p:nvSpPr>
          <p:cNvPr id="6" name="TextBox 5">
            <a:extLst>
              <a:ext uri="{FF2B5EF4-FFF2-40B4-BE49-F238E27FC236}">
                <a16:creationId xmlns:a16="http://schemas.microsoft.com/office/drawing/2014/main" id="{0BA0C91E-06DE-AC37-4CBD-4A6768886D19}"/>
              </a:ext>
            </a:extLst>
          </p:cNvPr>
          <p:cNvSpPr txBox="1"/>
          <p:nvPr/>
        </p:nvSpPr>
        <p:spPr>
          <a:xfrm>
            <a:off x="2057400" y="1638300"/>
            <a:ext cx="14935200" cy="3046988"/>
          </a:xfrm>
          <a:prstGeom prst="rect">
            <a:avLst/>
          </a:prstGeom>
          <a:noFill/>
        </p:spPr>
        <p:txBody>
          <a:bodyPr wrap="square" rtlCol="0">
            <a:spAutoFit/>
          </a:bodyPr>
          <a:lstStyle/>
          <a:p>
            <a:pPr algn="ctr"/>
            <a:r>
              <a:rPr lang="fr-FR" sz="9600" dirty="0">
                <a:solidFill>
                  <a:srgbClr val="FFFF00"/>
                </a:solidFill>
              </a:rPr>
              <a:t>Mobile Car </a:t>
            </a:r>
            <a:r>
              <a:rPr lang="fr-FR" sz="9600" dirty="0" err="1">
                <a:solidFill>
                  <a:srgbClr val="FFFF00"/>
                </a:solidFill>
              </a:rPr>
              <a:t>Fault</a:t>
            </a:r>
            <a:r>
              <a:rPr lang="fr-FR" sz="9600" dirty="0">
                <a:solidFill>
                  <a:srgbClr val="FFFF00"/>
                </a:solidFill>
              </a:rPr>
              <a:t> </a:t>
            </a:r>
            <a:r>
              <a:rPr lang="fr-FR" sz="9600" dirty="0" err="1">
                <a:solidFill>
                  <a:srgbClr val="FFFF00"/>
                </a:solidFill>
              </a:rPr>
              <a:t>Diagnosis</a:t>
            </a:r>
            <a:r>
              <a:rPr lang="fr-FR" sz="9600" dirty="0">
                <a:solidFill>
                  <a:srgbClr val="FFFF00"/>
                </a:solidFill>
              </a:rPr>
              <a:t> Application</a:t>
            </a:r>
            <a:endParaRPr lang="en-US" sz="9600" dirty="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399085" y="1881365"/>
            <a:ext cx="8744915" cy="6711335"/>
            <a:chOff x="0" y="0"/>
            <a:chExt cx="1808091" cy="1387630"/>
          </a:xfrm>
        </p:grpSpPr>
        <p:sp>
          <p:nvSpPr>
            <p:cNvPr id="3" name="Freeform 3"/>
            <p:cNvSpPr/>
            <p:nvPr/>
          </p:nvSpPr>
          <p:spPr>
            <a:xfrm>
              <a:off x="0" y="0"/>
              <a:ext cx="1808091" cy="1387630"/>
            </a:xfrm>
            <a:custGeom>
              <a:avLst/>
              <a:gdLst/>
              <a:ahLst/>
              <a:cxnLst/>
              <a:rect l="l" t="t" r="r" b="b"/>
              <a:pathLst>
                <a:path w="1808091" h="1387630">
                  <a:moveTo>
                    <a:pt x="17706" y="0"/>
                  </a:moveTo>
                  <a:lnTo>
                    <a:pt x="1790385" y="0"/>
                  </a:lnTo>
                  <a:cubicBezTo>
                    <a:pt x="1800164" y="0"/>
                    <a:pt x="1808091" y="7927"/>
                    <a:pt x="1808091" y="17706"/>
                  </a:cubicBezTo>
                  <a:lnTo>
                    <a:pt x="1808091" y="1369924"/>
                  </a:lnTo>
                  <a:cubicBezTo>
                    <a:pt x="1808091" y="1379703"/>
                    <a:pt x="1800164" y="1387630"/>
                    <a:pt x="1790385" y="1387630"/>
                  </a:cubicBezTo>
                  <a:lnTo>
                    <a:pt x="17706" y="1387630"/>
                  </a:lnTo>
                  <a:cubicBezTo>
                    <a:pt x="7927" y="1387630"/>
                    <a:pt x="0" y="1379703"/>
                    <a:pt x="0" y="1369924"/>
                  </a:cubicBezTo>
                  <a:lnTo>
                    <a:pt x="0" y="17706"/>
                  </a:lnTo>
                  <a:cubicBezTo>
                    <a:pt x="0" y="7927"/>
                    <a:pt x="7927" y="0"/>
                    <a:pt x="17706" y="0"/>
                  </a:cubicBezTo>
                  <a:close/>
                </a:path>
              </a:pathLst>
            </a:custGeom>
            <a:blipFill>
              <a:blip r:embed="rId2"/>
              <a:stretch>
                <a:fillRect t="-17335" r="-34906"/>
              </a:stretch>
            </a:blipFill>
          </p:spPr>
        </p:sp>
      </p:grpSp>
      <p:grpSp>
        <p:nvGrpSpPr>
          <p:cNvPr id="4" name="Group 4"/>
          <p:cNvGrpSpPr/>
          <p:nvPr/>
        </p:nvGrpSpPr>
        <p:grpSpPr>
          <a:xfrm>
            <a:off x="9692791" y="814633"/>
            <a:ext cx="8097792" cy="4208768"/>
            <a:chOff x="0" y="0"/>
            <a:chExt cx="2132752" cy="1108482"/>
          </a:xfrm>
        </p:grpSpPr>
        <p:sp>
          <p:nvSpPr>
            <p:cNvPr id="5" name="Freeform 5"/>
            <p:cNvSpPr/>
            <p:nvPr/>
          </p:nvSpPr>
          <p:spPr>
            <a:xfrm>
              <a:off x="0" y="0"/>
              <a:ext cx="2132752" cy="1108482"/>
            </a:xfrm>
            <a:custGeom>
              <a:avLst/>
              <a:gdLst/>
              <a:ahLst/>
              <a:cxnLst/>
              <a:rect l="l" t="t" r="r" b="b"/>
              <a:pathLst>
                <a:path w="2132752" h="1108482">
                  <a:moveTo>
                    <a:pt x="19121" y="0"/>
                  </a:moveTo>
                  <a:lnTo>
                    <a:pt x="2113631" y="0"/>
                  </a:lnTo>
                  <a:cubicBezTo>
                    <a:pt x="2118702" y="0"/>
                    <a:pt x="2123566" y="2015"/>
                    <a:pt x="2127151" y="5600"/>
                  </a:cubicBezTo>
                  <a:cubicBezTo>
                    <a:pt x="2130737" y="9186"/>
                    <a:pt x="2132752" y="14050"/>
                    <a:pt x="2132752" y="19121"/>
                  </a:cubicBezTo>
                  <a:lnTo>
                    <a:pt x="2132752" y="1089361"/>
                  </a:lnTo>
                  <a:cubicBezTo>
                    <a:pt x="2132752" y="1094432"/>
                    <a:pt x="2130737" y="1099296"/>
                    <a:pt x="2127151" y="1102882"/>
                  </a:cubicBezTo>
                  <a:cubicBezTo>
                    <a:pt x="2123566" y="1106468"/>
                    <a:pt x="2118702" y="1108482"/>
                    <a:pt x="2113631" y="1108482"/>
                  </a:cubicBezTo>
                  <a:lnTo>
                    <a:pt x="19121" y="1108482"/>
                  </a:lnTo>
                  <a:cubicBezTo>
                    <a:pt x="8561" y="1108482"/>
                    <a:pt x="0" y="1099921"/>
                    <a:pt x="0" y="1089361"/>
                  </a:cubicBezTo>
                  <a:lnTo>
                    <a:pt x="0" y="19121"/>
                  </a:lnTo>
                  <a:cubicBezTo>
                    <a:pt x="0" y="14050"/>
                    <a:pt x="2015" y="9186"/>
                    <a:pt x="5600" y="5600"/>
                  </a:cubicBezTo>
                  <a:cubicBezTo>
                    <a:pt x="9186" y="2015"/>
                    <a:pt x="14050" y="0"/>
                    <a:pt x="19121" y="0"/>
                  </a:cubicBezTo>
                  <a:close/>
                </a:path>
              </a:pathLst>
            </a:custGeom>
            <a:solidFill>
              <a:srgbClr val="EE4D4D"/>
            </a:solidFill>
          </p:spPr>
        </p:sp>
        <p:sp>
          <p:nvSpPr>
            <p:cNvPr id="6" name="TextBox 6"/>
            <p:cNvSpPr txBox="1"/>
            <p:nvPr/>
          </p:nvSpPr>
          <p:spPr>
            <a:xfrm>
              <a:off x="0" y="0"/>
              <a:ext cx="2132752" cy="1108482"/>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9525068" y="5309785"/>
            <a:ext cx="8097792" cy="4145789"/>
            <a:chOff x="0" y="0"/>
            <a:chExt cx="2132752" cy="1091895"/>
          </a:xfrm>
        </p:grpSpPr>
        <p:sp>
          <p:nvSpPr>
            <p:cNvPr id="8" name="Freeform 8"/>
            <p:cNvSpPr/>
            <p:nvPr/>
          </p:nvSpPr>
          <p:spPr>
            <a:xfrm>
              <a:off x="0" y="0"/>
              <a:ext cx="2132752" cy="1091895"/>
            </a:xfrm>
            <a:custGeom>
              <a:avLst/>
              <a:gdLst/>
              <a:ahLst/>
              <a:cxnLst/>
              <a:rect l="l" t="t" r="r" b="b"/>
              <a:pathLst>
                <a:path w="2132752" h="1091895">
                  <a:moveTo>
                    <a:pt x="19121" y="0"/>
                  </a:moveTo>
                  <a:lnTo>
                    <a:pt x="2113631" y="0"/>
                  </a:lnTo>
                  <a:cubicBezTo>
                    <a:pt x="2118702" y="0"/>
                    <a:pt x="2123566" y="2015"/>
                    <a:pt x="2127151" y="5600"/>
                  </a:cubicBezTo>
                  <a:cubicBezTo>
                    <a:pt x="2130737" y="9186"/>
                    <a:pt x="2132752" y="14050"/>
                    <a:pt x="2132752" y="19121"/>
                  </a:cubicBezTo>
                  <a:lnTo>
                    <a:pt x="2132752" y="1072774"/>
                  </a:lnTo>
                  <a:cubicBezTo>
                    <a:pt x="2132752" y="1077845"/>
                    <a:pt x="2130737" y="1082709"/>
                    <a:pt x="2127151" y="1086295"/>
                  </a:cubicBezTo>
                  <a:cubicBezTo>
                    <a:pt x="2123566" y="1089881"/>
                    <a:pt x="2118702" y="1091895"/>
                    <a:pt x="2113631" y="1091895"/>
                  </a:cubicBezTo>
                  <a:lnTo>
                    <a:pt x="19121" y="1091895"/>
                  </a:lnTo>
                  <a:cubicBezTo>
                    <a:pt x="14050" y="1091895"/>
                    <a:pt x="9186" y="1089881"/>
                    <a:pt x="5600" y="1086295"/>
                  </a:cubicBezTo>
                  <a:cubicBezTo>
                    <a:pt x="2015" y="1082709"/>
                    <a:pt x="0" y="1077845"/>
                    <a:pt x="0" y="1072774"/>
                  </a:cubicBezTo>
                  <a:lnTo>
                    <a:pt x="0" y="19121"/>
                  </a:lnTo>
                  <a:cubicBezTo>
                    <a:pt x="0" y="14050"/>
                    <a:pt x="2015" y="9186"/>
                    <a:pt x="5600" y="5600"/>
                  </a:cubicBezTo>
                  <a:cubicBezTo>
                    <a:pt x="9186" y="2015"/>
                    <a:pt x="14050" y="0"/>
                    <a:pt x="19121" y="0"/>
                  </a:cubicBezTo>
                  <a:close/>
                </a:path>
              </a:pathLst>
            </a:custGeom>
            <a:solidFill>
              <a:srgbClr val="FFFFFF"/>
            </a:solidFill>
          </p:spPr>
        </p:sp>
        <p:sp>
          <p:nvSpPr>
            <p:cNvPr id="9" name="TextBox 9"/>
            <p:cNvSpPr txBox="1"/>
            <p:nvPr/>
          </p:nvSpPr>
          <p:spPr>
            <a:xfrm>
              <a:off x="0" y="0"/>
              <a:ext cx="2132752" cy="1091895"/>
            </a:xfrm>
            <a:prstGeom prst="rect">
              <a:avLst/>
            </a:prstGeom>
          </p:spPr>
          <p:txBody>
            <a:bodyPr lIns="50800" tIns="50800" rIns="50800" bIns="50800" rtlCol="0" anchor="ctr"/>
            <a:lstStyle/>
            <a:p>
              <a:pPr algn="ctr">
                <a:lnSpc>
                  <a:spcPts val="2520"/>
                </a:lnSpc>
              </a:pPr>
              <a:endParaRPr/>
            </a:p>
          </p:txBody>
        </p:sp>
      </p:grpSp>
      <p:sp>
        <p:nvSpPr>
          <p:cNvPr id="10" name="TextBox 10"/>
          <p:cNvSpPr txBox="1"/>
          <p:nvPr/>
        </p:nvSpPr>
        <p:spPr>
          <a:xfrm>
            <a:off x="1872739" y="2050019"/>
            <a:ext cx="5862340" cy="1566544"/>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What is it?</a:t>
            </a:r>
          </a:p>
        </p:txBody>
      </p:sp>
      <p:sp>
        <p:nvSpPr>
          <p:cNvPr id="13" name="TextBox 13"/>
          <p:cNvSpPr txBox="1"/>
          <p:nvPr/>
        </p:nvSpPr>
        <p:spPr>
          <a:xfrm>
            <a:off x="231909" y="5243110"/>
            <a:ext cx="9144000" cy="1126772"/>
          </a:xfrm>
          <a:prstGeom prst="rect">
            <a:avLst/>
          </a:prstGeom>
        </p:spPr>
        <p:txBody>
          <a:bodyPr lIns="0" tIns="0" rIns="0" bIns="0" rtlCol="0" anchor="t">
            <a:spAutoFit/>
          </a:bodyPr>
          <a:lstStyle/>
          <a:p>
            <a:pPr algn="ctr">
              <a:lnSpc>
                <a:spcPts val="4569"/>
              </a:lnSpc>
            </a:pPr>
            <a:r>
              <a:rPr lang="en-US" sz="3263" dirty="0">
                <a:solidFill>
                  <a:srgbClr val="FFFFFF"/>
                </a:solidFill>
                <a:latin typeface="Canva Sans"/>
                <a:ea typeface="Canva Sans"/>
                <a:cs typeface="Canva Sans"/>
                <a:sym typeface="Canva Sans"/>
              </a:rPr>
              <a:t>It involves collecting user and expert needs before development</a:t>
            </a:r>
          </a:p>
        </p:txBody>
      </p:sp>
      <p:sp>
        <p:nvSpPr>
          <p:cNvPr id="14" name="TextBox 14"/>
          <p:cNvSpPr txBox="1"/>
          <p:nvPr/>
        </p:nvSpPr>
        <p:spPr>
          <a:xfrm>
            <a:off x="9692791" y="3095226"/>
            <a:ext cx="8097792" cy="1257300"/>
          </a:xfrm>
          <a:prstGeom prst="rect">
            <a:avLst/>
          </a:prstGeom>
        </p:spPr>
        <p:txBody>
          <a:bodyPr lIns="0" tIns="0" rIns="0" bIns="0" rtlCol="0" anchor="t">
            <a:spAutoFit/>
          </a:bodyPr>
          <a:lstStyle/>
          <a:p>
            <a:pPr algn="ctr">
              <a:lnSpc>
                <a:spcPts val="3359"/>
              </a:lnSpc>
              <a:spcBef>
                <a:spcPct val="0"/>
              </a:spcBef>
            </a:pPr>
            <a:r>
              <a:rPr lang="en-US" sz="2799" b="1" dirty="0">
                <a:solidFill>
                  <a:srgbClr val="000000"/>
                </a:solidFill>
                <a:latin typeface="Inter Ultra-Bold"/>
                <a:ea typeface="Inter Ultra-Bold"/>
                <a:cs typeface="Inter Ultra-Bold"/>
                <a:sym typeface="Inter Ultra-Bold"/>
              </a:rPr>
              <a:t>It is important due to the technical complexity of car diagnosis, safety concerns, and user trust issues.</a:t>
            </a:r>
          </a:p>
        </p:txBody>
      </p:sp>
      <p:sp>
        <p:nvSpPr>
          <p:cNvPr id="15" name="TextBox 15"/>
          <p:cNvSpPr txBox="1"/>
          <p:nvPr/>
        </p:nvSpPr>
        <p:spPr>
          <a:xfrm>
            <a:off x="9692791" y="1107996"/>
            <a:ext cx="8097792" cy="887095"/>
          </a:xfrm>
          <a:prstGeom prst="rect">
            <a:avLst/>
          </a:prstGeom>
        </p:spPr>
        <p:txBody>
          <a:bodyPr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Why is it Important?</a:t>
            </a:r>
          </a:p>
        </p:txBody>
      </p:sp>
      <p:sp>
        <p:nvSpPr>
          <p:cNvPr id="16" name="TextBox 16"/>
          <p:cNvSpPr txBox="1"/>
          <p:nvPr/>
        </p:nvSpPr>
        <p:spPr>
          <a:xfrm>
            <a:off x="9525068" y="6159035"/>
            <a:ext cx="8097792" cy="2321405"/>
          </a:xfrm>
          <a:prstGeom prst="rect">
            <a:avLst/>
          </a:prstGeom>
        </p:spPr>
        <p:txBody>
          <a:bodyPr lIns="0" tIns="0" rIns="0" bIns="0" rtlCol="0" anchor="t">
            <a:spAutoFit/>
          </a:bodyPr>
          <a:lstStyle/>
          <a:p>
            <a:pPr algn="ctr">
              <a:lnSpc>
                <a:spcPts val="4620"/>
              </a:lnSpc>
            </a:pPr>
            <a:endParaRPr lang="en-US" sz="3300" dirty="0">
              <a:solidFill>
                <a:srgbClr val="AD1D1D"/>
              </a:solidFill>
              <a:latin typeface="Canva Sans"/>
              <a:ea typeface="Canva Sans"/>
              <a:cs typeface="Canva Sans"/>
              <a:sym typeface="Canva Sans"/>
            </a:endParaRPr>
          </a:p>
          <a:p>
            <a:pPr algn="ctr">
              <a:lnSpc>
                <a:spcPts val="4620"/>
              </a:lnSpc>
            </a:pPr>
            <a:r>
              <a:rPr lang="en-US" sz="2800" dirty="0">
                <a:solidFill>
                  <a:srgbClr val="AD1D1D"/>
                </a:solidFill>
                <a:latin typeface="Canva Sans"/>
                <a:ea typeface="Canva Sans"/>
                <a:cs typeface="Canva Sans"/>
                <a:sym typeface="Canva Sans"/>
              </a:rPr>
              <a:t>The application is designed as a first -level diagnostic assistant, not a replacement fir professional mechanics</a:t>
            </a:r>
          </a:p>
        </p:txBody>
      </p:sp>
      <p:sp>
        <p:nvSpPr>
          <p:cNvPr id="11" name="TextBox 10">
            <a:extLst>
              <a:ext uri="{FF2B5EF4-FFF2-40B4-BE49-F238E27FC236}">
                <a16:creationId xmlns:a16="http://schemas.microsoft.com/office/drawing/2014/main" id="{C957BEE1-3EE8-2C0A-7350-5A4C630EA71F}"/>
              </a:ext>
            </a:extLst>
          </p:cNvPr>
          <p:cNvSpPr txBox="1"/>
          <p:nvPr/>
        </p:nvSpPr>
        <p:spPr>
          <a:xfrm>
            <a:off x="10210800" y="5676900"/>
            <a:ext cx="3352800" cy="892552"/>
          </a:xfrm>
          <a:prstGeom prst="rect">
            <a:avLst/>
          </a:prstGeom>
          <a:noFill/>
        </p:spPr>
        <p:txBody>
          <a:bodyPr wrap="square" rtlCol="0">
            <a:spAutoFit/>
          </a:bodyPr>
          <a:lstStyle/>
          <a:p>
            <a:r>
              <a:rPr lang="en-US" sz="5200" b="1" dirty="0"/>
              <a:t>NOTE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665141" y="2475639"/>
            <a:ext cx="3746018" cy="5335722"/>
            <a:chOff x="0" y="0"/>
            <a:chExt cx="580356" cy="826643"/>
          </a:xfrm>
        </p:grpSpPr>
        <p:sp>
          <p:nvSpPr>
            <p:cNvPr id="3" name="Freeform 3"/>
            <p:cNvSpPr/>
            <p:nvPr/>
          </p:nvSpPr>
          <p:spPr>
            <a:xfrm>
              <a:off x="0" y="0"/>
              <a:ext cx="580356" cy="826643"/>
            </a:xfrm>
            <a:custGeom>
              <a:avLst/>
              <a:gdLst/>
              <a:ahLst/>
              <a:cxnLst/>
              <a:rect l="l" t="t" r="r" b="b"/>
              <a:pathLst>
                <a:path w="580356" h="826643">
                  <a:moveTo>
                    <a:pt x="41334" y="0"/>
                  </a:moveTo>
                  <a:lnTo>
                    <a:pt x="539022" y="0"/>
                  </a:lnTo>
                  <a:cubicBezTo>
                    <a:pt x="561850" y="0"/>
                    <a:pt x="580356" y="18506"/>
                    <a:pt x="580356" y="41334"/>
                  </a:cubicBezTo>
                  <a:lnTo>
                    <a:pt x="580356" y="785309"/>
                  </a:lnTo>
                  <a:cubicBezTo>
                    <a:pt x="580356" y="796271"/>
                    <a:pt x="576001" y="806785"/>
                    <a:pt x="568250" y="814537"/>
                  </a:cubicBezTo>
                  <a:cubicBezTo>
                    <a:pt x="560498" y="822288"/>
                    <a:pt x="549985" y="826643"/>
                    <a:pt x="539022" y="826643"/>
                  </a:cubicBezTo>
                  <a:lnTo>
                    <a:pt x="41334" y="826643"/>
                  </a:lnTo>
                  <a:cubicBezTo>
                    <a:pt x="30372" y="826643"/>
                    <a:pt x="19858" y="822288"/>
                    <a:pt x="12106" y="814537"/>
                  </a:cubicBezTo>
                  <a:cubicBezTo>
                    <a:pt x="4355" y="806785"/>
                    <a:pt x="0" y="796271"/>
                    <a:pt x="0" y="785309"/>
                  </a:cubicBezTo>
                  <a:lnTo>
                    <a:pt x="0" y="41334"/>
                  </a:lnTo>
                  <a:cubicBezTo>
                    <a:pt x="0" y="30372"/>
                    <a:pt x="4355" y="19858"/>
                    <a:pt x="12106" y="12106"/>
                  </a:cubicBezTo>
                  <a:cubicBezTo>
                    <a:pt x="19858" y="4355"/>
                    <a:pt x="30372" y="0"/>
                    <a:pt x="41334" y="0"/>
                  </a:cubicBezTo>
                  <a:close/>
                </a:path>
              </a:pathLst>
            </a:custGeom>
            <a:blipFill>
              <a:blip r:embed="rId2"/>
              <a:stretch>
                <a:fillRect l="-44958" r="-44958"/>
              </a:stretch>
            </a:blipFill>
          </p:spPr>
        </p:sp>
      </p:grpSp>
      <p:sp>
        <p:nvSpPr>
          <p:cNvPr id="4" name="TextBox 4"/>
          <p:cNvSpPr txBox="1"/>
          <p:nvPr/>
        </p:nvSpPr>
        <p:spPr>
          <a:xfrm>
            <a:off x="4659772" y="497884"/>
            <a:ext cx="12546561" cy="1380493"/>
          </a:xfrm>
          <a:prstGeom prst="rect">
            <a:avLst/>
          </a:prstGeom>
        </p:spPr>
        <p:txBody>
          <a:bodyPr lIns="0" tIns="0" rIns="0" bIns="0" rtlCol="0" anchor="t">
            <a:spAutoFit/>
          </a:bodyPr>
          <a:lstStyle/>
          <a:p>
            <a:pPr algn="l">
              <a:lnSpc>
                <a:spcPts val="10670"/>
              </a:lnSpc>
            </a:pPr>
            <a:r>
              <a:rPr lang="en-US" sz="9700" b="1" dirty="0">
                <a:solidFill>
                  <a:srgbClr val="EE4D4D"/>
                </a:solidFill>
                <a:latin typeface="Montaser Arabic Bold"/>
                <a:ea typeface="Montaser Arabic Bold"/>
                <a:cs typeface="Montaser Arabic Bold"/>
                <a:sym typeface="Montaser Arabic Bold"/>
              </a:rPr>
              <a:t>Problem Statement</a:t>
            </a:r>
          </a:p>
        </p:txBody>
      </p:sp>
      <p:sp>
        <p:nvSpPr>
          <p:cNvPr id="5" name="TextBox 5"/>
          <p:cNvSpPr txBox="1"/>
          <p:nvPr/>
        </p:nvSpPr>
        <p:spPr>
          <a:xfrm>
            <a:off x="5237705" y="2093551"/>
            <a:ext cx="5638800" cy="1994841"/>
          </a:xfrm>
          <a:prstGeom prst="rect">
            <a:avLst/>
          </a:prstGeom>
        </p:spPr>
        <p:txBody>
          <a:bodyPr wrap="square" lIns="0" tIns="0" rIns="0" bIns="0" rtlCol="0" anchor="t">
            <a:spAutoFit/>
          </a:bodyPr>
          <a:lstStyle/>
          <a:p>
            <a:pPr algn="ctr">
              <a:lnSpc>
                <a:spcPts val="5410"/>
              </a:lnSpc>
              <a:spcBef>
                <a:spcPct val="0"/>
              </a:spcBef>
            </a:pPr>
            <a:r>
              <a:rPr lang="en-US" sz="3000" dirty="0">
                <a:solidFill>
                  <a:srgbClr val="FFFFFF"/>
                </a:solidFill>
                <a:latin typeface="Inter"/>
                <a:ea typeface="Inter"/>
                <a:cs typeface="Inter"/>
                <a:sym typeface="Inter"/>
              </a:rPr>
              <a:t>1. MANY DRIVERS STRUGGLE TO UNDERSTAND CAR FAULTS</a:t>
            </a:r>
          </a:p>
        </p:txBody>
      </p:sp>
      <p:grpSp>
        <p:nvGrpSpPr>
          <p:cNvPr id="6" name="Group 6"/>
          <p:cNvGrpSpPr/>
          <p:nvPr/>
        </p:nvGrpSpPr>
        <p:grpSpPr>
          <a:xfrm>
            <a:off x="5867400" y="6177045"/>
            <a:ext cx="5322416" cy="2135666"/>
            <a:chOff x="0" y="0"/>
            <a:chExt cx="1401789" cy="562480"/>
          </a:xfrm>
        </p:grpSpPr>
        <p:sp>
          <p:nvSpPr>
            <p:cNvPr id="7" name="Freeform 7"/>
            <p:cNvSpPr/>
            <p:nvPr/>
          </p:nvSpPr>
          <p:spPr>
            <a:xfrm>
              <a:off x="0" y="0"/>
              <a:ext cx="1401789" cy="562480"/>
            </a:xfrm>
            <a:custGeom>
              <a:avLst/>
              <a:gdLst/>
              <a:ahLst/>
              <a:cxnLst/>
              <a:rect l="l" t="t" r="r" b="b"/>
              <a:pathLst>
                <a:path w="1401789" h="562480">
                  <a:moveTo>
                    <a:pt x="24728" y="0"/>
                  </a:moveTo>
                  <a:lnTo>
                    <a:pt x="1377061" y="0"/>
                  </a:lnTo>
                  <a:cubicBezTo>
                    <a:pt x="1390718" y="0"/>
                    <a:pt x="1401789" y="11071"/>
                    <a:pt x="1401789" y="24728"/>
                  </a:cubicBezTo>
                  <a:lnTo>
                    <a:pt x="1401789" y="537752"/>
                  </a:lnTo>
                  <a:cubicBezTo>
                    <a:pt x="1401789" y="551409"/>
                    <a:pt x="1390718" y="562480"/>
                    <a:pt x="1377061" y="562480"/>
                  </a:cubicBezTo>
                  <a:lnTo>
                    <a:pt x="24728" y="562480"/>
                  </a:lnTo>
                  <a:cubicBezTo>
                    <a:pt x="11071" y="562480"/>
                    <a:pt x="0" y="551409"/>
                    <a:pt x="0" y="537752"/>
                  </a:cubicBezTo>
                  <a:lnTo>
                    <a:pt x="0" y="24728"/>
                  </a:lnTo>
                  <a:cubicBezTo>
                    <a:pt x="0" y="11071"/>
                    <a:pt x="11071" y="0"/>
                    <a:pt x="24728" y="0"/>
                  </a:cubicBezTo>
                  <a:close/>
                </a:path>
              </a:pathLst>
            </a:custGeom>
            <a:solidFill>
              <a:srgbClr val="AD1D1D"/>
            </a:solidFill>
          </p:spPr>
        </p:sp>
        <p:sp>
          <p:nvSpPr>
            <p:cNvPr id="8" name="TextBox 8"/>
            <p:cNvSpPr txBox="1"/>
            <p:nvPr/>
          </p:nvSpPr>
          <p:spPr>
            <a:xfrm>
              <a:off x="0" y="0"/>
              <a:ext cx="1401789" cy="562480"/>
            </a:xfrm>
            <a:prstGeom prst="rect">
              <a:avLst/>
            </a:prstGeom>
          </p:spPr>
          <p:txBody>
            <a:bodyPr lIns="50800" tIns="50800" rIns="50800" bIns="50800" rtlCol="0" anchor="ctr"/>
            <a:lstStyle/>
            <a:p>
              <a:pPr algn="ctr">
                <a:lnSpc>
                  <a:spcPts val="2879"/>
                </a:lnSpc>
              </a:pPr>
              <a:r>
                <a:rPr lang="en-US" sz="3200" b="1" dirty="0">
                  <a:solidFill>
                    <a:srgbClr val="FFFFFF"/>
                  </a:solidFill>
                  <a:latin typeface="Inter Ultra-Bold"/>
                  <a:ea typeface="Inter Ultra-Bold"/>
                  <a:cs typeface="Inter Ultra-Bold"/>
                  <a:sym typeface="Inter Ultra-Bold"/>
                </a:rPr>
                <a:t>Ignoring serious issues and unsafe driving decision</a:t>
              </a:r>
            </a:p>
          </p:txBody>
        </p:sp>
      </p:grpSp>
      <p:grpSp>
        <p:nvGrpSpPr>
          <p:cNvPr id="9" name="Group 9"/>
          <p:cNvGrpSpPr/>
          <p:nvPr/>
        </p:nvGrpSpPr>
        <p:grpSpPr>
          <a:xfrm>
            <a:off x="11993433" y="6268311"/>
            <a:ext cx="5007372" cy="2060198"/>
            <a:chOff x="0" y="0"/>
            <a:chExt cx="1318814" cy="542604"/>
          </a:xfrm>
        </p:grpSpPr>
        <p:sp>
          <p:nvSpPr>
            <p:cNvPr id="10" name="Freeform 10"/>
            <p:cNvSpPr/>
            <p:nvPr/>
          </p:nvSpPr>
          <p:spPr>
            <a:xfrm>
              <a:off x="0" y="0"/>
              <a:ext cx="1318814" cy="542604"/>
            </a:xfrm>
            <a:custGeom>
              <a:avLst/>
              <a:gdLst/>
              <a:ahLst/>
              <a:cxnLst/>
              <a:rect l="l" t="t" r="r" b="b"/>
              <a:pathLst>
                <a:path w="1318814" h="542604">
                  <a:moveTo>
                    <a:pt x="26284" y="0"/>
                  </a:moveTo>
                  <a:lnTo>
                    <a:pt x="1292530" y="0"/>
                  </a:lnTo>
                  <a:cubicBezTo>
                    <a:pt x="1299501" y="0"/>
                    <a:pt x="1306186" y="2769"/>
                    <a:pt x="1311116" y="7698"/>
                  </a:cubicBezTo>
                  <a:cubicBezTo>
                    <a:pt x="1316045" y="12628"/>
                    <a:pt x="1318814" y="19313"/>
                    <a:pt x="1318814" y="26284"/>
                  </a:cubicBezTo>
                  <a:lnTo>
                    <a:pt x="1318814" y="516320"/>
                  </a:lnTo>
                  <a:cubicBezTo>
                    <a:pt x="1318814" y="523291"/>
                    <a:pt x="1316045" y="529976"/>
                    <a:pt x="1311116" y="534905"/>
                  </a:cubicBezTo>
                  <a:cubicBezTo>
                    <a:pt x="1306186" y="539834"/>
                    <a:pt x="1299501" y="542604"/>
                    <a:pt x="1292530" y="542604"/>
                  </a:cubicBezTo>
                  <a:lnTo>
                    <a:pt x="26284" y="542604"/>
                  </a:lnTo>
                  <a:cubicBezTo>
                    <a:pt x="11768" y="542604"/>
                    <a:pt x="0" y="530836"/>
                    <a:pt x="0" y="516320"/>
                  </a:cubicBezTo>
                  <a:lnTo>
                    <a:pt x="0" y="26284"/>
                  </a:lnTo>
                  <a:cubicBezTo>
                    <a:pt x="0" y="19313"/>
                    <a:pt x="2769" y="12628"/>
                    <a:pt x="7698" y="7698"/>
                  </a:cubicBezTo>
                  <a:cubicBezTo>
                    <a:pt x="12628" y="2769"/>
                    <a:pt x="19313" y="0"/>
                    <a:pt x="26284" y="0"/>
                  </a:cubicBezTo>
                  <a:close/>
                </a:path>
              </a:pathLst>
            </a:custGeom>
            <a:solidFill>
              <a:srgbClr val="AD1D1D"/>
            </a:solidFill>
          </p:spPr>
        </p:sp>
        <p:sp>
          <p:nvSpPr>
            <p:cNvPr id="11" name="TextBox 11"/>
            <p:cNvSpPr txBox="1"/>
            <p:nvPr/>
          </p:nvSpPr>
          <p:spPr>
            <a:xfrm>
              <a:off x="0" y="0"/>
              <a:ext cx="1318814" cy="542604"/>
            </a:xfrm>
            <a:prstGeom prst="rect">
              <a:avLst/>
            </a:prstGeom>
          </p:spPr>
          <p:txBody>
            <a:bodyPr lIns="50800" tIns="50800" rIns="50800" bIns="50800" rtlCol="0" anchor="ctr"/>
            <a:lstStyle/>
            <a:p>
              <a:pPr algn="ctr">
                <a:lnSpc>
                  <a:spcPts val="2879"/>
                </a:lnSpc>
              </a:pPr>
              <a:r>
                <a:rPr lang="en-US" sz="3200" b="1" dirty="0">
                  <a:solidFill>
                    <a:srgbClr val="FFFFFF"/>
                  </a:solidFill>
                  <a:latin typeface="Inter Ultra-Bold"/>
                  <a:ea typeface="Inter Ultra-Bold"/>
                  <a:cs typeface="Inter Ultra-Bold"/>
                  <a:sym typeface="Inter Ultra-Bold"/>
                </a:rPr>
                <a:t>Over pricing from mechanics on basic issues</a:t>
              </a:r>
            </a:p>
          </p:txBody>
        </p:sp>
      </p:grpSp>
      <p:sp>
        <p:nvSpPr>
          <p:cNvPr id="12" name="TextBox 11">
            <a:extLst>
              <a:ext uri="{FF2B5EF4-FFF2-40B4-BE49-F238E27FC236}">
                <a16:creationId xmlns:a16="http://schemas.microsoft.com/office/drawing/2014/main" id="{58BC0996-120A-DD0E-7E18-5CE060B7A57E}"/>
              </a:ext>
            </a:extLst>
          </p:cNvPr>
          <p:cNvSpPr txBox="1"/>
          <p:nvPr/>
        </p:nvSpPr>
        <p:spPr>
          <a:xfrm>
            <a:off x="11993433" y="2251218"/>
            <a:ext cx="4618167" cy="1200329"/>
          </a:xfrm>
          <a:prstGeom prst="rect">
            <a:avLst/>
          </a:prstGeom>
          <a:noFill/>
        </p:spPr>
        <p:txBody>
          <a:bodyPr wrap="square" rtlCol="0">
            <a:spAutoFit/>
          </a:bodyPr>
          <a:lstStyle/>
          <a:p>
            <a:pPr algn="ctr"/>
            <a:r>
              <a:rPr lang="en-US" sz="3000" dirty="0">
                <a:solidFill>
                  <a:schemeClr val="bg1"/>
                </a:solidFill>
              </a:rPr>
              <a:t>2. </a:t>
            </a:r>
            <a:r>
              <a:rPr lang="en-US" sz="3600" dirty="0">
                <a:solidFill>
                  <a:schemeClr val="bg1"/>
                </a:solidFill>
              </a:rPr>
              <a:t>CAN’T IDENTIFY ENGINE SOUNDS</a:t>
            </a:r>
            <a:endParaRPr lang="en-US" sz="3000" dirty="0">
              <a:solidFill>
                <a:schemeClr val="bg1"/>
              </a:solidFill>
            </a:endParaRPr>
          </a:p>
        </p:txBody>
      </p:sp>
      <p:sp>
        <p:nvSpPr>
          <p:cNvPr id="14" name="TextBox 13">
            <a:extLst>
              <a:ext uri="{FF2B5EF4-FFF2-40B4-BE49-F238E27FC236}">
                <a16:creationId xmlns:a16="http://schemas.microsoft.com/office/drawing/2014/main" id="{EB527BF9-19C0-A23B-A328-0E23C4A8FB99}"/>
              </a:ext>
            </a:extLst>
          </p:cNvPr>
          <p:cNvSpPr txBox="1"/>
          <p:nvPr/>
        </p:nvSpPr>
        <p:spPr>
          <a:xfrm>
            <a:off x="6781800" y="4762500"/>
            <a:ext cx="3048000" cy="646331"/>
          </a:xfrm>
          <a:prstGeom prst="rect">
            <a:avLst/>
          </a:prstGeom>
          <a:noFill/>
        </p:spPr>
        <p:txBody>
          <a:bodyPr wrap="square" rtlCol="0">
            <a:spAutoFit/>
          </a:bodyPr>
          <a:lstStyle/>
          <a:p>
            <a:r>
              <a:rPr lang="en-US" sz="3600" b="1" dirty="0">
                <a:solidFill>
                  <a:srgbClr val="FF0000"/>
                </a:solidFill>
              </a:rPr>
              <a:t>This leads 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665141" y="4715649"/>
            <a:ext cx="7377664" cy="4702910"/>
            <a:chOff x="0" y="0"/>
            <a:chExt cx="1943088" cy="1238627"/>
          </a:xfrm>
        </p:grpSpPr>
        <p:sp>
          <p:nvSpPr>
            <p:cNvPr id="3" name="Freeform 3"/>
            <p:cNvSpPr/>
            <p:nvPr/>
          </p:nvSpPr>
          <p:spPr>
            <a:xfrm>
              <a:off x="0" y="0"/>
              <a:ext cx="1943088" cy="1238627"/>
            </a:xfrm>
            <a:custGeom>
              <a:avLst/>
              <a:gdLst/>
              <a:ahLst/>
              <a:cxnLst/>
              <a:rect l="l" t="t" r="r" b="b"/>
              <a:pathLst>
                <a:path w="1943088" h="1238627">
                  <a:moveTo>
                    <a:pt x="20987" y="0"/>
                  </a:moveTo>
                  <a:lnTo>
                    <a:pt x="1922101" y="0"/>
                  </a:lnTo>
                  <a:cubicBezTo>
                    <a:pt x="1933692" y="0"/>
                    <a:pt x="1943088" y="9396"/>
                    <a:pt x="1943088" y="20987"/>
                  </a:cubicBezTo>
                  <a:lnTo>
                    <a:pt x="1943088" y="1217639"/>
                  </a:lnTo>
                  <a:cubicBezTo>
                    <a:pt x="1943088" y="1229230"/>
                    <a:pt x="1933692" y="1238627"/>
                    <a:pt x="1922101" y="1238627"/>
                  </a:cubicBezTo>
                  <a:lnTo>
                    <a:pt x="20987" y="1238627"/>
                  </a:lnTo>
                  <a:cubicBezTo>
                    <a:pt x="9396" y="1238627"/>
                    <a:pt x="0" y="1229230"/>
                    <a:pt x="0" y="1217639"/>
                  </a:cubicBezTo>
                  <a:lnTo>
                    <a:pt x="0" y="20987"/>
                  </a:lnTo>
                  <a:cubicBezTo>
                    <a:pt x="0" y="9396"/>
                    <a:pt x="9396" y="0"/>
                    <a:pt x="20987" y="0"/>
                  </a:cubicBezTo>
                  <a:close/>
                </a:path>
              </a:pathLst>
            </a:custGeom>
            <a:solidFill>
              <a:srgbClr val="FFFFFF"/>
            </a:solidFill>
          </p:spPr>
        </p:sp>
        <p:sp>
          <p:nvSpPr>
            <p:cNvPr id="4" name="TextBox 4"/>
            <p:cNvSpPr txBox="1"/>
            <p:nvPr/>
          </p:nvSpPr>
          <p:spPr>
            <a:xfrm>
              <a:off x="0" y="0"/>
              <a:ext cx="1943088" cy="1238627"/>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665141" y="1752544"/>
            <a:ext cx="7377664" cy="2462213"/>
          </a:xfrm>
          <a:prstGeom prst="rect">
            <a:avLst/>
          </a:prstGeom>
        </p:spPr>
        <p:txBody>
          <a:bodyPr lIns="0" tIns="0" rIns="0" bIns="0" rtlCol="0" anchor="t">
            <a:spAutoFit/>
          </a:bodyPr>
          <a:lstStyle/>
          <a:p>
            <a:pPr marL="0" lvl="0" indent="0" algn="l">
              <a:lnSpc>
                <a:spcPts val="9600"/>
              </a:lnSpc>
              <a:spcBef>
                <a:spcPct val="0"/>
              </a:spcBef>
            </a:pPr>
            <a:r>
              <a:rPr lang="en-US" sz="9600" b="1" u="none" strike="noStrike" dirty="0">
                <a:solidFill>
                  <a:srgbClr val="EE4D4D"/>
                </a:solidFill>
                <a:latin typeface="Montaser Arabic Bold"/>
                <a:ea typeface="Montaser Arabic Bold"/>
                <a:cs typeface="Montaser Arabic Bold"/>
                <a:sym typeface="Montaser Arabic Bold"/>
              </a:rPr>
              <a:t> Stake Holders</a:t>
            </a:r>
          </a:p>
        </p:txBody>
      </p:sp>
      <p:sp>
        <p:nvSpPr>
          <p:cNvPr id="6" name="TextBox 6"/>
          <p:cNvSpPr txBox="1"/>
          <p:nvPr/>
        </p:nvSpPr>
        <p:spPr>
          <a:xfrm>
            <a:off x="914400" y="5143500"/>
            <a:ext cx="6858000" cy="1923604"/>
          </a:xfrm>
          <a:prstGeom prst="rect">
            <a:avLst/>
          </a:prstGeom>
        </p:spPr>
        <p:txBody>
          <a:bodyPr wrap="square" lIns="0" tIns="0" rIns="0" bIns="0" rtlCol="0" anchor="t">
            <a:spAutoFit/>
          </a:bodyPr>
          <a:lstStyle/>
          <a:p>
            <a:pPr marL="0" lvl="0" indent="0" algn="just">
              <a:spcBef>
                <a:spcPct val="0"/>
              </a:spcBef>
            </a:pPr>
            <a:r>
              <a:rPr lang="en-US" sz="2500" u="none" strike="noStrike" dirty="0">
                <a:solidFill>
                  <a:srgbClr val="000000"/>
                </a:solidFill>
                <a:latin typeface="Inter"/>
                <a:ea typeface="Inter"/>
                <a:cs typeface="Inter"/>
                <a:sym typeface="Inter"/>
              </a:rPr>
              <a:t>These are individuals, groups, or entities that are affected by the system, contribute to it’s design, or have an interest in it’s success.</a:t>
            </a:r>
          </a:p>
          <a:p>
            <a:pPr marL="0" lvl="0" indent="0" algn="just">
              <a:spcBef>
                <a:spcPct val="0"/>
              </a:spcBef>
            </a:pPr>
            <a:r>
              <a:rPr lang="en-US" sz="2500" dirty="0">
                <a:solidFill>
                  <a:srgbClr val="000000"/>
                </a:solidFill>
                <a:latin typeface="Inter"/>
                <a:ea typeface="Inter"/>
                <a:cs typeface="Inter"/>
                <a:sym typeface="Inter"/>
              </a:rPr>
              <a:t>We grouped our stake holders into to categories: </a:t>
            </a:r>
            <a:endParaRPr lang="en-US" sz="2500" u="none" strike="noStrike" dirty="0">
              <a:solidFill>
                <a:srgbClr val="000000"/>
              </a:solidFill>
              <a:latin typeface="Inter"/>
              <a:ea typeface="Inter"/>
              <a:cs typeface="Inter"/>
              <a:sym typeface="Inter"/>
            </a:endParaRPr>
          </a:p>
        </p:txBody>
      </p:sp>
      <p:grpSp>
        <p:nvGrpSpPr>
          <p:cNvPr id="9" name="Group 9"/>
          <p:cNvGrpSpPr/>
          <p:nvPr/>
        </p:nvGrpSpPr>
        <p:grpSpPr>
          <a:xfrm>
            <a:off x="8375375" y="1571569"/>
            <a:ext cx="9247485" cy="8050291"/>
            <a:chOff x="0" y="0"/>
            <a:chExt cx="1432677" cy="1247201"/>
          </a:xfrm>
        </p:grpSpPr>
        <p:sp>
          <p:nvSpPr>
            <p:cNvPr id="10" name="Freeform 10"/>
            <p:cNvSpPr/>
            <p:nvPr/>
          </p:nvSpPr>
          <p:spPr>
            <a:xfrm>
              <a:off x="0" y="0"/>
              <a:ext cx="1432677" cy="1247201"/>
            </a:xfrm>
            <a:custGeom>
              <a:avLst/>
              <a:gdLst/>
              <a:ahLst/>
              <a:cxnLst/>
              <a:rect l="l" t="t" r="r" b="b"/>
              <a:pathLst>
                <a:path w="1432677" h="1247201">
                  <a:moveTo>
                    <a:pt x="16744" y="0"/>
                  </a:moveTo>
                  <a:lnTo>
                    <a:pt x="1415934" y="0"/>
                  </a:lnTo>
                  <a:cubicBezTo>
                    <a:pt x="1420374" y="0"/>
                    <a:pt x="1424633" y="1764"/>
                    <a:pt x="1427773" y="4904"/>
                  </a:cubicBezTo>
                  <a:cubicBezTo>
                    <a:pt x="1430913" y="8044"/>
                    <a:pt x="1432677" y="12303"/>
                    <a:pt x="1432677" y="16744"/>
                  </a:cubicBezTo>
                  <a:lnTo>
                    <a:pt x="1432677" y="1230457"/>
                  </a:lnTo>
                  <a:cubicBezTo>
                    <a:pt x="1432677" y="1239704"/>
                    <a:pt x="1425181" y="1247201"/>
                    <a:pt x="1415934" y="1247201"/>
                  </a:cubicBezTo>
                  <a:lnTo>
                    <a:pt x="16744" y="1247201"/>
                  </a:lnTo>
                  <a:cubicBezTo>
                    <a:pt x="7496" y="1247201"/>
                    <a:pt x="0" y="1239704"/>
                    <a:pt x="0" y="1230457"/>
                  </a:cubicBezTo>
                  <a:lnTo>
                    <a:pt x="0" y="16744"/>
                  </a:lnTo>
                  <a:cubicBezTo>
                    <a:pt x="0" y="7496"/>
                    <a:pt x="7496" y="0"/>
                    <a:pt x="16744" y="0"/>
                  </a:cubicBezTo>
                  <a:close/>
                </a:path>
              </a:pathLst>
            </a:custGeom>
            <a:blipFill>
              <a:blip r:embed="rId3"/>
              <a:stretch>
                <a:fillRect l="-15331" r="-15331"/>
              </a:stretch>
            </a:blipFill>
          </p:spPr>
        </p:sp>
      </p:grpSp>
      <p:sp>
        <p:nvSpPr>
          <p:cNvPr id="12" name="Oval 11">
            <a:extLst>
              <a:ext uri="{FF2B5EF4-FFF2-40B4-BE49-F238E27FC236}">
                <a16:creationId xmlns:a16="http://schemas.microsoft.com/office/drawing/2014/main" id="{02EB3D74-57BA-FB6F-236C-009B6514C2EF}"/>
              </a:ext>
            </a:extLst>
          </p:cNvPr>
          <p:cNvSpPr/>
          <p:nvPr/>
        </p:nvSpPr>
        <p:spPr>
          <a:xfrm>
            <a:off x="901389" y="7189171"/>
            <a:ext cx="3552605" cy="141577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500" b="1" dirty="0">
                <a:ln w="22225">
                  <a:solidFill>
                    <a:schemeClr val="accent2"/>
                  </a:solidFill>
                  <a:prstDash val="solid"/>
                </a:ln>
                <a:solidFill>
                  <a:schemeClr val="accent2">
                    <a:lumMod val="40000"/>
                    <a:lumOff val="60000"/>
                  </a:schemeClr>
                </a:solidFill>
              </a:rPr>
              <a:t>Primary Stake Holders</a:t>
            </a:r>
          </a:p>
        </p:txBody>
      </p:sp>
      <p:sp>
        <p:nvSpPr>
          <p:cNvPr id="16" name="Oval 15">
            <a:extLst>
              <a:ext uri="{FF2B5EF4-FFF2-40B4-BE49-F238E27FC236}">
                <a16:creationId xmlns:a16="http://schemas.microsoft.com/office/drawing/2014/main" id="{43026852-4975-498A-BD47-27B644C1CC97}"/>
              </a:ext>
            </a:extLst>
          </p:cNvPr>
          <p:cNvSpPr/>
          <p:nvPr/>
        </p:nvSpPr>
        <p:spPr>
          <a:xfrm>
            <a:off x="4453994" y="7189171"/>
            <a:ext cx="3318406" cy="141577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500" b="1" dirty="0">
                <a:ln w="22225">
                  <a:solidFill>
                    <a:schemeClr val="accent2"/>
                  </a:solidFill>
                  <a:prstDash val="solid"/>
                </a:ln>
                <a:solidFill>
                  <a:schemeClr val="accent2">
                    <a:lumMod val="40000"/>
                    <a:lumOff val="60000"/>
                  </a:schemeClr>
                </a:solidFill>
              </a:rPr>
              <a:t>Secondary Stake Holders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4D4D"/>
        </a:solidFill>
        <a:effectLst/>
      </p:bgPr>
    </p:bg>
    <p:spTree>
      <p:nvGrpSpPr>
        <p:cNvPr id="1" name=""/>
        <p:cNvGrpSpPr/>
        <p:nvPr/>
      </p:nvGrpSpPr>
      <p:grpSpPr>
        <a:xfrm>
          <a:off x="0" y="0"/>
          <a:ext cx="0" cy="0"/>
          <a:chOff x="0" y="0"/>
          <a:chExt cx="0" cy="0"/>
        </a:xfrm>
      </p:grpSpPr>
      <p:grpSp>
        <p:nvGrpSpPr>
          <p:cNvPr id="2" name="Group 2"/>
          <p:cNvGrpSpPr/>
          <p:nvPr/>
        </p:nvGrpSpPr>
        <p:grpSpPr>
          <a:xfrm>
            <a:off x="665141" y="7009969"/>
            <a:ext cx="8312574" cy="1946749"/>
            <a:chOff x="0" y="0"/>
            <a:chExt cx="2189320" cy="512724"/>
          </a:xfrm>
        </p:grpSpPr>
        <p:sp>
          <p:nvSpPr>
            <p:cNvPr id="3" name="Freeform 3"/>
            <p:cNvSpPr/>
            <p:nvPr/>
          </p:nvSpPr>
          <p:spPr>
            <a:xfrm>
              <a:off x="0" y="0"/>
              <a:ext cx="2189320" cy="512724"/>
            </a:xfrm>
            <a:custGeom>
              <a:avLst/>
              <a:gdLst/>
              <a:ahLst/>
              <a:cxnLst/>
              <a:rect l="l" t="t" r="r" b="b"/>
              <a:pathLst>
                <a:path w="2189320" h="512724">
                  <a:moveTo>
                    <a:pt x="18627" y="0"/>
                  </a:moveTo>
                  <a:lnTo>
                    <a:pt x="2170693" y="0"/>
                  </a:lnTo>
                  <a:cubicBezTo>
                    <a:pt x="2175633" y="0"/>
                    <a:pt x="2180371" y="1962"/>
                    <a:pt x="2183864" y="5456"/>
                  </a:cubicBezTo>
                  <a:cubicBezTo>
                    <a:pt x="2187358" y="8949"/>
                    <a:pt x="2189320" y="13687"/>
                    <a:pt x="2189320" y="18627"/>
                  </a:cubicBezTo>
                  <a:lnTo>
                    <a:pt x="2189320" y="494097"/>
                  </a:lnTo>
                  <a:cubicBezTo>
                    <a:pt x="2189320" y="504385"/>
                    <a:pt x="2180980" y="512724"/>
                    <a:pt x="2170693" y="512724"/>
                  </a:cubicBezTo>
                  <a:lnTo>
                    <a:pt x="18627" y="512724"/>
                  </a:lnTo>
                  <a:cubicBezTo>
                    <a:pt x="8340" y="512724"/>
                    <a:pt x="0" y="504385"/>
                    <a:pt x="0" y="494097"/>
                  </a:cubicBezTo>
                  <a:lnTo>
                    <a:pt x="0" y="18627"/>
                  </a:lnTo>
                  <a:cubicBezTo>
                    <a:pt x="0" y="8340"/>
                    <a:pt x="8340" y="0"/>
                    <a:pt x="18627" y="0"/>
                  </a:cubicBezTo>
                  <a:close/>
                </a:path>
              </a:pathLst>
            </a:custGeom>
            <a:solidFill>
              <a:srgbClr val="FFFFFF"/>
            </a:solidFill>
          </p:spPr>
        </p:sp>
        <p:sp>
          <p:nvSpPr>
            <p:cNvPr id="4" name="TextBox 4"/>
            <p:cNvSpPr txBox="1"/>
            <p:nvPr/>
          </p:nvSpPr>
          <p:spPr>
            <a:xfrm>
              <a:off x="0" y="0"/>
              <a:ext cx="2189320" cy="512724"/>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665141" y="4730650"/>
            <a:ext cx="8312574" cy="1946749"/>
            <a:chOff x="0" y="0"/>
            <a:chExt cx="2189320" cy="512724"/>
          </a:xfrm>
        </p:grpSpPr>
        <p:sp>
          <p:nvSpPr>
            <p:cNvPr id="6" name="Freeform 6"/>
            <p:cNvSpPr/>
            <p:nvPr/>
          </p:nvSpPr>
          <p:spPr>
            <a:xfrm>
              <a:off x="0" y="0"/>
              <a:ext cx="2189320" cy="512724"/>
            </a:xfrm>
            <a:custGeom>
              <a:avLst/>
              <a:gdLst/>
              <a:ahLst/>
              <a:cxnLst/>
              <a:rect l="l" t="t" r="r" b="b"/>
              <a:pathLst>
                <a:path w="2189320" h="512724">
                  <a:moveTo>
                    <a:pt x="18627" y="0"/>
                  </a:moveTo>
                  <a:lnTo>
                    <a:pt x="2170693" y="0"/>
                  </a:lnTo>
                  <a:cubicBezTo>
                    <a:pt x="2175633" y="0"/>
                    <a:pt x="2180371" y="1962"/>
                    <a:pt x="2183864" y="5456"/>
                  </a:cubicBezTo>
                  <a:cubicBezTo>
                    <a:pt x="2187358" y="8949"/>
                    <a:pt x="2189320" y="13687"/>
                    <a:pt x="2189320" y="18627"/>
                  </a:cubicBezTo>
                  <a:lnTo>
                    <a:pt x="2189320" y="494097"/>
                  </a:lnTo>
                  <a:cubicBezTo>
                    <a:pt x="2189320" y="504385"/>
                    <a:pt x="2180980" y="512724"/>
                    <a:pt x="2170693" y="512724"/>
                  </a:cubicBezTo>
                  <a:lnTo>
                    <a:pt x="18627" y="512724"/>
                  </a:lnTo>
                  <a:cubicBezTo>
                    <a:pt x="8340" y="512724"/>
                    <a:pt x="0" y="504385"/>
                    <a:pt x="0" y="494097"/>
                  </a:cubicBezTo>
                  <a:lnTo>
                    <a:pt x="0" y="18627"/>
                  </a:lnTo>
                  <a:cubicBezTo>
                    <a:pt x="0" y="8340"/>
                    <a:pt x="8340" y="0"/>
                    <a:pt x="18627" y="0"/>
                  </a:cubicBezTo>
                  <a:close/>
                </a:path>
              </a:pathLst>
            </a:custGeom>
            <a:solidFill>
              <a:srgbClr val="FFFFFF"/>
            </a:solidFill>
          </p:spPr>
          <p:txBody>
            <a:bodyPr/>
            <a:lstStyle/>
            <a:p>
              <a:endParaRPr lang="en-US" dirty="0"/>
            </a:p>
          </p:txBody>
        </p:sp>
        <p:sp>
          <p:nvSpPr>
            <p:cNvPr id="7" name="TextBox 7"/>
            <p:cNvSpPr txBox="1"/>
            <p:nvPr/>
          </p:nvSpPr>
          <p:spPr>
            <a:xfrm>
              <a:off x="0" y="0"/>
              <a:ext cx="2189320" cy="512724"/>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9310285" y="7009969"/>
            <a:ext cx="8312574" cy="1946749"/>
            <a:chOff x="0" y="0"/>
            <a:chExt cx="2189320" cy="512724"/>
          </a:xfrm>
        </p:grpSpPr>
        <p:sp>
          <p:nvSpPr>
            <p:cNvPr id="9" name="Freeform 9"/>
            <p:cNvSpPr/>
            <p:nvPr/>
          </p:nvSpPr>
          <p:spPr>
            <a:xfrm>
              <a:off x="0" y="0"/>
              <a:ext cx="2189320" cy="512724"/>
            </a:xfrm>
            <a:custGeom>
              <a:avLst/>
              <a:gdLst/>
              <a:ahLst/>
              <a:cxnLst/>
              <a:rect l="l" t="t" r="r" b="b"/>
              <a:pathLst>
                <a:path w="2189320" h="512724">
                  <a:moveTo>
                    <a:pt x="18627" y="0"/>
                  </a:moveTo>
                  <a:lnTo>
                    <a:pt x="2170693" y="0"/>
                  </a:lnTo>
                  <a:cubicBezTo>
                    <a:pt x="2175633" y="0"/>
                    <a:pt x="2180371" y="1962"/>
                    <a:pt x="2183864" y="5456"/>
                  </a:cubicBezTo>
                  <a:cubicBezTo>
                    <a:pt x="2187358" y="8949"/>
                    <a:pt x="2189320" y="13687"/>
                    <a:pt x="2189320" y="18627"/>
                  </a:cubicBezTo>
                  <a:lnTo>
                    <a:pt x="2189320" y="494097"/>
                  </a:lnTo>
                  <a:cubicBezTo>
                    <a:pt x="2189320" y="504385"/>
                    <a:pt x="2180980" y="512724"/>
                    <a:pt x="2170693" y="512724"/>
                  </a:cubicBezTo>
                  <a:lnTo>
                    <a:pt x="18627" y="512724"/>
                  </a:lnTo>
                  <a:cubicBezTo>
                    <a:pt x="8340" y="512724"/>
                    <a:pt x="0" y="504385"/>
                    <a:pt x="0" y="494097"/>
                  </a:cubicBezTo>
                  <a:lnTo>
                    <a:pt x="0" y="18627"/>
                  </a:lnTo>
                  <a:cubicBezTo>
                    <a:pt x="0" y="8340"/>
                    <a:pt x="8340" y="0"/>
                    <a:pt x="18627" y="0"/>
                  </a:cubicBezTo>
                  <a:close/>
                </a:path>
              </a:pathLst>
            </a:custGeom>
            <a:solidFill>
              <a:srgbClr val="FFFFFF"/>
            </a:solidFill>
          </p:spPr>
        </p:sp>
        <p:sp>
          <p:nvSpPr>
            <p:cNvPr id="10" name="TextBox 10"/>
            <p:cNvSpPr txBox="1"/>
            <p:nvPr/>
          </p:nvSpPr>
          <p:spPr>
            <a:xfrm>
              <a:off x="0" y="0"/>
              <a:ext cx="2189320" cy="512724"/>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9310285" y="4730650"/>
            <a:ext cx="8312574" cy="1946749"/>
            <a:chOff x="0" y="0"/>
            <a:chExt cx="2189320" cy="512724"/>
          </a:xfrm>
        </p:grpSpPr>
        <p:sp>
          <p:nvSpPr>
            <p:cNvPr id="12" name="Freeform 12"/>
            <p:cNvSpPr/>
            <p:nvPr/>
          </p:nvSpPr>
          <p:spPr>
            <a:xfrm>
              <a:off x="0" y="0"/>
              <a:ext cx="2189320" cy="512724"/>
            </a:xfrm>
            <a:custGeom>
              <a:avLst/>
              <a:gdLst/>
              <a:ahLst/>
              <a:cxnLst/>
              <a:rect l="l" t="t" r="r" b="b"/>
              <a:pathLst>
                <a:path w="2189320" h="512724">
                  <a:moveTo>
                    <a:pt x="18627" y="0"/>
                  </a:moveTo>
                  <a:lnTo>
                    <a:pt x="2170693" y="0"/>
                  </a:lnTo>
                  <a:cubicBezTo>
                    <a:pt x="2175633" y="0"/>
                    <a:pt x="2180371" y="1962"/>
                    <a:pt x="2183864" y="5456"/>
                  </a:cubicBezTo>
                  <a:cubicBezTo>
                    <a:pt x="2187358" y="8949"/>
                    <a:pt x="2189320" y="13687"/>
                    <a:pt x="2189320" y="18627"/>
                  </a:cubicBezTo>
                  <a:lnTo>
                    <a:pt x="2189320" y="494097"/>
                  </a:lnTo>
                  <a:cubicBezTo>
                    <a:pt x="2189320" y="504385"/>
                    <a:pt x="2180980" y="512724"/>
                    <a:pt x="2170693" y="512724"/>
                  </a:cubicBezTo>
                  <a:lnTo>
                    <a:pt x="18627" y="512724"/>
                  </a:lnTo>
                  <a:cubicBezTo>
                    <a:pt x="8340" y="512724"/>
                    <a:pt x="0" y="504385"/>
                    <a:pt x="0" y="494097"/>
                  </a:cubicBezTo>
                  <a:lnTo>
                    <a:pt x="0" y="18627"/>
                  </a:lnTo>
                  <a:cubicBezTo>
                    <a:pt x="0" y="8340"/>
                    <a:pt x="8340" y="0"/>
                    <a:pt x="18627" y="0"/>
                  </a:cubicBezTo>
                  <a:close/>
                </a:path>
              </a:pathLst>
            </a:custGeom>
            <a:solidFill>
              <a:srgbClr val="FFFFFF"/>
            </a:solidFill>
          </p:spPr>
        </p:sp>
        <p:sp>
          <p:nvSpPr>
            <p:cNvPr id="13" name="TextBox 13"/>
            <p:cNvSpPr txBox="1"/>
            <p:nvPr/>
          </p:nvSpPr>
          <p:spPr>
            <a:xfrm>
              <a:off x="0" y="0"/>
              <a:ext cx="2189320" cy="512724"/>
            </a:xfrm>
            <a:prstGeom prst="rect">
              <a:avLst/>
            </a:prstGeom>
          </p:spPr>
          <p:txBody>
            <a:bodyPr lIns="50800" tIns="50800" rIns="50800" bIns="50800" rtlCol="0" anchor="ctr"/>
            <a:lstStyle/>
            <a:p>
              <a:pPr algn="ctr">
                <a:lnSpc>
                  <a:spcPts val="2520"/>
                </a:lnSpc>
              </a:pPr>
              <a:endParaRPr/>
            </a:p>
          </p:txBody>
        </p:sp>
      </p:grpSp>
      <p:sp>
        <p:nvSpPr>
          <p:cNvPr id="14" name="TextBox 14"/>
          <p:cNvSpPr txBox="1"/>
          <p:nvPr/>
        </p:nvSpPr>
        <p:spPr>
          <a:xfrm>
            <a:off x="1076412" y="7802369"/>
            <a:ext cx="592908" cy="361950"/>
          </a:xfrm>
          <a:prstGeom prst="rect">
            <a:avLst/>
          </a:prstGeom>
        </p:spPr>
        <p:txBody>
          <a:bodyPr lIns="0" tIns="0" rIns="0" bIns="0" rtlCol="0" anchor="t">
            <a:spAutoFit/>
          </a:bodyPr>
          <a:lstStyle/>
          <a:p>
            <a:pPr algn="r">
              <a:lnSpc>
                <a:spcPts val="2879"/>
              </a:lnSpc>
            </a:pPr>
            <a:r>
              <a:rPr lang="en-US" sz="2400" b="1">
                <a:solidFill>
                  <a:srgbClr val="000000"/>
                </a:solidFill>
                <a:latin typeface="Inter Bold"/>
                <a:ea typeface="Inter Bold"/>
                <a:cs typeface="Times New Roman" panose="02020603050405020304" pitchFamily="18" charset="0"/>
                <a:sym typeface="Inter Bold"/>
              </a:rPr>
              <a:t>03</a:t>
            </a:r>
          </a:p>
        </p:txBody>
      </p:sp>
      <p:sp>
        <p:nvSpPr>
          <p:cNvPr id="15" name="TextBox 15"/>
          <p:cNvSpPr txBox="1"/>
          <p:nvPr/>
        </p:nvSpPr>
        <p:spPr>
          <a:xfrm>
            <a:off x="1076412" y="5523049"/>
            <a:ext cx="592908" cy="361950"/>
          </a:xfrm>
          <a:prstGeom prst="rect">
            <a:avLst/>
          </a:prstGeom>
        </p:spPr>
        <p:txBody>
          <a:bodyPr lIns="0" tIns="0" rIns="0" bIns="0" rtlCol="0" anchor="t">
            <a:spAutoFit/>
          </a:bodyPr>
          <a:lstStyle/>
          <a:p>
            <a:pPr algn="r">
              <a:lnSpc>
                <a:spcPts val="2879"/>
              </a:lnSpc>
            </a:pPr>
            <a:r>
              <a:rPr lang="en-US" sz="2400" b="1">
                <a:solidFill>
                  <a:srgbClr val="000000"/>
                </a:solidFill>
                <a:latin typeface="Inter Bold"/>
                <a:ea typeface="Inter Bold"/>
                <a:cs typeface="Times New Roman" panose="02020603050405020304" pitchFamily="18" charset="0"/>
                <a:sym typeface="Inter Bold"/>
              </a:rPr>
              <a:t>01</a:t>
            </a:r>
          </a:p>
        </p:txBody>
      </p:sp>
      <p:sp>
        <p:nvSpPr>
          <p:cNvPr id="16" name="TextBox 16"/>
          <p:cNvSpPr txBox="1"/>
          <p:nvPr/>
        </p:nvSpPr>
        <p:spPr>
          <a:xfrm>
            <a:off x="9721556" y="7802369"/>
            <a:ext cx="592908" cy="361950"/>
          </a:xfrm>
          <a:prstGeom prst="rect">
            <a:avLst/>
          </a:prstGeom>
        </p:spPr>
        <p:txBody>
          <a:bodyPr lIns="0" tIns="0" rIns="0" bIns="0" rtlCol="0" anchor="t">
            <a:spAutoFit/>
          </a:bodyPr>
          <a:lstStyle/>
          <a:p>
            <a:pPr algn="r">
              <a:lnSpc>
                <a:spcPts val="2879"/>
              </a:lnSpc>
            </a:pPr>
            <a:r>
              <a:rPr lang="en-US" sz="2400" b="1">
                <a:solidFill>
                  <a:srgbClr val="000000"/>
                </a:solidFill>
                <a:latin typeface="Inter Bold"/>
                <a:ea typeface="Inter Bold"/>
                <a:cs typeface="Times New Roman" panose="02020603050405020304" pitchFamily="18" charset="0"/>
                <a:sym typeface="Inter Bold"/>
              </a:rPr>
              <a:t>04</a:t>
            </a:r>
          </a:p>
        </p:txBody>
      </p:sp>
      <p:sp>
        <p:nvSpPr>
          <p:cNvPr id="17" name="TextBox 17"/>
          <p:cNvSpPr txBox="1"/>
          <p:nvPr/>
        </p:nvSpPr>
        <p:spPr>
          <a:xfrm>
            <a:off x="9721556" y="5523049"/>
            <a:ext cx="592908" cy="361950"/>
          </a:xfrm>
          <a:prstGeom prst="rect">
            <a:avLst/>
          </a:prstGeom>
        </p:spPr>
        <p:txBody>
          <a:bodyPr lIns="0" tIns="0" rIns="0" bIns="0" rtlCol="0" anchor="t">
            <a:spAutoFit/>
          </a:bodyPr>
          <a:lstStyle/>
          <a:p>
            <a:pPr algn="r">
              <a:lnSpc>
                <a:spcPts val="2879"/>
              </a:lnSpc>
            </a:pPr>
            <a:r>
              <a:rPr lang="en-US" sz="2400" b="1">
                <a:solidFill>
                  <a:srgbClr val="000000"/>
                </a:solidFill>
                <a:latin typeface="Inter Bold"/>
                <a:ea typeface="Inter Bold"/>
                <a:cs typeface="Times New Roman" panose="02020603050405020304" pitchFamily="18" charset="0"/>
                <a:sym typeface="Inter Bold"/>
              </a:rPr>
              <a:t>02</a:t>
            </a:r>
          </a:p>
        </p:txBody>
      </p:sp>
      <p:sp>
        <p:nvSpPr>
          <p:cNvPr id="18" name="TextBox 18"/>
          <p:cNvSpPr txBox="1"/>
          <p:nvPr/>
        </p:nvSpPr>
        <p:spPr>
          <a:xfrm>
            <a:off x="2323854" y="7413956"/>
            <a:ext cx="6365615" cy="1138773"/>
          </a:xfrm>
          <a:prstGeom prst="rect">
            <a:avLst/>
          </a:prstGeom>
        </p:spPr>
        <p:txBody>
          <a:bodyPr wrap="square" lIns="0" tIns="0" rIns="0" bIns="0" rtlCol="0" anchor="t">
            <a:spAutoFit/>
          </a:bodyPr>
          <a:lstStyle/>
          <a:p>
            <a:pPr marL="0" lvl="0" indent="0" algn="l">
              <a:lnSpc>
                <a:spcPts val="3600"/>
              </a:lnSpc>
              <a:spcBef>
                <a:spcPct val="0"/>
              </a:spcBef>
            </a:pPr>
            <a:r>
              <a:rPr lang="en-US" sz="3600" b="1" dirty="0">
                <a:solidFill>
                  <a:srgbClr val="000000"/>
                </a:solidFill>
                <a:latin typeface="Montaser Arabic Bold"/>
                <a:ea typeface="Montaser Arabic Bold"/>
                <a:cs typeface="Montaser Arabic Bold"/>
                <a:sym typeface="Montaser Arabic Bold"/>
              </a:rPr>
              <a:t>Auto Electricians(Primary)</a:t>
            </a:r>
          </a:p>
          <a:p>
            <a:pPr marL="0" lvl="0" indent="0" algn="l">
              <a:spcBef>
                <a:spcPct val="0"/>
              </a:spcBef>
            </a:pPr>
            <a:r>
              <a:rPr lang="en-US" sz="2200" b="1" u="none" strike="noStrike" dirty="0">
                <a:solidFill>
                  <a:srgbClr val="C00000"/>
                </a:solidFill>
                <a:latin typeface="Montaser Arabic Bold"/>
                <a:ea typeface="Montaser Arabic Bold"/>
                <a:cs typeface="Montaser Arabic Bold"/>
                <a:sym typeface="Montaser Arabic Bold"/>
              </a:rPr>
              <a:t>Handle electrical and sensor-related faults such as battery and ABS issues</a:t>
            </a:r>
          </a:p>
        </p:txBody>
      </p:sp>
      <p:sp>
        <p:nvSpPr>
          <p:cNvPr id="19" name="TextBox 19"/>
          <p:cNvSpPr txBox="1"/>
          <p:nvPr/>
        </p:nvSpPr>
        <p:spPr>
          <a:xfrm>
            <a:off x="2129379" y="5151863"/>
            <a:ext cx="6876128" cy="1138773"/>
          </a:xfrm>
          <a:prstGeom prst="rect">
            <a:avLst/>
          </a:prstGeom>
        </p:spPr>
        <p:txBody>
          <a:bodyPr wrap="square" lIns="0" tIns="0" rIns="0" bIns="0" rtlCol="0" anchor="t">
            <a:spAutoFit/>
          </a:bodyPr>
          <a:lstStyle/>
          <a:p>
            <a:pPr marL="0" lvl="0" indent="0" algn="l">
              <a:lnSpc>
                <a:spcPts val="3600"/>
              </a:lnSpc>
              <a:spcBef>
                <a:spcPct val="0"/>
              </a:spcBef>
            </a:pPr>
            <a:r>
              <a:rPr lang="en-US" sz="3600" b="1" dirty="0">
                <a:solidFill>
                  <a:srgbClr val="000000"/>
                </a:solidFill>
                <a:latin typeface="Montaser Arabic Bold"/>
                <a:ea typeface="Montaser Arabic Bold"/>
                <a:cs typeface="Montaser Arabic Bold"/>
                <a:sym typeface="Montaser Arabic Bold"/>
              </a:rPr>
              <a:t>Car Owners/Drivers(Primary)</a:t>
            </a:r>
          </a:p>
          <a:p>
            <a:pPr marL="0" lvl="0" indent="0" algn="l">
              <a:spcBef>
                <a:spcPct val="0"/>
              </a:spcBef>
            </a:pPr>
            <a:r>
              <a:rPr lang="en-US" sz="2200" b="1" dirty="0">
                <a:solidFill>
                  <a:srgbClr val="C00000"/>
                </a:solidFill>
                <a:latin typeface="Montaser Arabic Bold"/>
                <a:ea typeface="Montaser Arabic Bold"/>
                <a:cs typeface="Montaser Arabic Bold"/>
                <a:sym typeface="Montaser Arabic Bold"/>
              </a:rPr>
              <a:t>Main users who need help understanding warning lights and engine sounds</a:t>
            </a:r>
            <a:endParaRPr lang="en-US" sz="2200" b="1" u="none" strike="noStrike" dirty="0">
              <a:solidFill>
                <a:srgbClr val="C00000"/>
              </a:solidFill>
              <a:latin typeface="Montaser Arabic Bold"/>
              <a:ea typeface="Montaser Arabic Bold"/>
              <a:cs typeface="Montaser Arabic Bold"/>
              <a:sym typeface="Montaser Arabic Bold"/>
            </a:endParaRPr>
          </a:p>
        </p:txBody>
      </p:sp>
      <p:sp>
        <p:nvSpPr>
          <p:cNvPr id="20" name="TextBox 20"/>
          <p:cNvSpPr txBox="1"/>
          <p:nvPr/>
        </p:nvSpPr>
        <p:spPr>
          <a:xfrm>
            <a:off x="10816941" y="7413956"/>
            <a:ext cx="6640838" cy="1138773"/>
          </a:xfrm>
          <a:prstGeom prst="rect">
            <a:avLst/>
          </a:prstGeom>
        </p:spPr>
        <p:txBody>
          <a:bodyPr wrap="square" lIns="0" tIns="0" rIns="0" bIns="0" rtlCol="0" anchor="t">
            <a:spAutoFit/>
          </a:bodyPr>
          <a:lstStyle/>
          <a:p>
            <a:pPr marL="0" lvl="0" indent="0" algn="l">
              <a:lnSpc>
                <a:spcPts val="3600"/>
              </a:lnSpc>
              <a:spcBef>
                <a:spcPct val="0"/>
              </a:spcBef>
            </a:pPr>
            <a:r>
              <a:rPr lang="en-US" sz="3600" b="1" dirty="0">
                <a:solidFill>
                  <a:srgbClr val="000000"/>
                </a:solidFill>
                <a:latin typeface="Montaser Arabic Bold"/>
                <a:ea typeface="Montaser Arabic Bold"/>
                <a:cs typeface="Montaser Arabic Bold"/>
                <a:sym typeface="Montaser Arabic Bold"/>
              </a:rPr>
              <a:t>Car Providers(Secondary)</a:t>
            </a:r>
          </a:p>
          <a:p>
            <a:pPr marL="0" lvl="0" indent="0" algn="l">
              <a:spcBef>
                <a:spcPct val="0"/>
              </a:spcBef>
            </a:pPr>
            <a:r>
              <a:rPr lang="en-US" sz="2200" b="1" u="none" strike="noStrike" dirty="0">
                <a:solidFill>
                  <a:srgbClr val="C00000"/>
                </a:solidFill>
                <a:latin typeface="Montaser Arabic Bold"/>
                <a:ea typeface="Montaser Arabic Bold"/>
                <a:cs typeface="Montaser Arabic Bold"/>
                <a:sym typeface="Montaser Arabic Bold"/>
              </a:rPr>
              <a:t>Suppl</a:t>
            </a:r>
            <a:r>
              <a:rPr lang="en-US" sz="2200" b="1" dirty="0">
                <a:solidFill>
                  <a:srgbClr val="C00000"/>
                </a:solidFill>
                <a:latin typeface="Montaser Arabic Bold"/>
                <a:ea typeface="Montaser Arabic Bold"/>
                <a:cs typeface="Montaser Arabic Bold"/>
                <a:sym typeface="Montaser Arabic Bold"/>
              </a:rPr>
              <a:t>y tutorials and maintenance guidance to support users after diagnosis</a:t>
            </a:r>
            <a:endParaRPr lang="en-US" sz="2200" b="1" u="none" strike="noStrike" dirty="0">
              <a:solidFill>
                <a:srgbClr val="C00000"/>
              </a:solidFill>
              <a:latin typeface="Montaser Arabic Bold"/>
              <a:ea typeface="Montaser Arabic Bold"/>
              <a:cs typeface="Montaser Arabic Bold"/>
              <a:sym typeface="Montaser Arabic Bold"/>
            </a:endParaRPr>
          </a:p>
        </p:txBody>
      </p:sp>
      <p:sp>
        <p:nvSpPr>
          <p:cNvPr id="21" name="TextBox 21"/>
          <p:cNvSpPr txBox="1"/>
          <p:nvPr/>
        </p:nvSpPr>
        <p:spPr>
          <a:xfrm>
            <a:off x="10931370" y="5201104"/>
            <a:ext cx="6229567" cy="1138773"/>
          </a:xfrm>
          <a:prstGeom prst="rect">
            <a:avLst/>
          </a:prstGeom>
        </p:spPr>
        <p:txBody>
          <a:bodyPr wrap="square" lIns="0" tIns="0" rIns="0" bIns="0" rtlCol="0" anchor="t">
            <a:spAutoFit/>
          </a:bodyPr>
          <a:lstStyle/>
          <a:p>
            <a:pPr marL="0" lvl="0" indent="0" algn="l">
              <a:lnSpc>
                <a:spcPts val="3600"/>
              </a:lnSpc>
              <a:spcBef>
                <a:spcPct val="0"/>
              </a:spcBef>
            </a:pPr>
            <a:r>
              <a:rPr lang="en-US" sz="3600" b="1" u="none" strike="noStrike" dirty="0">
                <a:solidFill>
                  <a:srgbClr val="000000"/>
                </a:solidFill>
                <a:latin typeface="Montaser Arabic Bold"/>
                <a:ea typeface="Montaser Arabic Bold"/>
                <a:cs typeface="Montaser Arabic Bold"/>
                <a:sym typeface="Montaser Arabic Bold"/>
              </a:rPr>
              <a:t>Mechanics(Primary)</a:t>
            </a:r>
          </a:p>
          <a:p>
            <a:pPr marL="0" lvl="0" indent="0" algn="l">
              <a:spcBef>
                <a:spcPct val="0"/>
              </a:spcBef>
            </a:pPr>
            <a:r>
              <a:rPr lang="en-US" sz="2200" b="1" dirty="0">
                <a:solidFill>
                  <a:srgbClr val="C00000"/>
                </a:solidFill>
                <a:latin typeface="Montaser Arabic Bold"/>
                <a:ea typeface="Montaser Arabic Bold"/>
                <a:cs typeface="Montaser Arabic Bold"/>
                <a:sym typeface="Montaser Arabic Bold"/>
              </a:rPr>
              <a:t>Provides expert knowledge and ensures the app gives safe and realistic advice</a:t>
            </a:r>
          </a:p>
        </p:txBody>
      </p:sp>
      <p:sp>
        <p:nvSpPr>
          <p:cNvPr id="22" name="AutoShape 22"/>
          <p:cNvSpPr/>
          <p:nvPr/>
        </p:nvSpPr>
        <p:spPr>
          <a:xfrm flipV="1">
            <a:off x="2001890" y="7480424"/>
            <a:ext cx="0" cy="1005840"/>
          </a:xfrm>
          <a:prstGeom prst="line">
            <a:avLst/>
          </a:prstGeom>
          <a:ln w="19050" cap="flat">
            <a:solidFill>
              <a:srgbClr val="000000"/>
            </a:solidFill>
            <a:prstDash val="solid"/>
            <a:headEnd type="none" w="sm" len="sm"/>
            <a:tailEnd type="none" w="sm" len="sm"/>
          </a:ln>
        </p:spPr>
      </p:sp>
      <p:sp>
        <p:nvSpPr>
          <p:cNvPr id="23" name="AutoShape 23"/>
          <p:cNvSpPr/>
          <p:nvPr/>
        </p:nvSpPr>
        <p:spPr>
          <a:xfrm flipV="1">
            <a:off x="2001890" y="5201104"/>
            <a:ext cx="0" cy="1005840"/>
          </a:xfrm>
          <a:prstGeom prst="line">
            <a:avLst/>
          </a:prstGeom>
          <a:ln w="19050" cap="flat">
            <a:solidFill>
              <a:srgbClr val="000000"/>
            </a:solidFill>
            <a:prstDash val="solid"/>
            <a:headEnd type="none" w="sm" len="sm"/>
            <a:tailEnd type="none" w="sm" len="sm"/>
          </a:ln>
        </p:spPr>
      </p:sp>
      <p:sp>
        <p:nvSpPr>
          <p:cNvPr id="24" name="AutoShape 24"/>
          <p:cNvSpPr/>
          <p:nvPr/>
        </p:nvSpPr>
        <p:spPr>
          <a:xfrm flipV="1">
            <a:off x="10647035" y="7480424"/>
            <a:ext cx="0" cy="1005840"/>
          </a:xfrm>
          <a:prstGeom prst="line">
            <a:avLst/>
          </a:prstGeom>
          <a:ln w="19050" cap="flat">
            <a:solidFill>
              <a:srgbClr val="000000"/>
            </a:solidFill>
            <a:prstDash val="solid"/>
            <a:headEnd type="none" w="sm" len="sm"/>
            <a:tailEnd type="none" w="sm" len="sm"/>
          </a:ln>
        </p:spPr>
      </p:sp>
      <p:sp>
        <p:nvSpPr>
          <p:cNvPr id="25" name="AutoShape 25"/>
          <p:cNvSpPr/>
          <p:nvPr/>
        </p:nvSpPr>
        <p:spPr>
          <a:xfrm flipV="1">
            <a:off x="10647035" y="5201104"/>
            <a:ext cx="0" cy="1005840"/>
          </a:xfrm>
          <a:prstGeom prst="line">
            <a:avLst/>
          </a:prstGeom>
          <a:ln w="19050" cap="flat">
            <a:solidFill>
              <a:srgbClr val="000000"/>
            </a:solidFill>
            <a:prstDash val="solid"/>
            <a:headEnd type="none" w="sm" len="sm"/>
            <a:tailEnd type="none" w="sm" len="sm"/>
          </a:ln>
        </p:spPr>
      </p:sp>
      <p:sp>
        <p:nvSpPr>
          <p:cNvPr id="26" name="TextBox 26"/>
          <p:cNvSpPr txBox="1"/>
          <p:nvPr/>
        </p:nvSpPr>
        <p:spPr>
          <a:xfrm>
            <a:off x="665141" y="2465309"/>
            <a:ext cx="16792638" cy="1458348"/>
          </a:xfrm>
          <a:prstGeom prst="rect">
            <a:avLst/>
          </a:prstGeom>
        </p:spPr>
        <p:txBody>
          <a:bodyPr wrap="square" lIns="0" tIns="0" rIns="0" bIns="0" rtlCol="0" anchor="t">
            <a:spAutoFit/>
          </a:bodyPr>
          <a:lstStyle/>
          <a:p>
            <a:pPr algn="l">
              <a:lnSpc>
                <a:spcPts val="12000"/>
              </a:lnSpc>
            </a:pPr>
            <a:r>
              <a:rPr lang="en-US" sz="9600" b="1" dirty="0">
                <a:solidFill>
                  <a:srgbClr val="FFFFFF"/>
                </a:solidFill>
                <a:latin typeface="Montaser Arabic Bold"/>
                <a:ea typeface="Montaser Arabic Bold"/>
                <a:cs typeface="Montaser Arabic Bold"/>
                <a:sym typeface="Montaser Arabic Bold"/>
              </a:rPr>
              <a:t>Stake Holders Categories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665141" y="4925379"/>
            <a:ext cx="8811430" cy="4696480"/>
            <a:chOff x="0" y="0"/>
            <a:chExt cx="2320706" cy="1236933"/>
          </a:xfrm>
        </p:grpSpPr>
        <p:sp>
          <p:nvSpPr>
            <p:cNvPr id="3" name="Freeform 3"/>
            <p:cNvSpPr/>
            <p:nvPr/>
          </p:nvSpPr>
          <p:spPr>
            <a:xfrm>
              <a:off x="0" y="0"/>
              <a:ext cx="2320706" cy="1236933"/>
            </a:xfrm>
            <a:custGeom>
              <a:avLst/>
              <a:gdLst/>
              <a:ahLst/>
              <a:cxnLst/>
              <a:rect l="l" t="t" r="r" b="b"/>
              <a:pathLst>
                <a:path w="2320706" h="1236933">
                  <a:moveTo>
                    <a:pt x="17572" y="0"/>
                  </a:moveTo>
                  <a:lnTo>
                    <a:pt x="2303133" y="0"/>
                  </a:lnTo>
                  <a:cubicBezTo>
                    <a:pt x="2312838" y="0"/>
                    <a:pt x="2320706" y="7867"/>
                    <a:pt x="2320706" y="17572"/>
                  </a:cubicBezTo>
                  <a:lnTo>
                    <a:pt x="2320706" y="1219361"/>
                  </a:lnTo>
                  <a:cubicBezTo>
                    <a:pt x="2320706" y="1229066"/>
                    <a:pt x="2312838" y="1236933"/>
                    <a:pt x="2303133" y="1236933"/>
                  </a:cubicBezTo>
                  <a:lnTo>
                    <a:pt x="17572" y="1236933"/>
                  </a:lnTo>
                  <a:cubicBezTo>
                    <a:pt x="7867" y="1236933"/>
                    <a:pt x="0" y="1229066"/>
                    <a:pt x="0" y="1219361"/>
                  </a:cubicBezTo>
                  <a:lnTo>
                    <a:pt x="0" y="17572"/>
                  </a:lnTo>
                  <a:cubicBezTo>
                    <a:pt x="0" y="7867"/>
                    <a:pt x="7867" y="0"/>
                    <a:pt x="17572" y="0"/>
                  </a:cubicBezTo>
                  <a:close/>
                </a:path>
              </a:pathLst>
            </a:custGeom>
            <a:solidFill>
              <a:srgbClr val="FFFFFF"/>
            </a:solidFill>
          </p:spPr>
        </p:sp>
        <p:sp>
          <p:nvSpPr>
            <p:cNvPr id="4" name="TextBox 4"/>
            <p:cNvSpPr txBox="1"/>
            <p:nvPr/>
          </p:nvSpPr>
          <p:spPr>
            <a:xfrm>
              <a:off x="0" y="0"/>
              <a:ext cx="2320706" cy="1236933"/>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9809141" y="1571569"/>
            <a:ext cx="7813719" cy="8050291"/>
            <a:chOff x="0" y="0"/>
            <a:chExt cx="2057934" cy="2120241"/>
          </a:xfrm>
        </p:grpSpPr>
        <p:sp>
          <p:nvSpPr>
            <p:cNvPr id="6" name="Freeform 6"/>
            <p:cNvSpPr/>
            <p:nvPr/>
          </p:nvSpPr>
          <p:spPr>
            <a:xfrm>
              <a:off x="0" y="0"/>
              <a:ext cx="2057934" cy="2120241"/>
            </a:xfrm>
            <a:custGeom>
              <a:avLst/>
              <a:gdLst/>
              <a:ahLst/>
              <a:cxnLst/>
              <a:rect l="l" t="t" r="r" b="b"/>
              <a:pathLst>
                <a:path w="2057934" h="2120241">
                  <a:moveTo>
                    <a:pt x="19816" y="0"/>
                  </a:moveTo>
                  <a:lnTo>
                    <a:pt x="2038118" y="0"/>
                  </a:lnTo>
                  <a:cubicBezTo>
                    <a:pt x="2049062" y="0"/>
                    <a:pt x="2057934" y="8872"/>
                    <a:pt x="2057934" y="19816"/>
                  </a:cubicBezTo>
                  <a:lnTo>
                    <a:pt x="2057934" y="2100425"/>
                  </a:lnTo>
                  <a:cubicBezTo>
                    <a:pt x="2057934" y="2105681"/>
                    <a:pt x="2055846" y="2110721"/>
                    <a:pt x="2052130" y="2114437"/>
                  </a:cubicBezTo>
                  <a:cubicBezTo>
                    <a:pt x="2048414" y="2118153"/>
                    <a:pt x="2043374" y="2120241"/>
                    <a:pt x="2038118" y="2120241"/>
                  </a:cubicBezTo>
                  <a:lnTo>
                    <a:pt x="19816" y="2120241"/>
                  </a:lnTo>
                  <a:cubicBezTo>
                    <a:pt x="8872" y="2120241"/>
                    <a:pt x="0" y="2111369"/>
                    <a:pt x="0" y="2100425"/>
                  </a:cubicBezTo>
                  <a:lnTo>
                    <a:pt x="0" y="19816"/>
                  </a:lnTo>
                  <a:cubicBezTo>
                    <a:pt x="0" y="8872"/>
                    <a:pt x="8872" y="0"/>
                    <a:pt x="19816" y="0"/>
                  </a:cubicBezTo>
                  <a:close/>
                </a:path>
              </a:pathLst>
            </a:custGeom>
            <a:solidFill>
              <a:srgbClr val="EE4D4D"/>
            </a:solidFill>
          </p:spPr>
        </p:sp>
        <p:sp>
          <p:nvSpPr>
            <p:cNvPr id="7" name="TextBox 7"/>
            <p:cNvSpPr txBox="1"/>
            <p:nvPr/>
          </p:nvSpPr>
          <p:spPr>
            <a:xfrm>
              <a:off x="0" y="0"/>
              <a:ext cx="2057934" cy="2120241"/>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0474281" y="2931229"/>
            <a:ext cx="6483438" cy="1256945"/>
            <a:chOff x="0" y="0"/>
            <a:chExt cx="1707572" cy="331047"/>
          </a:xfrm>
        </p:grpSpPr>
        <p:sp>
          <p:nvSpPr>
            <p:cNvPr id="9" name="Freeform 9"/>
            <p:cNvSpPr/>
            <p:nvPr/>
          </p:nvSpPr>
          <p:spPr>
            <a:xfrm>
              <a:off x="0" y="0"/>
              <a:ext cx="1707572" cy="331047"/>
            </a:xfrm>
            <a:custGeom>
              <a:avLst/>
              <a:gdLst/>
              <a:ahLst/>
              <a:cxnLst/>
              <a:rect l="l" t="t" r="r" b="b"/>
              <a:pathLst>
                <a:path w="1707572" h="331047">
                  <a:moveTo>
                    <a:pt x="23882" y="0"/>
                  </a:moveTo>
                  <a:lnTo>
                    <a:pt x="1683690" y="0"/>
                  </a:lnTo>
                  <a:cubicBezTo>
                    <a:pt x="1690024" y="0"/>
                    <a:pt x="1696098" y="2516"/>
                    <a:pt x="1700577" y="6995"/>
                  </a:cubicBezTo>
                  <a:cubicBezTo>
                    <a:pt x="1705056" y="11474"/>
                    <a:pt x="1707572" y="17548"/>
                    <a:pt x="1707572" y="23882"/>
                  </a:cubicBezTo>
                  <a:lnTo>
                    <a:pt x="1707572" y="307165"/>
                  </a:lnTo>
                  <a:cubicBezTo>
                    <a:pt x="1707572" y="313499"/>
                    <a:pt x="1705056" y="319573"/>
                    <a:pt x="1700577" y="324052"/>
                  </a:cubicBezTo>
                  <a:cubicBezTo>
                    <a:pt x="1696098" y="328531"/>
                    <a:pt x="1690024" y="331047"/>
                    <a:pt x="1683690" y="331047"/>
                  </a:cubicBezTo>
                  <a:lnTo>
                    <a:pt x="23882" y="331047"/>
                  </a:lnTo>
                  <a:cubicBezTo>
                    <a:pt x="17548" y="331047"/>
                    <a:pt x="11474" y="328531"/>
                    <a:pt x="6995" y="324052"/>
                  </a:cubicBezTo>
                  <a:cubicBezTo>
                    <a:pt x="2516" y="319573"/>
                    <a:pt x="0" y="313499"/>
                    <a:pt x="0" y="307165"/>
                  </a:cubicBezTo>
                  <a:lnTo>
                    <a:pt x="0" y="23882"/>
                  </a:lnTo>
                  <a:cubicBezTo>
                    <a:pt x="0" y="17548"/>
                    <a:pt x="2516" y="11474"/>
                    <a:pt x="6995" y="6995"/>
                  </a:cubicBezTo>
                  <a:cubicBezTo>
                    <a:pt x="11474" y="2516"/>
                    <a:pt x="17548" y="0"/>
                    <a:pt x="23882" y="0"/>
                  </a:cubicBezTo>
                  <a:close/>
                </a:path>
              </a:pathLst>
            </a:custGeom>
            <a:solidFill>
              <a:srgbClr val="FFFFFF"/>
            </a:solidFill>
          </p:spPr>
        </p:sp>
        <p:sp>
          <p:nvSpPr>
            <p:cNvPr id="10" name="TextBox 10"/>
            <p:cNvSpPr txBox="1"/>
            <p:nvPr/>
          </p:nvSpPr>
          <p:spPr>
            <a:xfrm>
              <a:off x="0" y="0"/>
              <a:ext cx="1707572" cy="331047"/>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0474281" y="4520744"/>
            <a:ext cx="6483438" cy="1256945"/>
            <a:chOff x="0" y="0"/>
            <a:chExt cx="1707572" cy="331047"/>
          </a:xfrm>
        </p:grpSpPr>
        <p:sp>
          <p:nvSpPr>
            <p:cNvPr id="12" name="Freeform 12"/>
            <p:cNvSpPr/>
            <p:nvPr/>
          </p:nvSpPr>
          <p:spPr>
            <a:xfrm>
              <a:off x="0" y="0"/>
              <a:ext cx="1707572" cy="331047"/>
            </a:xfrm>
            <a:custGeom>
              <a:avLst/>
              <a:gdLst/>
              <a:ahLst/>
              <a:cxnLst/>
              <a:rect l="l" t="t" r="r" b="b"/>
              <a:pathLst>
                <a:path w="1707572" h="331047">
                  <a:moveTo>
                    <a:pt x="23882" y="0"/>
                  </a:moveTo>
                  <a:lnTo>
                    <a:pt x="1683690" y="0"/>
                  </a:lnTo>
                  <a:cubicBezTo>
                    <a:pt x="1690024" y="0"/>
                    <a:pt x="1696098" y="2516"/>
                    <a:pt x="1700577" y="6995"/>
                  </a:cubicBezTo>
                  <a:cubicBezTo>
                    <a:pt x="1705056" y="11474"/>
                    <a:pt x="1707572" y="17548"/>
                    <a:pt x="1707572" y="23882"/>
                  </a:cubicBezTo>
                  <a:lnTo>
                    <a:pt x="1707572" y="307165"/>
                  </a:lnTo>
                  <a:cubicBezTo>
                    <a:pt x="1707572" y="313499"/>
                    <a:pt x="1705056" y="319573"/>
                    <a:pt x="1700577" y="324052"/>
                  </a:cubicBezTo>
                  <a:cubicBezTo>
                    <a:pt x="1696098" y="328531"/>
                    <a:pt x="1690024" y="331047"/>
                    <a:pt x="1683690" y="331047"/>
                  </a:cubicBezTo>
                  <a:lnTo>
                    <a:pt x="23882" y="331047"/>
                  </a:lnTo>
                  <a:cubicBezTo>
                    <a:pt x="17548" y="331047"/>
                    <a:pt x="11474" y="328531"/>
                    <a:pt x="6995" y="324052"/>
                  </a:cubicBezTo>
                  <a:cubicBezTo>
                    <a:pt x="2516" y="319573"/>
                    <a:pt x="0" y="313499"/>
                    <a:pt x="0" y="307165"/>
                  </a:cubicBezTo>
                  <a:lnTo>
                    <a:pt x="0" y="23882"/>
                  </a:lnTo>
                  <a:cubicBezTo>
                    <a:pt x="0" y="17548"/>
                    <a:pt x="2516" y="11474"/>
                    <a:pt x="6995" y="6995"/>
                  </a:cubicBezTo>
                  <a:cubicBezTo>
                    <a:pt x="11474" y="2516"/>
                    <a:pt x="17548" y="0"/>
                    <a:pt x="23882" y="0"/>
                  </a:cubicBezTo>
                  <a:close/>
                </a:path>
              </a:pathLst>
            </a:custGeom>
            <a:solidFill>
              <a:srgbClr val="FFFFFF"/>
            </a:solidFill>
          </p:spPr>
        </p:sp>
        <p:sp>
          <p:nvSpPr>
            <p:cNvPr id="13" name="TextBox 13"/>
            <p:cNvSpPr txBox="1"/>
            <p:nvPr/>
          </p:nvSpPr>
          <p:spPr>
            <a:xfrm>
              <a:off x="0" y="0"/>
              <a:ext cx="1707572" cy="331047"/>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10474281" y="6110259"/>
            <a:ext cx="6483438" cy="1256945"/>
            <a:chOff x="0" y="0"/>
            <a:chExt cx="1707572" cy="331047"/>
          </a:xfrm>
        </p:grpSpPr>
        <p:sp>
          <p:nvSpPr>
            <p:cNvPr id="15" name="Freeform 15"/>
            <p:cNvSpPr/>
            <p:nvPr/>
          </p:nvSpPr>
          <p:spPr>
            <a:xfrm>
              <a:off x="0" y="0"/>
              <a:ext cx="1707572" cy="331047"/>
            </a:xfrm>
            <a:custGeom>
              <a:avLst/>
              <a:gdLst/>
              <a:ahLst/>
              <a:cxnLst/>
              <a:rect l="l" t="t" r="r" b="b"/>
              <a:pathLst>
                <a:path w="1707572" h="331047">
                  <a:moveTo>
                    <a:pt x="23882" y="0"/>
                  </a:moveTo>
                  <a:lnTo>
                    <a:pt x="1683690" y="0"/>
                  </a:lnTo>
                  <a:cubicBezTo>
                    <a:pt x="1690024" y="0"/>
                    <a:pt x="1696098" y="2516"/>
                    <a:pt x="1700577" y="6995"/>
                  </a:cubicBezTo>
                  <a:cubicBezTo>
                    <a:pt x="1705056" y="11474"/>
                    <a:pt x="1707572" y="17548"/>
                    <a:pt x="1707572" y="23882"/>
                  </a:cubicBezTo>
                  <a:lnTo>
                    <a:pt x="1707572" y="307165"/>
                  </a:lnTo>
                  <a:cubicBezTo>
                    <a:pt x="1707572" y="313499"/>
                    <a:pt x="1705056" y="319573"/>
                    <a:pt x="1700577" y="324052"/>
                  </a:cubicBezTo>
                  <a:cubicBezTo>
                    <a:pt x="1696098" y="328531"/>
                    <a:pt x="1690024" y="331047"/>
                    <a:pt x="1683690" y="331047"/>
                  </a:cubicBezTo>
                  <a:lnTo>
                    <a:pt x="23882" y="331047"/>
                  </a:lnTo>
                  <a:cubicBezTo>
                    <a:pt x="17548" y="331047"/>
                    <a:pt x="11474" y="328531"/>
                    <a:pt x="6995" y="324052"/>
                  </a:cubicBezTo>
                  <a:cubicBezTo>
                    <a:pt x="2516" y="319573"/>
                    <a:pt x="0" y="313499"/>
                    <a:pt x="0" y="307165"/>
                  </a:cubicBezTo>
                  <a:lnTo>
                    <a:pt x="0" y="23882"/>
                  </a:lnTo>
                  <a:cubicBezTo>
                    <a:pt x="0" y="17548"/>
                    <a:pt x="2516" y="11474"/>
                    <a:pt x="6995" y="6995"/>
                  </a:cubicBezTo>
                  <a:cubicBezTo>
                    <a:pt x="11474" y="2516"/>
                    <a:pt x="17548" y="0"/>
                    <a:pt x="23882" y="0"/>
                  </a:cubicBezTo>
                  <a:close/>
                </a:path>
              </a:pathLst>
            </a:custGeom>
            <a:solidFill>
              <a:srgbClr val="FFFFFF"/>
            </a:solidFill>
          </p:spPr>
        </p:sp>
        <p:sp>
          <p:nvSpPr>
            <p:cNvPr id="16" name="TextBox 16"/>
            <p:cNvSpPr txBox="1"/>
            <p:nvPr/>
          </p:nvSpPr>
          <p:spPr>
            <a:xfrm>
              <a:off x="0" y="0"/>
              <a:ext cx="1707572" cy="331047"/>
            </a:xfrm>
            <a:prstGeom prst="rect">
              <a:avLst/>
            </a:prstGeom>
          </p:spPr>
          <p:txBody>
            <a:bodyPr lIns="50800" tIns="50800" rIns="50800" bIns="50800" rtlCol="0" anchor="ctr"/>
            <a:lstStyle/>
            <a:p>
              <a:pPr algn="ctr">
                <a:lnSpc>
                  <a:spcPts val="2520"/>
                </a:lnSpc>
              </a:pPr>
              <a:endParaRPr/>
            </a:p>
          </p:txBody>
        </p:sp>
      </p:grpSp>
      <p:grpSp>
        <p:nvGrpSpPr>
          <p:cNvPr id="17" name="Group 17"/>
          <p:cNvGrpSpPr/>
          <p:nvPr/>
        </p:nvGrpSpPr>
        <p:grpSpPr>
          <a:xfrm>
            <a:off x="10474281" y="7699774"/>
            <a:ext cx="6483438" cy="1256945"/>
            <a:chOff x="0" y="0"/>
            <a:chExt cx="1707572" cy="331047"/>
          </a:xfrm>
        </p:grpSpPr>
        <p:sp>
          <p:nvSpPr>
            <p:cNvPr id="18" name="Freeform 18"/>
            <p:cNvSpPr/>
            <p:nvPr/>
          </p:nvSpPr>
          <p:spPr>
            <a:xfrm>
              <a:off x="0" y="0"/>
              <a:ext cx="1707572" cy="331047"/>
            </a:xfrm>
            <a:custGeom>
              <a:avLst/>
              <a:gdLst/>
              <a:ahLst/>
              <a:cxnLst/>
              <a:rect l="l" t="t" r="r" b="b"/>
              <a:pathLst>
                <a:path w="1707572" h="331047">
                  <a:moveTo>
                    <a:pt x="23882" y="0"/>
                  </a:moveTo>
                  <a:lnTo>
                    <a:pt x="1683690" y="0"/>
                  </a:lnTo>
                  <a:cubicBezTo>
                    <a:pt x="1690024" y="0"/>
                    <a:pt x="1696098" y="2516"/>
                    <a:pt x="1700577" y="6995"/>
                  </a:cubicBezTo>
                  <a:cubicBezTo>
                    <a:pt x="1705056" y="11474"/>
                    <a:pt x="1707572" y="17548"/>
                    <a:pt x="1707572" y="23882"/>
                  </a:cubicBezTo>
                  <a:lnTo>
                    <a:pt x="1707572" y="307165"/>
                  </a:lnTo>
                  <a:cubicBezTo>
                    <a:pt x="1707572" y="313499"/>
                    <a:pt x="1705056" y="319573"/>
                    <a:pt x="1700577" y="324052"/>
                  </a:cubicBezTo>
                  <a:cubicBezTo>
                    <a:pt x="1696098" y="328531"/>
                    <a:pt x="1690024" y="331047"/>
                    <a:pt x="1683690" y="331047"/>
                  </a:cubicBezTo>
                  <a:lnTo>
                    <a:pt x="23882" y="331047"/>
                  </a:lnTo>
                  <a:cubicBezTo>
                    <a:pt x="17548" y="331047"/>
                    <a:pt x="11474" y="328531"/>
                    <a:pt x="6995" y="324052"/>
                  </a:cubicBezTo>
                  <a:cubicBezTo>
                    <a:pt x="2516" y="319573"/>
                    <a:pt x="0" y="313499"/>
                    <a:pt x="0" y="307165"/>
                  </a:cubicBezTo>
                  <a:lnTo>
                    <a:pt x="0" y="23882"/>
                  </a:lnTo>
                  <a:cubicBezTo>
                    <a:pt x="0" y="17548"/>
                    <a:pt x="2516" y="11474"/>
                    <a:pt x="6995" y="6995"/>
                  </a:cubicBezTo>
                  <a:cubicBezTo>
                    <a:pt x="11474" y="2516"/>
                    <a:pt x="17548" y="0"/>
                    <a:pt x="23882" y="0"/>
                  </a:cubicBezTo>
                  <a:close/>
                </a:path>
              </a:pathLst>
            </a:custGeom>
            <a:solidFill>
              <a:srgbClr val="FFFFFF"/>
            </a:solidFill>
          </p:spPr>
        </p:sp>
        <p:sp>
          <p:nvSpPr>
            <p:cNvPr id="19" name="TextBox 19"/>
            <p:cNvSpPr txBox="1"/>
            <p:nvPr/>
          </p:nvSpPr>
          <p:spPr>
            <a:xfrm>
              <a:off x="0" y="0"/>
              <a:ext cx="1707572" cy="331047"/>
            </a:xfrm>
            <a:prstGeom prst="rect">
              <a:avLst/>
            </a:prstGeom>
          </p:spPr>
          <p:txBody>
            <a:bodyPr lIns="50800" tIns="50800" rIns="50800" bIns="50800" rtlCol="0" anchor="ctr"/>
            <a:lstStyle/>
            <a:p>
              <a:pPr algn="ctr">
                <a:lnSpc>
                  <a:spcPts val="2520"/>
                </a:lnSpc>
              </a:pPr>
              <a:endParaRPr/>
            </a:p>
          </p:txBody>
        </p:sp>
      </p:grpSp>
      <p:sp>
        <p:nvSpPr>
          <p:cNvPr id="20" name="TextBox 20"/>
          <p:cNvSpPr txBox="1"/>
          <p:nvPr/>
        </p:nvSpPr>
        <p:spPr>
          <a:xfrm>
            <a:off x="640979" y="827425"/>
            <a:ext cx="8798910" cy="3693319"/>
          </a:xfrm>
          <a:prstGeom prst="rect">
            <a:avLst/>
          </a:prstGeom>
        </p:spPr>
        <p:txBody>
          <a:bodyPr wrap="square" lIns="0" tIns="0" rIns="0" bIns="0" rtlCol="0" anchor="t">
            <a:spAutoFit/>
          </a:bodyPr>
          <a:lstStyle/>
          <a:p>
            <a:pPr marL="0" lvl="0" indent="0" algn="l">
              <a:spcBef>
                <a:spcPct val="0"/>
              </a:spcBef>
            </a:pPr>
            <a:r>
              <a:rPr lang="en-US" sz="8000" b="1" u="none" strike="noStrike" dirty="0">
                <a:solidFill>
                  <a:srgbClr val="EE4D4D"/>
                </a:solidFill>
                <a:latin typeface="Montaser Arabic Bold"/>
                <a:ea typeface="Montaser Arabic Bold"/>
                <a:cs typeface="Montaser Arabic Bold"/>
                <a:sym typeface="Montaser Arabic Bold"/>
              </a:rPr>
              <a:t>Requirement Gathering Techniques</a:t>
            </a:r>
          </a:p>
        </p:txBody>
      </p:sp>
      <p:sp>
        <p:nvSpPr>
          <p:cNvPr id="21" name="TextBox 21"/>
          <p:cNvSpPr txBox="1"/>
          <p:nvPr/>
        </p:nvSpPr>
        <p:spPr>
          <a:xfrm>
            <a:off x="985630" y="5042244"/>
            <a:ext cx="8109608" cy="2146485"/>
          </a:xfrm>
          <a:prstGeom prst="rect">
            <a:avLst/>
          </a:prstGeom>
        </p:spPr>
        <p:txBody>
          <a:bodyPr wrap="square" lIns="0" tIns="0" rIns="0" bIns="0" rtlCol="0" anchor="t">
            <a:spAutoFit/>
          </a:bodyPr>
          <a:lstStyle/>
          <a:p>
            <a:pPr marL="0" lvl="0" indent="0" algn="just">
              <a:lnSpc>
                <a:spcPts val="3360"/>
              </a:lnSpc>
              <a:spcBef>
                <a:spcPct val="0"/>
              </a:spcBef>
            </a:pPr>
            <a:r>
              <a:rPr lang="en-US" sz="2500" dirty="0">
                <a:solidFill>
                  <a:srgbClr val="000000"/>
                </a:solidFill>
                <a:latin typeface="Inter"/>
                <a:ea typeface="Inter"/>
                <a:cs typeface="Inter"/>
                <a:sym typeface="Inter"/>
              </a:rPr>
              <a:t>The requirement gathering process was designed around the nature of the application. SO, the techniques selected had to collect information from both ordinary car owners and people with technical vehicle repair experience</a:t>
            </a:r>
            <a:endParaRPr lang="en-US" sz="2500" u="none" strike="noStrike" dirty="0">
              <a:solidFill>
                <a:srgbClr val="000000"/>
              </a:solidFill>
              <a:latin typeface="Inter"/>
              <a:ea typeface="Inter"/>
              <a:cs typeface="Inter"/>
              <a:sym typeface="Inter"/>
            </a:endParaRPr>
          </a:p>
        </p:txBody>
      </p:sp>
      <p:sp>
        <p:nvSpPr>
          <p:cNvPr id="22" name="TextBox 22"/>
          <p:cNvSpPr txBox="1"/>
          <p:nvPr/>
        </p:nvSpPr>
        <p:spPr>
          <a:xfrm>
            <a:off x="3765500" y="7459567"/>
            <a:ext cx="5045930" cy="1846659"/>
          </a:xfrm>
          <a:prstGeom prst="rect">
            <a:avLst/>
          </a:prstGeom>
        </p:spPr>
        <p:txBody>
          <a:bodyPr lIns="0" tIns="0" rIns="0" bIns="0" rtlCol="0" anchor="t">
            <a:spAutoFit/>
          </a:bodyPr>
          <a:lstStyle/>
          <a:p>
            <a:pPr algn="l">
              <a:lnSpc>
                <a:spcPts val="14400"/>
              </a:lnSpc>
            </a:pPr>
            <a:r>
              <a:rPr lang="en-US" sz="14400" b="1" spc="-431" dirty="0">
                <a:solidFill>
                  <a:srgbClr val="EE4D4D"/>
                </a:solidFill>
                <a:latin typeface="Montaser Arabic Bold"/>
                <a:ea typeface="Montaser Arabic Bold"/>
                <a:cs typeface="Montaser Arabic Bold"/>
                <a:sym typeface="Montaser Arabic Bold"/>
              </a:rPr>
              <a:t>4</a:t>
            </a:r>
            <a:r>
              <a:rPr lang="en-US" sz="3600" b="1" spc="-431" dirty="0">
                <a:solidFill>
                  <a:srgbClr val="EE4D4D"/>
                </a:solidFill>
                <a:latin typeface="Montaser Arabic Bold"/>
                <a:ea typeface="Montaser Arabic Bold"/>
                <a:cs typeface="Montaser Arabic Bold"/>
                <a:sym typeface="Montaser Arabic Bold"/>
              </a:rPr>
              <a:t>Main Techniques</a:t>
            </a:r>
          </a:p>
        </p:txBody>
      </p:sp>
      <p:sp>
        <p:nvSpPr>
          <p:cNvPr id="24" name="TextBox 24"/>
          <p:cNvSpPr txBox="1"/>
          <p:nvPr/>
        </p:nvSpPr>
        <p:spPr>
          <a:xfrm>
            <a:off x="10474281" y="2236709"/>
            <a:ext cx="4423478" cy="361950"/>
          </a:xfrm>
          <a:prstGeom prst="rect">
            <a:avLst/>
          </a:prstGeom>
        </p:spPr>
        <p:txBody>
          <a:bodyPr lIns="0" tIns="0" rIns="0" bIns="0" rtlCol="0" anchor="t">
            <a:spAutoFit/>
          </a:bodyPr>
          <a:lstStyle/>
          <a:p>
            <a:pPr algn="l">
              <a:lnSpc>
                <a:spcPts val="2879"/>
              </a:lnSpc>
            </a:pPr>
            <a:r>
              <a:rPr lang="en-US" sz="2400" dirty="0">
                <a:solidFill>
                  <a:srgbClr val="FFFFFF"/>
                </a:solidFill>
                <a:latin typeface="Inter"/>
                <a:ea typeface="Inter"/>
                <a:cs typeface="Inter"/>
                <a:sym typeface="Inter"/>
              </a:rPr>
              <a:t>Main Techniques:</a:t>
            </a:r>
          </a:p>
        </p:txBody>
      </p:sp>
      <p:sp>
        <p:nvSpPr>
          <p:cNvPr id="25" name="TextBox 25"/>
          <p:cNvSpPr txBox="1"/>
          <p:nvPr/>
        </p:nvSpPr>
        <p:spPr>
          <a:xfrm>
            <a:off x="10819370" y="3359677"/>
            <a:ext cx="5793259" cy="428625"/>
          </a:xfrm>
          <a:prstGeom prst="rect">
            <a:avLst/>
          </a:prstGeom>
        </p:spPr>
        <p:txBody>
          <a:bodyPr lIns="0" tIns="0" rIns="0" bIns="0" rtlCol="0" anchor="t">
            <a:spAutoFit/>
          </a:bodyPr>
          <a:lstStyle/>
          <a:p>
            <a:pPr marL="0" lvl="0" indent="0" algn="l">
              <a:lnSpc>
                <a:spcPts val="3300"/>
              </a:lnSpc>
            </a:pPr>
            <a:r>
              <a:rPr lang="en-US" sz="3000" b="1" u="none" strike="noStrike" dirty="0">
                <a:solidFill>
                  <a:srgbClr val="000000"/>
                </a:solidFill>
                <a:latin typeface="Montaser Arabic Bold"/>
                <a:ea typeface="Montaser Arabic Bold"/>
                <a:cs typeface="Montaser Arabic Bold"/>
                <a:sym typeface="Montaser Arabic Bold"/>
              </a:rPr>
              <a:t>Questionnaire /Survey</a:t>
            </a:r>
          </a:p>
        </p:txBody>
      </p:sp>
      <p:sp>
        <p:nvSpPr>
          <p:cNvPr id="26" name="TextBox 26"/>
          <p:cNvSpPr txBox="1"/>
          <p:nvPr/>
        </p:nvSpPr>
        <p:spPr>
          <a:xfrm>
            <a:off x="10819370" y="6552994"/>
            <a:ext cx="5793259" cy="423193"/>
          </a:xfrm>
          <a:prstGeom prst="rect">
            <a:avLst/>
          </a:prstGeom>
        </p:spPr>
        <p:txBody>
          <a:bodyPr lIns="0" tIns="0" rIns="0" bIns="0" rtlCol="0" anchor="t">
            <a:spAutoFit/>
          </a:bodyPr>
          <a:lstStyle/>
          <a:p>
            <a:pPr marL="0" lvl="0" indent="0" algn="l">
              <a:lnSpc>
                <a:spcPts val="3299"/>
              </a:lnSpc>
            </a:pPr>
            <a:r>
              <a:rPr lang="en-US" sz="2999" b="1" dirty="0">
                <a:solidFill>
                  <a:srgbClr val="000000"/>
                </a:solidFill>
                <a:latin typeface="Inter Bold"/>
                <a:ea typeface="Inter Bold"/>
                <a:cs typeface="Inter Bold"/>
                <a:sym typeface="Inter Bold"/>
              </a:rPr>
              <a:t>Brainstorming</a:t>
            </a:r>
            <a:endParaRPr lang="en-US" sz="2999" b="1" u="none" strike="noStrike" dirty="0">
              <a:solidFill>
                <a:srgbClr val="000000"/>
              </a:solidFill>
              <a:latin typeface="Inter Bold"/>
              <a:ea typeface="Inter Bold"/>
              <a:cs typeface="Inter Bold"/>
              <a:sym typeface="Inter Bold"/>
            </a:endParaRPr>
          </a:p>
        </p:txBody>
      </p:sp>
      <p:sp>
        <p:nvSpPr>
          <p:cNvPr id="27" name="TextBox 27"/>
          <p:cNvSpPr txBox="1"/>
          <p:nvPr/>
        </p:nvSpPr>
        <p:spPr>
          <a:xfrm>
            <a:off x="10819370" y="4963479"/>
            <a:ext cx="5793259" cy="423193"/>
          </a:xfrm>
          <a:prstGeom prst="rect">
            <a:avLst/>
          </a:prstGeom>
        </p:spPr>
        <p:txBody>
          <a:bodyPr lIns="0" tIns="0" rIns="0" bIns="0" rtlCol="0" anchor="t">
            <a:spAutoFit/>
          </a:bodyPr>
          <a:lstStyle/>
          <a:p>
            <a:pPr marL="0" lvl="0" indent="0" algn="l">
              <a:lnSpc>
                <a:spcPts val="3299"/>
              </a:lnSpc>
            </a:pPr>
            <a:r>
              <a:rPr lang="en-US" sz="2999" b="1" dirty="0">
                <a:solidFill>
                  <a:srgbClr val="000000"/>
                </a:solidFill>
                <a:latin typeface="Inter Bold"/>
                <a:ea typeface="Inter Bold"/>
                <a:cs typeface="Inter Bold"/>
                <a:sym typeface="Inter Bold"/>
              </a:rPr>
              <a:t>Interviews</a:t>
            </a:r>
            <a:endParaRPr lang="en-US" sz="2999" b="1" u="none" strike="noStrike" dirty="0">
              <a:solidFill>
                <a:srgbClr val="000000"/>
              </a:solidFill>
              <a:latin typeface="Inter Bold"/>
              <a:ea typeface="Inter Bold"/>
              <a:cs typeface="Inter Bold"/>
              <a:sym typeface="Inter Bold"/>
            </a:endParaRPr>
          </a:p>
        </p:txBody>
      </p:sp>
      <p:sp>
        <p:nvSpPr>
          <p:cNvPr id="28" name="TextBox 28"/>
          <p:cNvSpPr txBox="1"/>
          <p:nvPr/>
        </p:nvSpPr>
        <p:spPr>
          <a:xfrm>
            <a:off x="10819370" y="8142509"/>
            <a:ext cx="5793259" cy="423193"/>
          </a:xfrm>
          <a:prstGeom prst="rect">
            <a:avLst/>
          </a:prstGeom>
        </p:spPr>
        <p:txBody>
          <a:bodyPr lIns="0" tIns="0" rIns="0" bIns="0" rtlCol="0" anchor="t">
            <a:spAutoFit/>
          </a:bodyPr>
          <a:lstStyle/>
          <a:p>
            <a:pPr marL="0" lvl="0" indent="0" algn="l">
              <a:lnSpc>
                <a:spcPts val="3299"/>
              </a:lnSpc>
            </a:pPr>
            <a:r>
              <a:rPr lang="en-US" sz="2999" b="1" u="none" strike="noStrike" dirty="0">
                <a:solidFill>
                  <a:srgbClr val="000000"/>
                </a:solidFill>
                <a:latin typeface="Inter Bold"/>
                <a:ea typeface="Inter Bold"/>
                <a:cs typeface="Inter Bold"/>
                <a:sym typeface="Inter Bold"/>
              </a:rPr>
              <a:t>Review of existing applications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4D4D"/>
        </a:solidFill>
        <a:effectLst/>
      </p:bgPr>
    </p:bg>
    <p:spTree>
      <p:nvGrpSpPr>
        <p:cNvPr id="1" name=""/>
        <p:cNvGrpSpPr/>
        <p:nvPr/>
      </p:nvGrpSpPr>
      <p:grpSpPr>
        <a:xfrm>
          <a:off x="0" y="0"/>
          <a:ext cx="0" cy="0"/>
          <a:chOff x="0" y="0"/>
          <a:chExt cx="0" cy="0"/>
        </a:xfrm>
      </p:grpSpPr>
      <p:grpSp>
        <p:nvGrpSpPr>
          <p:cNvPr id="2" name="Group 2"/>
          <p:cNvGrpSpPr/>
          <p:nvPr/>
        </p:nvGrpSpPr>
        <p:grpSpPr>
          <a:xfrm>
            <a:off x="332570" y="5050746"/>
            <a:ext cx="7377664" cy="3483710"/>
            <a:chOff x="0" y="0"/>
            <a:chExt cx="1943088" cy="917520"/>
          </a:xfrm>
        </p:grpSpPr>
        <p:sp>
          <p:nvSpPr>
            <p:cNvPr id="3" name="Freeform 3"/>
            <p:cNvSpPr/>
            <p:nvPr/>
          </p:nvSpPr>
          <p:spPr>
            <a:xfrm>
              <a:off x="0" y="0"/>
              <a:ext cx="1943088" cy="917520"/>
            </a:xfrm>
            <a:custGeom>
              <a:avLst/>
              <a:gdLst/>
              <a:ahLst/>
              <a:cxnLst/>
              <a:rect l="l" t="t" r="r" b="b"/>
              <a:pathLst>
                <a:path w="1943088" h="917520">
                  <a:moveTo>
                    <a:pt x="20987" y="0"/>
                  </a:moveTo>
                  <a:lnTo>
                    <a:pt x="1922101" y="0"/>
                  </a:lnTo>
                  <a:cubicBezTo>
                    <a:pt x="1933692" y="0"/>
                    <a:pt x="1943088" y="9396"/>
                    <a:pt x="1943088" y="20987"/>
                  </a:cubicBezTo>
                  <a:lnTo>
                    <a:pt x="1943088" y="896533"/>
                  </a:lnTo>
                  <a:cubicBezTo>
                    <a:pt x="1943088" y="908124"/>
                    <a:pt x="1933692" y="917520"/>
                    <a:pt x="1922101" y="917520"/>
                  </a:cubicBezTo>
                  <a:lnTo>
                    <a:pt x="20987" y="917520"/>
                  </a:lnTo>
                  <a:cubicBezTo>
                    <a:pt x="9396" y="917520"/>
                    <a:pt x="0" y="908124"/>
                    <a:pt x="0" y="896533"/>
                  </a:cubicBezTo>
                  <a:lnTo>
                    <a:pt x="0" y="20987"/>
                  </a:lnTo>
                  <a:cubicBezTo>
                    <a:pt x="0" y="9396"/>
                    <a:pt x="9396" y="0"/>
                    <a:pt x="20987" y="0"/>
                  </a:cubicBezTo>
                  <a:close/>
                </a:path>
              </a:pathLst>
            </a:custGeom>
            <a:solidFill>
              <a:srgbClr val="FFFFFF"/>
            </a:solidFill>
          </p:spPr>
        </p:sp>
        <p:sp>
          <p:nvSpPr>
            <p:cNvPr id="4" name="TextBox 4"/>
            <p:cNvSpPr txBox="1"/>
            <p:nvPr/>
          </p:nvSpPr>
          <p:spPr>
            <a:xfrm>
              <a:off x="0" y="0"/>
              <a:ext cx="1943088" cy="917520"/>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8375375" y="1571569"/>
            <a:ext cx="9247485" cy="8050291"/>
            <a:chOff x="0" y="0"/>
            <a:chExt cx="2435552" cy="2120241"/>
          </a:xfrm>
        </p:grpSpPr>
        <p:sp>
          <p:nvSpPr>
            <p:cNvPr id="6" name="Freeform 6"/>
            <p:cNvSpPr/>
            <p:nvPr/>
          </p:nvSpPr>
          <p:spPr>
            <a:xfrm>
              <a:off x="0" y="0"/>
              <a:ext cx="2435552" cy="2120241"/>
            </a:xfrm>
            <a:custGeom>
              <a:avLst/>
              <a:gdLst/>
              <a:ahLst/>
              <a:cxnLst/>
              <a:rect l="l" t="t" r="r" b="b"/>
              <a:pathLst>
                <a:path w="2435552" h="2120241">
                  <a:moveTo>
                    <a:pt x="16744" y="0"/>
                  </a:moveTo>
                  <a:lnTo>
                    <a:pt x="2418808" y="0"/>
                  </a:lnTo>
                  <a:cubicBezTo>
                    <a:pt x="2428055" y="0"/>
                    <a:pt x="2435552" y="7496"/>
                    <a:pt x="2435552" y="16744"/>
                  </a:cubicBezTo>
                  <a:lnTo>
                    <a:pt x="2435552" y="2103497"/>
                  </a:lnTo>
                  <a:cubicBezTo>
                    <a:pt x="2435552" y="2107938"/>
                    <a:pt x="2433787" y="2112197"/>
                    <a:pt x="2430647" y="2115337"/>
                  </a:cubicBezTo>
                  <a:cubicBezTo>
                    <a:pt x="2427507" y="2118477"/>
                    <a:pt x="2423248" y="2120241"/>
                    <a:pt x="2418808" y="2120241"/>
                  </a:cubicBezTo>
                  <a:lnTo>
                    <a:pt x="16744" y="2120241"/>
                  </a:lnTo>
                  <a:cubicBezTo>
                    <a:pt x="7496" y="2120241"/>
                    <a:pt x="0" y="2112745"/>
                    <a:pt x="0" y="2103497"/>
                  </a:cubicBezTo>
                  <a:lnTo>
                    <a:pt x="0" y="16744"/>
                  </a:lnTo>
                  <a:cubicBezTo>
                    <a:pt x="0" y="7496"/>
                    <a:pt x="7496" y="0"/>
                    <a:pt x="16744" y="0"/>
                  </a:cubicBezTo>
                  <a:close/>
                </a:path>
              </a:pathLst>
            </a:custGeom>
            <a:solidFill>
              <a:srgbClr val="000000"/>
            </a:solidFill>
          </p:spPr>
        </p:sp>
        <p:sp>
          <p:nvSpPr>
            <p:cNvPr id="7" name="TextBox 7"/>
            <p:cNvSpPr txBox="1"/>
            <p:nvPr/>
          </p:nvSpPr>
          <p:spPr>
            <a:xfrm>
              <a:off x="0" y="0"/>
              <a:ext cx="2435552" cy="2120241"/>
            </a:xfrm>
            <a:prstGeom prst="rect">
              <a:avLst/>
            </a:prstGeom>
          </p:spPr>
          <p:txBody>
            <a:bodyPr lIns="50800" tIns="50800" rIns="50800" bIns="50800" rtlCol="0" anchor="ctr"/>
            <a:lstStyle/>
            <a:p>
              <a:pPr algn="ctr">
                <a:lnSpc>
                  <a:spcPts val="2520"/>
                </a:lnSpc>
              </a:pPr>
              <a:endParaRPr/>
            </a:p>
          </p:txBody>
        </p:sp>
      </p:grpSp>
      <p:sp>
        <p:nvSpPr>
          <p:cNvPr id="8" name="TextBox 8"/>
          <p:cNvSpPr txBox="1"/>
          <p:nvPr/>
        </p:nvSpPr>
        <p:spPr>
          <a:xfrm>
            <a:off x="604768" y="5753100"/>
            <a:ext cx="6978231" cy="2308324"/>
          </a:xfrm>
          <a:prstGeom prst="rect">
            <a:avLst/>
          </a:prstGeom>
        </p:spPr>
        <p:txBody>
          <a:bodyPr wrap="square" lIns="0" tIns="0" rIns="0" bIns="0" rtlCol="0" anchor="t">
            <a:spAutoFit/>
          </a:bodyPr>
          <a:lstStyle/>
          <a:p>
            <a:pPr marL="0" lvl="0" indent="0" algn="just"/>
            <a:r>
              <a:rPr lang="en-US" sz="2500" b="1" dirty="0">
                <a:solidFill>
                  <a:srgbClr val="EE4D4D"/>
                </a:solidFill>
                <a:latin typeface="Montaser Arabic Bold"/>
                <a:cs typeface="Montaser Arabic Bold"/>
                <a:sym typeface="Inter"/>
              </a:rPr>
              <a:t>A questionnaire was used to gather data from car owners about warning lights, engine sounds, and their interest in the application. It helped identify user challenges, preferences and trust concerns</a:t>
            </a:r>
          </a:p>
        </p:txBody>
      </p:sp>
      <p:sp>
        <p:nvSpPr>
          <p:cNvPr id="9" name="TextBox 9"/>
          <p:cNvSpPr txBox="1"/>
          <p:nvPr/>
        </p:nvSpPr>
        <p:spPr>
          <a:xfrm>
            <a:off x="665140" y="1752544"/>
            <a:ext cx="7710233" cy="2462213"/>
          </a:xfrm>
          <a:prstGeom prst="rect">
            <a:avLst/>
          </a:prstGeom>
        </p:spPr>
        <p:txBody>
          <a:bodyPr wrap="square" lIns="0" tIns="0" rIns="0" bIns="0" rtlCol="0" anchor="t">
            <a:spAutoFit/>
          </a:bodyPr>
          <a:lstStyle/>
          <a:p>
            <a:pPr algn="l"/>
            <a:r>
              <a:rPr lang="en-US" sz="8000" b="1" dirty="0">
                <a:solidFill>
                  <a:srgbClr val="FFFFFF"/>
                </a:solidFill>
                <a:latin typeface="Montaser Arabic Bold"/>
                <a:ea typeface="Montaser Arabic Bold"/>
                <a:cs typeface="Montaser Arabic Bold"/>
                <a:sym typeface="Montaser Arabic Bold"/>
              </a:rPr>
              <a:t>Questionnaire/Survey</a:t>
            </a:r>
          </a:p>
        </p:txBody>
      </p:sp>
      <p:sp>
        <p:nvSpPr>
          <p:cNvPr id="12" name="TextBox 12"/>
          <p:cNvSpPr txBox="1"/>
          <p:nvPr/>
        </p:nvSpPr>
        <p:spPr>
          <a:xfrm>
            <a:off x="9040515" y="2236709"/>
            <a:ext cx="7124829" cy="361950"/>
          </a:xfrm>
          <a:prstGeom prst="rect">
            <a:avLst/>
          </a:prstGeom>
        </p:spPr>
        <p:txBody>
          <a:bodyPr lIns="0" tIns="0" rIns="0" bIns="0" rtlCol="0" anchor="t">
            <a:spAutoFit/>
          </a:bodyPr>
          <a:lstStyle/>
          <a:p>
            <a:pPr algn="l">
              <a:lnSpc>
                <a:spcPts val="2879"/>
              </a:lnSpc>
            </a:pPr>
            <a:r>
              <a:rPr lang="en-US" sz="2400" dirty="0">
                <a:solidFill>
                  <a:srgbClr val="FFFFFF"/>
                </a:solidFill>
                <a:latin typeface="Inter"/>
                <a:ea typeface="Inter"/>
                <a:cs typeface="Inter"/>
                <a:sym typeface="Inter"/>
              </a:rPr>
              <a:t>The Questionnaire covered:</a:t>
            </a:r>
          </a:p>
        </p:txBody>
      </p:sp>
      <p:sp>
        <p:nvSpPr>
          <p:cNvPr id="16" name="TextBox 15">
            <a:extLst>
              <a:ext uri="{FF2B5EF4-FFF2-40B4-BE49-F238E27FC236}">
                <a16:creationId xmlns:a16="http://schemas.microsoft.com/office/drawing/2014/main" id="{442207AF-3DBF-6211-3284-3984E538F5D7}"/>
              </a:ext>
            </a:extLst>
          </p:cNvPr>
          <p:cNvSpPr txBox="1"/>
          <p:nvPr/>
        </p:nvSpPr>
        <p:spPr>
          <a:xfrm>
            <a:off x="8870432" y="2895563"/>
            <a:ext cx="8257370" cy="5842497"/>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800" dirty="0">
                <a:solidFill>
                  <a:schemeClr val="bg2"/>
                </a:solidFill>
              </a:rPr>
              <a:t>Driving experience and vehicle use</a:t>
            </a:r>
          </a:p>
          <a:p>
            <a:pPr marL="457200" indent="-457200">
              <a:lnSpc>
                <a:spcPct val="150000"/>
              </a:lnSpc>
              <a:buFont typeface="Wingdings" panose="05000000000000000000" pitchFamily="2" charset="2"/>
              <a:buChar char="Ø"/>
            </a:pPr>
            <a:r>
              <a:rPr lang="en-US" sz="2800" dirty="0">
                <a:solidFill>
                  <a:schemeClr val="bg2"/>
                </a:solidFill>
              </a:rPr>
              <a:t>Understanding of dashboard warning lights</a:t>
            </a:r>
          </a:p>
          <a:p>
            <a:pPr marL="457200" indent="-457200">
              <a:lnSpc>
                <a:spcPct val="150000"/>
              </a:lnSpc>
              <a:buFont typeface="Wingdings" panose="05000000000000000000" pitchFamily="2" charset="2"/>
              <a:buChar char="Ø"/>
            </a:pPr>
            <a:r>
              <a:rPr lang="en-US" sz="2800" dirty="0">
                <a:solidFill>
                  <a:schemeClr val="bg2"/>
                </a:solidFill>
              </a:rPr>
              <a:t>Experience with abnormal engine sounds</a:t>
            </a:r>
          </a:p>
          <a:p>
            <a:pPr marL="457200" indent="-457200">
              <a:lnSpc>
                <a:spcPct val="150000"/>
              </a:lnSpc>
              <a:buFont typeface="Wingdings" panose="05000000000000000000" pitchFamily="2" charset="2"/>
              <a:buChar char="Ø"/>
            </a:pPr>
            <a:r>
              <a:rPr lang="en-US" sz="2800" dirty="0">
                <a:solidFill>
                  <a:schemeClr val="bg2"/>
                </a:solidFill>
              </a:rPr>
              <a:t> Common actions taken when a vehicle fault occurs</a:t>
            </a:r>
          </a:p>
          <a:p>
            <a:pPr marL="457200" indent="-457200">
              <a:lnSpc>
                <a:spcPct val="150000"/>
              </a:lnSpc>
              <a:buFont typeface="Wingdings" panose="05000000000000000000" pitchFamily="2" charset="2"/>
              <a:buChar char="Ø"/>
            </a:pPr>
            <a:r>
              <a:rPr lang="en-US" sz="2800" dirty="0">
                <a:solidFill>
                  <a:schemeClr val="bg2"/>
                </a:solidFill>
              </a:rPr>
              <a:t>Interest in using a mobile car fault diagnosis application</a:t>
            </a:r>
          </a:p>
          <a:p>
            <a:pPr marL="457200" indent="-457200">
              <a:lnSpc>
                <a:spcPct val="150000"/>
              </a:lnSpc>
              <a:buFont typeface="Wingdings" panose="05000000000000000000" pitchFamily="2" charset="2"/>
              <a:buChar char="Ø"/>
            </a:pPr>
            <a:r>
              <a:rPr lang="en-US" sz="2800" dirty="0">
                <a:solidFill>
                  <a:schemeClr val="bg2"/>
                </a:solidFill>
              </a:rPr>
              <a:t>Preferred app features* Willingness to use camera and microphone-based diagnosis</a:t>
            </a:r>
          </a:p>
          <a:p>
            <a:pPr marL="457200" indent="-457200">
              <a:lnSpc>
                <a:spcPct val="150000"/>
              </a:lnSpc>
              <a:buFont typeface="Wingdings" panose="05000000000000000000" pitchFamily="2" charset="2"/>
              <a:buChar char="Ø"/>
            </a:pPr>
            <a:r>
              <a:rPr lang="en-US" sz="2800" dirty="0">
                <a:solidFill>
                  <a:schemeClr val="bg2"/>
                </a:solidFill>
              </a:rPr>
              <a:t>Trust and reluctance toward app-based diagnosis.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5E683A5-A2C7-9C05-93E6-4B80EAC3B1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318424-3192-F91A-851D-5D81EAFAD0A0}"/>
              </a:ext>
            </a:extLst>
          </p:cNvPr>
          <p:cNvGrpSpPr/>
          <p:nvPr/>
        </p:nvGrpSpPr>
        <p:grpSpPr>
          <a:xfrm>
            <a:off x="471285" y="450009"/>
            <a:ext cx="17177593" cy="8956719"/>
            <a:chOff x="0" y="0"/>
            <a:chExt cx="2661259" cy="1387630"/>
          </a:xfrm>
        </p:grpSpPr>
        <p:sp>
          <p:nvSpPr>
            <p:cNvPr id="3" name="Freeform 3">
              <a:extLst>
                <a:ext uri="{FF2B5EF4-FFF2-40B4-BE49-F238E27FC236}">
                  <a16:creationId xmlns:a16="http://schemas.microsoft.com/office/drawing/2014/main" id="{7157624B-207A-79E3-80BC-349AC5D2FB3E}"/>
                </a:ext>
              </a:extLst>
            </p:cNvPr>
            <p:cNvSpPr/>
            <p:nvPr/>
          </p:nvSpPr>
          <p:spPr>
            <a:xfrm>
              <a:off x="0" y="0"/>
              <a:ext cx="2661259" cy="1387630"/>
            </a:xfrm>
            <a:custGeom>
              <a:avLst/>
              <a:gdLst/>
              <a:ahLst/>
              <a:cxnLst/>
              <a:rect l="l" t="t" r="r" b="b"/>
              <a:pathLst>
                <a:path w="2661259" h="1387630">
                  <a:moveTo>
                    <a:pt x="9014" y="0"/>
                  </a:moveTo>
                  <a:lnTo>
                    <a:pt x="2652245" y="0"/>
                  </a:lnTo>
                  <a:cubicBezTo>
                    <a:pt x="2654635" y="0"/>
                    <a:pt x="2656928" y="950"/>
                    <a:pt x="2658619" y="2640"/>
                  </a:cubicBezTo>
                  <a:cubicBezTo>
                    <a:pt x="2660309" y="4331"/>
                    <a:pt x="2661259" y="6623"/>
                    <a:pt x="2661259" y="9014"/>
                  </a:cubicBezTo>
                  <a:lnTo>
                    <a:pt x="2661259" y="1378616"/>
                  </a:lnTo>
                  <a:cubicBezTo>
                    <a:pt x="2661259" y="1381007"/>
                    <a:pt x="2660309" y="1383300"/>
                    <a:pt x="2658619" y="1384990"/>
                  </a:cubicBezTo>
                  <a:cubicBezTo>
                    <a:pt x="2656928" y="1386680"/>
                    <a:pt x="2654635" y="1387630"/>
                    <a:pt x="2652245" y="1387630"/>
                  </a:cubicBezTo>
                  <a:lnTo>
                    <a:pt x="9014" y="1387630"/>
                  </a:lnTo>
                  <a:cubicBezTo>
                    <a:pt x="6623" y="1387630"/>
                    <a:pt x="4331" y="1386680"/>
                    <a:pt x="2640" y="1384990"/>
                  </a:cubicBezTo>
                  <a:cubicBezTo>
                    <a:pt x="950" y="1383300"/>
                    <a:pt x="0" y="1381007"/>
                    <a:pt x="0" y="1378616"/>
                  </a:cubicBezTo>
                  <a:lnTo>
                    <a:pt x="0" y="9014"/>
                  </a:lnTo>
                  <a:cubicBezTo>
                    <a:pt x="0" y="6623"/>
                    <a:pt x="950" y="4331"/>
                    <a:pt x="2640" y="2640"/>
                  </a:cubicBezTo>
                  <a:cubicBezTo>
                    <a:pt x="4331" y="950"/>
                    <a:pt x="6623" y="0"/>
                    <a:pt x="9014" y="0"/>
                  </a:cubicBezTo>
                  <a:close/>
                </a:path>
              </a:pathLst>
            </a:custGeom>
            <a:blipFill>
              <a:blip r:embed="rId2"/>
              <a:stretch>
                <a:fillRect l="-32139" t="-33689" r="-2766" b="-39012"/>
              </a:stretch>
            </a:blipFill>
          </p:spPr>
        </p:sp>
      </p:grpSp>
      <p:sp>
        <p:nvSpPr>
          <p:cNvPr id="4" name="TextBox 4">
            <a:extLst>
              <a:ext uri="{FF2B5EF4-FFF2-40B4-BE49-F238E27FC236}">
                <a16:creationId xmlns:a16="http://schemas.microsoft.com/office/drawing/2014/main" id="{769CAB41-D662-E3D8-8471-7BFF51F211DB}"/>
              </a:ext>
            </a:extLst>
          </p:cNvPr>
          <p:cNvSpPr txBox="1"/>
          <p:nvPr/>
        </p:nvSpPr>
        <p:spPr>
          <a:xfrm>
            <a:off x="1981200" y="450009"/>
            <a:ext cx="20861936" cy="1573764"/>
          </a:xfrm>
          <a:prstGeom prst="rect">
            <a:avLst/>
          </a:prstGeom>
        </p:spPr>
        <p:txBody>
          <a:bodyPr wrap="square" lIns="0" tIns="0" rIns="0" bIns="0" rtlCol="0" anchor="t">
            <a:spAutoFit/>
          </a:bodyPr>
          <a:lstStyle/>
          <a:p>
            <a:pPr algn="l">
              <a:lnSpc>
                <a:spcPts val="13200"/>
              </a:lnSpc>
            </a:pPr>
            <a:r>
              <a:rPr lang="en-US" sz="9600" b="1" dirty="0">
                <a:solidFill>
                  <a:srgbClr val="FFFFFF"/>
                </a:solidFill>
                <a:latin typeface="Montaser Arabic Bold"/>
                <a:ea typeface="Montaser Arabic Bold"/>
                <a:cs typeface="Montaser Arabic Bold"/>
                <a:sym typeface="Montaser Arabic Bold"/>
              </a:rPr>
              <a:t>Questionnaire/Survey</a:t>
            </a:r>
          </a:p>
        </p:txBody>
      </p:sp>
      <p:pic>
        <p:nvPicPr>
          <p:cNvPr id="10" name="Picture 9">
            <a:extLst>
              <a:ext uri="{FF2B5EF4-FFF2-40B4-BE49-F238E27FC236}">
                <a16:creationId xmlns:a16="http://schemas.microsoft.com/office/drawing/2014/main" id="{542582D6-87C3-E7F8-AEC4-E80243E77449}"/>
              </a:ext>
            </a:extLst>
          </p:cNvPr>
          <p:cNvPicPr>
            <a:picLocks noChangeAspect="1"/>
          </p:cNvPicPr>
          <p:nvPr/>
        </p:nvPicPr>
        <p:blipFill>
          <a:blip r:embed="rId3"/>
          <a:srcRect l="17720" r="19955"/>
          <a:stretch/>
        </p:blipFill>
        <p:spPr>
          <a:xfrm>
            <a:off x="954774" y="2082427"/>
            <a:ext cx="8105307" cy="7324301"/>
          </a:xfrm>
          <a:prstGeom prst="rect">
            <a:avLst/>
          </a:prstGeom>
        </p:spPr>
      </p:pic>
      <p:pic>
        <p:nvPicPr>
          <p:cNvPr id="12" name="Picture 11">
            <a:extLst>
              <a:ext uri="{FF2B5EF4-FFF2-40B4-BE49-F238E27FC236}">
                <a16:creationId xmlns:a16="http://schemas.microsoft.com/office/drawing/2014/main" id="{4A19101D-DB73-EA7B-A23E-484315AC66FE}"/>
              </a:ext>
            </a:extLst>
          </p:cNvPr>
          <p:cNvPicPr>
            <a:picLocks noChangeAspect="1"/>
          </p:cNvPicPr>
          <p:nvPr/>
        </p:nvPicPr>
        <p:blipFill>
          <a:blip r:embed="rId4"/>
          <a:srcRect l="14485" r="4643"/>
          <a:stretch/>
        </p:blipFill>
        <p:spPr>
          <a:xfrm>
            <a:off x="9227921" y="3009900"/>
            <a:ext cx="8420957" cy="4029510"/>
          </a:xfrm>
          <a:prstGeom prst="rect">
            <a:avLst/>
          </a:prstGeom>
        </p:spPr>
      </p:pic>
    </p:spTree>
    <p:extLst>
      <p:ext uri="{BB962C8B-B14F-4D97-AF65-F5344CB8AC3E}">
        <p14:creationId xmlns:p14="http://schemas.microsoft.com/office/powerpoint/2010/main" val="3430873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6FE2F30-C994-D327-F93A-54CDBC46CDD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0C20CF-6490-B95F-56ED-85CE12EC74C0}"/>
              </a:ext>
            </a:extLst>
          </p:cNvPr>
          <p:cNvGrpSpPr/>
          <p:nvPr/>
        </p:nvGrpSpPr>
        <p:grpSpPr>
          <a:xfrm>
            <a:off x="665141" y="665141"/>
            <a:ext cx="17177593" cy="8956719"/>
            <a:chOff x="0" y="0"/>
            <a:chExt cx="2661259" cy="1387630"/>
          </a:xfrm>
        </p:grpSpPr>
        <p:sp>
          <p:nvSpPr>
            <p:cNvPr id="3" name="Freeform 3">
              <a:extLst>
                <a:ext uri="{FF2B5EF4-FFF2-40B4-BE49-F238E27FC236}">
                  <a16:creationId xmlns:a16="http://schemas.microsoft.com/office/drawing/2014/main" id="{BC4FDC19-53EC-4263-DE54-557D2EACFC5A}"/>
                </a:ext>
              </a:extLst>
            </p:cNvPr>
            <p:cNvSpPr/>
            <p:nvPr/>
          </p:nvSpPr>
          <p:spPr>
            <a:xfrm>
              <a:off x="0" y="0"/>
              <a:ext cx="2661259" cy="1387630"/>
            </a:xfrm>
            <a:custGeom>
              <a:avLst/>
              <a:gdLst/>
              <a:ahLst/>
              <a:cxnLst/>
              <a:rect l="l" t="t" r="r" b="b"/>
              <a:pathLst>
                <a:path w="2661259" h="1387630">
                  <a:moveTo>
                    <a:pt x="9014" y="0"/>
                  </a:moveTo>
                  <a:lnTo>
                    <a:pt x="2652245" y="0"/>
                  </a:lnTo>
                  <a:cubicBezTo>
                    <a:pt x="2654635" y="0"/>
                    <a:pt x="2656928" y="950"/>
                    <a:pt x="2658619" y="2640"/>
                  </a:cubicBezTo>
                  <a:cubicBezTo>
                    <a:pt x="2660309" y="4331"/>
                    <a:pt x="2661259" y="6623"/>
                    <a:pt x="2661259" y="9014"/>
                  </a:cubicBezTo>
                  <a:lnTo>
                    <a:pt x="2661259" y="1378616"/>
                  </a:lnTo>
                  <a:cubicBezTo>
                    <a:pt x="2661259" y="1381007"/>
                    <a:pt x="2660309" y="1383300"/>
                    <a:pt x="2658619" y="1384990"/>
                  </a:cubicBezTo>
                  <a:cubicBezTo>
                    <a:pt x="2656928" y="1386680"/>
                    <a:pt x="2654635" y="1387630"/>
                    <a:pt x="2652245" y="1387630"/>
                  </a:cubicBezTo>
                  <a:lnTo>
                    <a:pt x="9014" y="1387630"/>
                  </a:lnTo>
                  <a:cubicBezTo>
                    <a:pt x="6623" y="1387630"/>
                    <a:pt x="4331" y="1386680"/>
                    <a:pt x="2640" y="1384990"/>
                  </a:cubicBezTo>
                  <a:cubicBezTo>
                    <a:pt x="950" y="1383300"/>
                    <a:pt x="0" y="1381007"/>
                    <a:pt x="0" y="1378616"/>
                  </a:cubicBezTo>
                  <a:lnTo>
                    <a:pt x="0" y="9014"/>
                  </a:lnTo>
                  <a:cubicBezTo>
                    <a:pt x="0" y="6623"/>
                    <a:pt x="950" y="4331"/>
                    <a:pt x="2640" y="2640"/>
                  </a:cubicBezTo>
                  <a:cubicBezTo>
                    <a:pt x="4331" y="950"/>
                    <a:pt x="6623" y="0"/>
                    <a:pt x="9014" y="0"/>
                  </a:cubicBezTo>
                  <a:close/>
                </a:path>
              </a:pathLst>
            </a:custGeom>
            <a:blipFill>
              <a:blip r:embed="rId2"/>
              <a:stretch>
                <a:fillRect l="-32139" t="-33689" r="-2766" b="-39012"/>
              </a:stretch>
            </a:blipFill>
          </p:spPr>
        </p:sp>
      </p:grpSp>
      <p:pic>
        <p:nvPicPr>
          <p:cNvPr id="7" name="Picture 6">
            <a:extLst>
              <a:ext uri="{FF2B5EF4-FFF2-40B4-BE49-F238E27FC236}">
                <a16:creationId xmlns:a16="http://schemas.microsoft.com/office/drawing/2014/main" id="{E99450EA-6F7E-2AAA-DC7E-0B49FAAAC289}"/>
              </a:ext>
            </a:extLst>
          </p:cNvPr>
          <p:cNvPicPr>
            <a:picLocks noChangeAspect="1"/>
          </p:cNvPicPr>
          <p:nvPr/>
        </p:nvPicPr>
        <p:blipFill>
          <a:blip r:embed="rId3"/>
          <a:stretch>
            <a:fillRect/>
          </a:stretch>
        </p:blipFill>
        <p:spPr>
          <a:xfrm>
            <a:off x="1024442" y="393426"/>
            <a:ext cx="7770840" cy="4724984"/>
          </a:xfrm>
          <a:prstGeom prst="rect">
            <a:avLst/>
          </a:prstGeom>
        </p:spPr>
      </p:pic>
      <p:pic>
        <p:nvPicPr>
          <p:cNvPr id="9" name="Picture 8">
            <a:extLst>
              <a:ext uri="{FF2B5EF4-FFF2-40B4-BE49-F238E27FC236}">
                <a16:creationId xmlns:a16="http://schemas.microsoft.com/office/drawing/2014/main" id="{270B25A0-2B1A-9A58-026A-38E3FB141B18}"/>
              </a:ext>
            </a:extLst>
          </p:cNvPr>
          <p:cNvPicPr>
            <a:picLocks noChangeAspect="1"/>
          </p:cNvPicPr>
          <p:nvPr/>
        </p:nvPicPr>
        <p:blipFill>
          <a:blip r:embed="rId4"/>
          <a:stretch>
            <a:fillRect/>
          </a:stretch>
        </p:blipFill>
        <p:spPr>
          <a:xfrm>
            <a:off x="9154582" y="198817"/>
            <a:ext cx="8086479" cy="4944683"/>
          </a:xfrm>
          <a:prstGeom prst="rect">
            <a:avLst/>
          </a:prstGeom>
        </p:spPr>
      </p:pic>
      <p:pic>
        <p:nvPicPr>
          <p:cNvPr id="11" name="Picture 10">
            <a:extLst>
              <a:ext uri="{FF2B5EF4-FFF2-40B4-BE49-F238E27FC236}">
                <a16:creationId xmlns:a16="http://schemas.microsoft.com/office/drawing/2014/main" id="{D92E4F2B-6475-C599-9797-417C6E9921A2}"/>
              </a:ext>
            </a:extLst>
          </p:cNvPr>
          <p:cNvPicPr>
            <a:picLocks noChangeAspect="1"/>
          </p:cNvPicPr>
          <p:nvPr/>
        </p:nvPicPr>
        <p:blipFill>
          <a:blip r:embed="rId5"/>
          <a:stretch>
            <a:fillRect/>
          </a:stretch>
        </p:blipFill>
        <p:spPr>
          <a:xfrm>
            <a:off x="1024442" y="5502232"/>
            <a:ext cx="9114214" cy="4119625"/>
          </a:xfrm>
          <a:prstGeom prst="rect">
            <a:avLst/>
          </a:prstGeom>
        </p:spPr>
      </p:pic>
      <p:pic>
        <p:nvPicPr>
          <p:cNvPr id="13" name="Picture 12">
            <a:extLst>
              <a:ext uri="{FF2B5EF4-FFF2-40B4-BE49-F238E27FC236}">
                <a16:creationId xmlns:a16="http://schemas.microsoft.com/office/drawing/2014/main" id="{A077ACFD-35E8-71BA-965C-B5172258EDE0}"/>
              </a:ext>
            </a:extLst>
          </p:cNvPr>
          <p:cNvPicPr>
            <a:picLocks noChangeAspect="1"/>
          </p:cNvPicPr>
          <p:nvPr/>
        </p:nvPicPr>
        <p:blipFill>
          <a:blip r:embed="rId6"/>
          <a:stretch>
            <a:fillRect/>
          </a:stretch>
        </p:blipFill>
        <p:spPr>
          <a:xfrm>
            <a:off x="10563188" y="5569580"/>
            <a:ext cx="7059671" cy="3841119"/>
          </a:xfrm>
          <a:prstGeom prst="rect">
            <a:avLst/>
          </a:prstGeom>
        </p:spPr>
      </p:pic>
    </p:spTree>
    <p:extLst>
      <p:ext uri="{BB962C8B-B14F-4D97-AF65-F5344CB8AC3E}">
        <p14:creationId xmlns:p14="http://schemas.microsoft.com/office/powerpoint/2010/main" val="1260240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4D4D"/>
        </a:solidFill>
        <a:effectLst/>
      </p:bgPr>
    </p:bg>
    <p:spTree>
      <p:nvGrpSpPr>
        <p:cNvPr id="1" name="">
          <a:extLst>
            <a:ext uri="{FF2B5EF4-FFF2-40B4-BE49-F238E27FC236}">
              <a16:creationId xmlns:a16="http://schemas.microsoft.com/office/drawing/2014/main" id="{D4D193A5-45AB-ED05-968A-A18CE577C9A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CA7FC6-CD44-5115-8457-33F1A94EDB88}"/>
              </a:ext>
            </a:extLst>
          </p:cNvPr>
          <p:cNvGrpSpPr/>
          <p:nvPr/>
        </p:nvGrpSpPr>
        <p:grpSpPr>
          <a:xfrm>
            <a:off x="332570" y="5050746"/>
            <a:ext cx="7377664" cy="3483710"/>
            <a:chOff x="0" y="0"/>
            <a:chExt cx="1943088" cy="917520"/>
          </a:xfrm>
        </p:grpSpPr>
        <p:sp>
          <p:nvSpPr>
            <p:cNvPr id="3" name="Freeform 3">
              <a:extLst>
                <a:ext uri="{FF2B5EF4-FFF2-40B4-BE49-F238E27FC236}">
                  <a16:creationId xmlns:a16="http://schemas.microsoft.com/office/drawing/2014/main" id="{80ADDC92-5903-BC4B-3334-3344B728274A}"/>
                </a:ext>
              </a:extLst>
            </p:cNvPr>
            <p:cNvSpPr/>
            <p:nvPr/>
          </p:nvSpPr>
          <p:spPr>
            <a:xfrm>
              <a:off x="0" y="0"/>
              <a:ext cx="1943088" cy="917520"/>
            </a:xfrm>
            <a:custGeom>
              <a:avLst/>
              <a:gdLst/>
              <a:ahLst/>
              <a:cxnLst/>
              <a:rect l="l" t="t" r="r" b="b"/>
              <a:pathLst>
                <a:path w="1943088" h="917520">
                  <a:moveTo>
                    <a:pt x="20987" y="0"/>
                  </a:moveTo>
                  <a:lnTo>
                    <a:pt x="1922101" y="0"/>
                  </a:lnTo>
                  <a:cubicBezTo>
                    <a:pt x="1933692" y="0"/>
                    <a:pt x="1943088" y="9396"/>
                    <a:pt x="1943088" y="20987"/>
                  </a:cubicBezTo>
                  <a:lnTo>
                    <a:pt x="1943088" y="896533"/>
                  </a:lnTo>
                  <a:cubicBezTo>
                    <a:pt x="1943088" y="908124"/>
                    <a:pt x="1933692" y="917520"/>
                    <a:pt x="1922101" y="917520"/>
                  </a:cubicBezTo>
                  <a:lnTo>
                    <a:pt x="20987" y="917520"/>
                  </a:lnTo>
                  <a:cubicBezTo>
                    <a:pt x="9396" y="917520"/>
                    <a:pt x="0" y="908124"/>
                    <a:pt x="0" y="896533"/>
                  </a:cubicBezTo>
                  <a:lnTo>
                    <a:pt x="0" y="20987"/>
                  </a:lnTo>
                  <a:cubicBezTo>
                    <a:pt x="0" y="9396"/>
                    <a:pt x="9396" y="0"/>
                    <a:pt x="20987" y="0"/>
                  </a:cubicBezTo>
                  <a:close/>
                </a:path>
              </a:pathLst>
            </a:custGeom>
            <a:solidFill>
              <a:srgbClr val="FFFFFF"/>
            </a:solidFill>
          </p:spPr>
        </p:sp>
        <p:sp>
          <p:nvSpPr>
            <p:cNvPr id="4" name="TextBox 4">
              <a:extLst>
                <a:ext uri="{FF2B5EF4-FFF2-40B4-BE49-F238E27FC236}">
                  <a16:creationId xmlns:a16="http://schemas.microsoft.com/office/drawing/2014/main" id="{C386297C-7103-D881-B558-147D6EA6D294}"/>
                </a:ext>
              </a:extLst>
            </p:cNvPr>
            <p:cNvSpPr txBox="1"/>
            <p:nvPr/>
          </p:nvSpPr>
          <p:spPr>
            <a:xfrm>
              <a:off x="0" y="0"/>
              <a:ext cx="1943088" cy="917520"/>
            </a:xfrm>
            <a:prstGeom prst="rect">
              <a:avLst/>
            </a:prstGeom>
          </p:spPr>
          <p:txBody>
            <a:bodyPr lIns="50800" tIns="50800" rIns="50800" bIns="50800" rtlCol="0" anchor="ctr"/>
            <a:lstStyle/>
            <a:p>
              <a:pPr algn="ctr">
                <a:lnSpc>
                  <a:spcPts val="2520"/>
                </a:lnSpc>
              </a:pPr>
              <a:endParaRPr/>
            </a:p>
          </p:txBody>
        </p:sp>
      </p:grpSp>
      <p:grpSp>
        <p:nvGrpSpPr>
          <p:cNvPr id="5" name="Group 5">
            <a:extLst>
              <a:ext uri="{FF2B5EF4-FFF2-40B4-BE49-F238E27FC236}">
                <a16:creationId xmlns:a16="http://schemas.microsoft.com/office/drawing/2014/main" id="{8488EB3F-31D2-3B93-33C8-D38CD0572E30}"/>
              </a:ext>
            </a:extLst>
          </p:cNvPr>
          <p:cNvGrpSpPr/>
          <p:nvPr/>
        </p:nvGrpSpPr>
        <p:grpSpPr>
          <a:xfrm>
            <a:off x="8375375" y="1571569"/>
            <a:ext cx="9247485" cy="8050291"/>
            <a:chOff x="0" y="0"/>
            <a:chExt cx="2435552" cy="2120241"/>
          </a:xfrm>
        </p:grpSpPr>
        <p:sp>
          <p:nvSpPr>
            <p:cNvPr id="6" name="Freeform 6">
              <a:extLst>
                <a:ext uri="{FF2B5EF4-FFF2-40B4-BE49-F238E27FC236}">
                  <a16:creationId xmlns:a16="http://schemas.microsoft.com/office/drawing/2014/main" id="{6CA6A61E-076E-DF78-ED8C-67898FFC7605}"/>
                </a:ext>
              </a:extLst>
            </p:cNvPr>
            <p:cNvSpPr/>
            <p:nvPr/>
          </p:nvSpPr>
          <p:spPr>
            <a:xfrm>
              <a:off x="0" y="0"/>
              <a:ext cx="2435552" cy="2120241"/>
            </a:xfrm>
            <a:custGeom>
              <a:avLst/>
              <a:gdLst/>
              <a:ahLst/>
              <a:cxnLst/>
              <a:rect l="l" t="t" r="r" b="b"/>
              <a:pathLst>
                <a:path w="2435552" h="2120241">
                  <a:moveTo>
                    <a:pt x="16744" y="0"/>
                  </a:moveTo>
                  <a:lnTo>
                    <a:pt x="2418808" y="0"/>
                  </a:lnTo>
                  <a:cubicBezTo>
                    <a:pt x="2428055" y="0"/>
                    <a:pt x="2435552" y="7496"/>
                    <a:pt x="2435552" y="16744"/>
                  </a:cubicBezTo>
                  <a:lnTo>
                    <a:pt x="2435552" y="2103497"/>
                  </a:lnTo>
                  <a:cubicBezTo>
                    <a:pt x="2435552" y="2107938"/>
                    <a:pt x="2433787" y="2112197"/>
                    <a:pt x="2430647" y="2115337"/>
                  </a:cubicBezTo>
                  <a:cubicBezTo>
                    <a:pt x="2427507" y="2118477"/>
                    <a:pt x="2423248" y="2120241"/>
                    <a:pt x="2418808" y="2120241"/>
                  </a:cubicBezTo>
                  <a:lnTo>
                    <a:pt x="16744" y="2120241"/>
                  </a:lnTo>
                  <a:cubicBezTo>
                    <a:pt x="7496" y="2120241"/>
                    <a:pt x="0" y="2112745"/>
                    <a:pt x="0" y="2103497"/>
                  </a:cubicBezTo>
                  <a:lnTo>
                    <a:pt x="0" y="16744"/>
                  </a:lnTo>
                  <a:cubicBezTo>
                    <a:pt x="0" y="7496"/>
                    <a:pt x="7496" y="0"/>
                    <a:pt x="16744" y="0"/>
                  </a:cubicBezTo>
                  <a:close/>
                </a:path>
              </a:pathLst>
            </a:custGeom>
            <a:solidFill>
              <a:srgbClr val="000000"/>
            </a:solidFill>
          </p:spPr>
        </p:sp>
        <p:sp>
          <p:nvSpPr>
            <p:cNvPr id="7" name="TextBox 7">
              <a:extLst>
                <a:ext uri="{FF2B5EF4-FFF2-40B4-BE49-F238E27FC236}">
                  <a16:creationId xmlns:a16="http://schemas.microsoft.com/office/drawing/2014/main" id="{9F14EC2F-4E3E-590E-3F87-6D5FCF927E34}"/>
                </a:ext>
              </a:extLst>
            </p:cNvPr>
            <p:cNvSpPr txBox="1"/>
            <p:nvPr/>
          </p:nvSpPr>
          <p:spPr>
            <a:xfrm>
              <a:off x="0" y="0"/>
              <a:ext cx="2435552" cy="2120241"/>
            </a:xfrm>
            <a:prstGeom prst="rect">
              <a:avLst/>
            </a:prstGeom>
          </p:spPr>
          <p:txBody>
            <a:bodyPr lIns="50800" tIns="50800" rIns="50800" bIns="50800" rtlCol="0" anchor="ctr"/>
            <a:lstStyle/>
            <a:p>
              <a:pPr algn="ctr">
                <a:lnSpc>
                  <a:spcPts val="2520"/>
                </a:lnSpc>
              </a:pPr>
              <a:endParaRPr/>
            </a:p>
          </p:txBody>
        </p:sp>
      </p:grpSp>
      <p:sp>
        <p:nvSpPr>
          <p:cNvPr id="8" name="TextBox 8">
            <a:extLst>
              <a:ext uri="{FF2B5EF4-FFF2-40B4-BE49-F238E27FC236}">
                <a16:creationId xmlns:a16="http://schemas.microsoft.com/office/drawing/2014/main" id="{1EEF5C21-5ACD-92A1-CE57-DC9136D4C78E}"/>
              </a:ext>
            </a:extLst>
          </p:cNvPr>
          <p:cNvSpPr txBox="1"/>
          <p:nvPr/>
        </p:nvSpPr>
        <p:spPr>
          <a:xfrm>
            <a:off x="604768" y="5753100"/>
            <a:ext cx="6978231" cy="2308324"/>
          </a:xfrm>
          <a:prstGeom prst="rect">
            <a:avLst/>
          </a:prstGeom>
        </p:spPr>
        <p:txBody>
          <a:bodyPr wrap="square" lIns="0" tIns="0" rIns="0" bIns="0" rtlCol="0" anchor="t">
            <a:spAutoFit/>
          </a:bodyPr>
          <a:lstStyle/>
          <a:p>
            <a:pPr marL="0" lvl="0" indent="0" algn="just"/>
            <a:r>
              <a:rPr lang="en-US" sz="2500" b="1" dirty="0">
                <a:solidFill>
                  <a:srgbClr val="EE4D4D"/>
                </a:solidFill>
                <a:latin typeface="Montaser Arabic Bold"/>
                <a:cs typeface="Montaser Arabic Bold"/>
                <a:sym typeface="Inter"/>
              </a:rPr>
              <a:t>Interviews were conducted with technicians, auto electricians, and vehicle technicians </a:t>
            </a:r>
            <a:r>
              <a:rPr lang="en-US" sz="2500" b="1" dirty="0" err="1">
                <a:solidFill>
                  <a:srgbClr val="EE4D4D"/>
                </a:solidFill>
                <a:latin typeface="Montaser Arabic Bold"/>
                <a:cs typeface="Montaser Arabic Bold"/>
                <a:sym typeface="Inter"/>
              </a:rPr>
              <a:t>tp</a:t>
            </a:r>
            <a:r>
              <a:rPr lang="en-US" sz="2500" b="1" dirty="0">
                <a:solidFill>
                  <a:srgbClr val="EE4D4D"/>
                </a:solidFill>
                <a:latin typeface="Montaser Arabic Bold"/>
                <a:cs typeface="Montaser Arabic Bold"/>
                <a:sym typeface="Inter"/>
              </a:rPr>
              <a:t> gather expert knowledge on cars faults. This helped ensure the system provides </a:t>
            </a:r>
            <a:r>
              <a:rPr lang="en-US" sz="2500" b="1" dirty="0" err="1">
                <a:solidFill>
                  <a:srgbClr val="EE4D4D"/>
                </a:solidFill>
                <a:latin typeface="Montaser Arabic Bold"/>
                <a:cs typeface="Montaser Arabic Bold"/>
                <a:sym typeface="Inter"/>
              </a:rPr>
              <a:t>safe,accurate</a:t>
            </a:r>
            <a:r>
              <a:rPr lang="en-US" sz="2500" b="1" dirty="0">
                <a:solidFill>
                  <a:srgbClr val="EE4D4D"/>
                </a:solidFill>
                <a:latin typeface="Montaser Arabic Bold"/>
                <a:cs typeface="Montaser Arabic Bold"/>
                <a:sym typeface="Inter"/>
              </a:rPr>
              <a:t>, and realistic diagnostic suggestions</a:t>
            </a:r>
          </a:p>
        </p:txBody>
      </p:sp>
      <p:sp>
        <p:nvSpPr>
          <p:cNvPr id="9" name="TextBox 9">
            <a:extLst>
              <a:ext uri="{FF2B5EF4-FFF2-40B4-BE49-F238E27FC236}">
                <a16:creationId xmlns:a16="http://schemas.microsoft.com/office/drawing/2014/main" id="{0404CDA6-D1A0-F964-F9C0-9077B818CB97}"/>
              </a:ext>
            </a:extLst>
          </p:cNvPr>
          <p:cNvSpPr txBox="1"/>
          <p:nvPr/>
        </p:nvSpPr>
        <p:spPr>
          <a:xfrm>
            <a:off x="665140" y="1752544"/>
            <a:ext cx="7710233" cy="1231106"/>
          </a:xfrm>
          <a:prstGeom prst="rect">
            <a:avLst/>
          </a:prstGeom>
        </p:spPr>
        <p:txBody>
          <a:bodyPr wrap="square" lIns="0" tIns="0" rIns="0" bIns="0" rtlCol="0" anchor="t">
            <a:spAutoFit/>
          </a:bodyPr>
          <a:lstStyle/>
          <a:p>
            <a:pPr algn="l"/>
            <a:r>
              <a:rPr lang="en-US" sz="8000" b="1" dirty="0">
                <a:solidFill>
                  <a:srgbClr val="FFFFFF"/>
                </a:solidFill>
                <a:latin typeface="Montaser Arabic Bold"/>
                <a:ea typeface="Montaser Arabic Bold"/>
                <a:cs typeface="Montaser Arabic Bold"/>
                <a:sym typeface="Montaser Arabic Bold"/>
              </a:rPr>
              <a:t>Interviews</a:t>
            </a:r>
          </a:p>
        </p:txBody>
      </p:sp>
      <p:sp>
        <p:nvSpPr>
          <p:cNvPr id="12" name="TextBox 12">
            <a:extLst>
              <a:ext uri="{FF2B5EF4-FFF2-40B4-BE49-F238E27FC236}">
                <a16:creationId xmlns:a16="http://schemas.microsoft.com/office/drawing/2014/main" id="{D9A9C124-4DB0-E3C9-D4B5-B6FED9463AAE}"/>
              </a:ext>
            </a:extLst>
          </p:cNvPr>
          <p:cNvSpPr txBox="1"/>
          <p:nvPr/>
        </p:nvSpPr>
        <p:spPr>
          <a:xfrm>
            <a:off x="9040515" y="2236709"/>
            <a:ext cx="7124829" cy="361950"/>
          </a:xfrm>
          <a:prstGeom prst="rect">
            <a:avLst/>
          </a:prstGeom>
        </p:spPr>
        <p:txBody>
          <a:bodyPr lIns="0" tIns="0" rIns="0" bIns="0" rtlCol="0" anchor="t">
            <a:spAutoFit/>
          </a:bodyPr>
          <a:lstStyle/>
          <a:p>
            <a:pPr algn="l">
              <a:lnSpc>
                <a:spcPts val="2879"/>
              </a:lnSpc>
            </a:pPr>
            <a:r>
              <a:rPr lang="en-US" sz="2400" dirty="0">
                <a:solidFill>
                  <a:srgbClr val="FFFFFF"/>
                </a:solidFill>
                <a:latin typeface="Inter"/>
                <a:ea typeface="Inter"/>
                <a:cs typeface="Inter"/>
                <a:sym typeface="Inter"/>
              </a:rPr>
              <a:t>The Interviews focused on:</a:t>
            </a:r>
          </a:p>
        </p:txBody>
      </p:sp>
      <p:sp>
        <p:nvSpPr>
          <p:cNvPr id="16" name="TextBox 15">
            <a:extLst>
              <a:ext uri="{FF2B5EF4-FFF2-40B4-BE49-F238E27FC236}">
                <a16:creationId xmlns:a16="http://schemas.microsoft.com/office/drawing/2014/main" id="{021BB902-6B1B-B58A-AE14-166640578C73}"/>
              </a:ext>
            </a:extLst>
          </p:cNvPr>
          <p:cNvSpPr txBox="1"/>
          <p:nvPr/>
        </p:nvSpPr>
        <p:spPr>
          <a:xfrm>
            <a:off x="8870432" y="2895563"/>
            <a:ext cx="8257370" cy="6129050"/>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400" dirty="0">
                <a:solidFill>
                  <a:schemeClr val="bg2"/>
                </a:solidFill>
              </a:rPr>
              <a:t>Common dashboard warning lights misunderstood by drivers</a:t>
            </a:r>
          </a:p>
          <a:p>
            <a:pPr marL="457200" indent="-457200">
              <a:lnSpc>
                <a:spcPct val="150000"/>
              </a:lnSpc>
              <a:buFont typeface="Wingdings" panose="05000000000000000000" pitchFamily="2" charset="2"/>
              <a:buChar char="Ø"/>
            </a:pPr>
            <a:r>
              <a:rPr lang="en-US" sz="2400" dirty="0">
                <a:solidFill>
                  <a:schemeClr val="bg2"/>
                </a:solidFill>
              </a:rPr>
              <a:t>Common mistakes drivers make when warning lights appear</a:t>
            </a:r>
          </a:p>
          <a:p>
            <a:pPr marL="342900" indent="-342900">
              <a:lnSpc>
                <a:spcPct val="150000"/>
              </a:lnSpc>
              <a:buFont typeface="Wingdings" panose="05000000000000000000" pitchFamily="2" charset="2"/>
              <a:buChar char="Ø"/>
            </a:pPr>
            <a:r>
              <a:rPr lang="en-US" sz="2400" dirty="0">
                <a:solidFill>
                  <a:schemeClr val="bg2"/>
                </a:solidFill>
              </a:rPr>
              <a:t> Abnormal engine sounds frequently reported by car owners</a:t>
            </a:r>
          </a:p>
          <a:p>
            <a:pPr marL="457200" indent="-457200">
              <a:lnSpc>
                <a:spcPct val="150000"/>
              </a:lnSpc>
              <a:buFont typeface="Wingdings" panose="05000000000000000000" pitchFamily="2" charset="2"/>
              <a:buChar char="Ø"/>
            </a:pPr>
            <a:r>
              <a:rPr lang="en-US" sz="2400" dirty="0">
                <a:solidFill>
                  <a:schemeClr val="bg2"/>
                </a:solidFill>
              </a:rPr>
              <a:t>Possible causes of sounds such as knocking, hissing, squealing, rattling, and grinding</a:t>
            </a:r>
          </a:p>
          <a:p>
            <a:pPr marL="342900" indent="-342900">
              <a:lnSpc>
                <a:spcPct val="150000"/>
              </a:lnSpc>
              <a:buFont typeface="Wingdings" panose="05000000000000000000" pitchFamily="2" charset="2"/>
              <a:buChar char="Ø"/>
            </a:pPr>
            <a:r>
              <a:rPr lang="en-US" sz="2400" dirty="0">
                <a:solidFill>
                  <a:schemeClr val="bg2"/>
                </a:solidFill>
              </a:rPr>
              <a:t> Faults that are urgent and require immediate attention</a:t>
            </a:r>
          </a:p>
          <a:p>
            <a:pPr marL="457200" indent="-457200">
              <a:lnSpc>
                <a:spcPct val="150000"/>
              </a:lnSpc>
              <a:buFont typeface="Wingdings" panose="05000000000000000000" pitchFamily="2" charset="2"/>
              <a:buChar char="Ø"/>
            </a:pPr>
            <a:r>
              <a:rPr lang="en-US" sz="2400" dirty="0">
                <a:solidFill>
                  <a:schemeClr val="bg2"/>
                </a:solidFill>
              </a:rPr>
              <a:t>Faults that can be monitored temporarily</a:t>
            </a:r>
          </a:p>
          <a:p>
            <a:pPr marL="457200" indent="-457200">
              <a:lnSpc>
                <a:spcPct val="150000"/>
              </a:lnSpc>
              <a:buFont typeface="Wingdings" panose="05000000000000000000" pitchFamily="2" charset="2"/>
              <a:buChar char="Ø"/>
            </a:pPr>
            <a:r>
              <a:rPr lang="en-US" sz="2400" dirty="0">
                <a:solidFill>
                  <a:schemeClr val="bg2"/>
                </a:solidFill>
              </a:rPr>
              <a:t>Types of advice that are safe for an app to give</a:t>
            </a:r>
          </a:p>
          <a:p>
            <a:pPr marL="457200" indent="-457200">
              <a:lnSpc>
                <a:spcPct val="150000"/>
              </a:lnSpc>
              <a:buFont typeface="Wingdings" panose="05000000000000000000" pitchFamily="2" charset="2"/>
              <a:buChar char="Ø"/>
            </a:pPr>
            <a:r>
              <a:rPr lang="en-US" sz="2400" dirty="0">
                <a:solidFill>
                  <a:schemeClr val="bg2"/>
                </a:solidFill>
              </a:rPr>
              <a:t>Types of advice that should only be handled by mechanics</a:t>
            </a:r>
          </a:p>
          <a:p>
            <a:pPr marL="457200" indent="-457200">
              <a:lnSpc>
                <a:spcPct val="150000"/>
              </a:lnSpc>
              <a:buFont typeface="Wingdings" panose="05000000000000000000" pitchFamily="2" charset="2"/>
              <a:buChar char="Ø"/>
            </a:pPr>
            <a:r>
              <a:rPr lang="en-US" sz="2400" dirty="0">
                <a:solidFill>
                  <a:schemeClr val="bg2"/>
                </a:solidFill>
              </a:rPr>
              <a:t>Limitations of phone-based diagnosis</a:t>
            </a:r>
          </a:p>
          <a:p>
            <a:pPr marL="457200" indent="-457200">
              <a:lnSpc>
                <a:spcPct val="150000"/>
              </a:lnSpc>
              <a:buFont typeface="Wingdings" panose="05000000000000000000" pitchFamily="2" charset="2"/>
              <a:buChar char="Ø"/>
            </a:pPr>
            <a:r>
              <a:rPr lang="en-US" sz="2400" dirty="0">
                <a:solidFill>
                  <a:schemeClr val="bg2"/>
                </a:solidFill>
              </a:rPr>
              <a:t>Concerns about users over trusting the app.</a:t>
            </a:r>
          </a:p>
        </p:txBody>
      </p:sp>
    </p:spTree>
    <p:extLst>
      <p:ext uri="{BB962C8B-B14F-4D97-AF65-F5344CB8AC3E}">
        <p14:creationId xmlns:p14="http://schemas.microsoft.com/office/powerpoint/2010/main" val="4169306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D29C4F8-47C3-96BB-4769-F9BE7B6B00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4CCC69-6E93-715F-27EB-AD525B9B9BA6}"/>
              </a:ext>
            </a:extLst>
          </p:cNvPr>
          <p:cNvGrpSpPr/>
          <p:nvPr/>
        </p:nvGrpSpPr>
        <p:grpSpPr>
          <a:xfrm>
            <a:off x="665141" y="665141"/>
            <a:ext cx="17177593" cy="8956719"/>
            <a:chOff x="0" y="0"/>
            <a:chExt cx="2661259" cy="1387630"/>
          </a:xfrm>
        </p:grpSpPr>
        <p:sp>
          <p:nvSpPr>
            <p:cNvPr id="3" name="Freeform 3">
              <a:extLst>
                <a:ext uri="{FF2B5EF4-FFF2-40B4-BE49-F238E27FC236}">
                  <a16:creationId xmlns:a16="http://schemas.microsoft.com/office/drawing/2014/main" id="{908D771A-5870-DC0E-A315-2F9673F8610C}"/>
                </a:ext>
              </a:extLst>
            </p:cNvPr>
            <p:cNvSpPr/>
            <p:nvPr/>
          </p:nvSpPr>
          <p:spPr>
            <a:xfrm>
              <a:off x="0" y="0"/>
              <a:ext cx="2661259" cy="1387630"/>
            </a:xfrm>
            <a:custGeom>
              <a:avLst/>
              <a:gdLst/>
              <a:ahLst/>
              <a:cxnLst/>
              <a:rect l="l" t="t" r="r" b="b"/>
              <a:pathLst>
                <a:path w="2661259" h="1387630">
                  <a:moveTo>
                    <a:pt x="9014" y="0"/>
                  </a:moveTo>
                  <a:lnTo>
                    <a:pt x="2652245" y="0"/>
                  </a:lnTo>
                  <a:cubicBezTo>
                    <a:pt x="2654635" y="0"/>
                    <a:pt x="2656928" y="950"/>
                    <a:pt x="2658619" y="2640"/>
                  </a:cubicBezTo>
                  <a:cubicBezTo>
                    <a:pt x="2660309" y="4331"/>
                    <a:pt x="2661259" y="6623"/>
                    <a:pt x="2661259" y="9014"/>
                  </a:cubicBezTo>
                  <a:lnTo>
                    <a:pt x="2661259" y="1378616"/>
                  </a:lnTo>
                  <a:cubicBezTo>
                    <a:pt x="2661259" y="1381007"/>
                    <a:pt x="2660309" y="1383300"/>
                    <a:pt x="2658619" y="1384990"/>
                  </a:cubicBezTo>
                  <a:cubicBezTo>
                    <a:pt x="2656928" y="1386680"/>
                    <a:pt x="2654635" y="1387630"/>
                    <a:pt x="2652245" y="1387630"/>
                  </a:cubicBezTo>
                  <a:lnTo>
                    <a:pt x="9014" y="1387630"/>
                  </a:lnTo>
                  <a:cubicBezTo>
                    <a:pt x="6623" y="1387630"/>
                    <a:pt x="4331" y="1386680"/>
                    <a:pt x="2640" y="1384990"/>
                  </a:cubicBezTo>
                  <a:cubicBezTo>
                    <a:pt x="950" y="1383300"/>
                    <a:pt x="0" y="1381007"/>
                    <a:pt x="0" y="1378616"/>
                  </a:cubicBezTo>
                  <a:lnTo>
                    <a:pt x="0" y="9014"/>
                  </a:lnTo>
                  <a:cubicBezTo>
                    <a:pt x="0" y="6623"/>
                    <a:pt x="950" y="4331"/>
                    <a:pt x="2640" y="2640"/>
                  </a:cubicBezTo>
                  <a:cubicBezTo>
                    <a:pt x="4331" y="950"/>
                    <a:pt x="6623" y="0"/>
                    <a:pt x="9014" y="0"/>
                  </a:cubicBezTo>
                  <a:close/>
                </a:path>
              </a:pathLst>
            </a:custGeom>
            <a:blipFill>
              <a:blip r:embed="rId2"/>
              <a:stretch>
                <a:fillRect l="-32139" t="-33689" r="-2766" b="-39012"/>
              </a:stretch>
            </a:blipFill>
          </p:spPr>
        </p:sp>
      </p:grpSp>
    </p:spTree>
    <p:extLst>
      <p:ext uri="{BB962C8B-B14F-4D97-AF65-F5344CB8AC3E}">
        <p14:creationId xmlns:p14="http://schemas.microsoft.com/office/powerpoint/2010/main" val="488158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4D4D"/>
        </a:solidFill>
        <a:effectLst/>
      </p:bgPr>
    </p:bg>
    <p:spTree>
      <p:nvGrpSpPr>
        <p:cNvPr id="1" name="">
          <a:extLst>
            <a:ext uri="{FF2B5EF4-FFF2-40B4-BE49-F238E27FC236}">
              <a16:creationId xmlns:a16="http://schemas.microsoft.com/office/drawing/2014/main" id="{C45BCB3A-77D0-CCDF-AD8A-6187A9DAB1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FB5D80F-E11C-6BF1-AF52-7D2F454CF184}"/>
              </a:ext>
            </a:extLst>
          </p:cNvPr>
          <p:cNvGrpSpPr/>
          <p:nvPr/>
        </p:nvGrpSpPr>
        <p:grpSpPr>
          <a:xfrm>
            <a:off x="332570" y="5050746"/>
            <a:ext cx="7377664" cy="3483710"/>
            <a:chOff x="0" y="0"/>
            <a:chExt cx="1943088" cy="917520"/>
          </a:xfrm>
        </p:grpSpPr>
        <p:sp>
          <p:nvSpPr>
            <p:cNvPr id="3" name="Freeform 3">
              <a:extLst>
                <a:ext uri="{FF2B5EF4-FFF2-40B4-BE49-F238E27FC236}">
                  <a16:creationId xmlns:a16="http://schemas.microsoft.com/office/drawing/2014/main" id="{956BA508-4782-D3B0-3EA1-87CD6F048E78}"/>
                </a:ext>
              </a:extLst>
            </p:cNvPr>
            <p:cNvSpPr/>
            <p:nvPr/>
          </p:nvSpPr>
          <p:spPr>
            <a:xfrm>
              <a:off x="0" y="0"/>
              <a:ext cx="1943088" cy="917520"/>
            </a:xfrm>
            <a:custGeom>
              <a:avLst/>
              <a:gdLst/>
              <a:ahLst/>
              <a:cxnLst/>
              <a:rect l="l" t="t" r="r" b="b"/>
              <a:pathLst>
                <a:path w="1943088" h="917520">
                  <a:moveTo>
                    <a:pt x="20987" y="0"/>
                  </a:moveTo>
                  <a:lnTo>
                    <a:pt x="1922101" y="0"/>
                  </a:lnTo>
                  <a:cubicBezTo>
                    <a:pt x="1933692" y="0"/>
                    <a:pt x="1943088" y="9396"/>
                    <a:pt x="1943088" y="20987"/>
                  </a:cubicBezTo>
                  <a:lnTo>
                    <a:pt x="1943088" y="896533"/>
                  </a:lnTo>
                  <a:cubicBezTo>
                    <a:pt x="1943088" y="908124"/>
                    <a:pt x="1933692" y="917520"/>
                    <a:pt x="1922101" y="917520"/>
                  </a:cubicBezTo>
                  <a:lnTo>
                    <a:pt x="20987" y="917520"/>
                  </a:lnTo>
                  <a:cubicBezTo>
                    <a:pt x="9396" y="917520"/>
                    <a:pt x="0" y="908124"/>
                    <a:pt x="0" y="896533"/>
                  </a:cubicBezTo>
                  <a:lnTo>
                    <a:pt x="0" y="20987"/>
                  </a:lnTo>
                  <a:cubicBezTo>
                    <a:pt x="0" y="9396"/>
                    <a:pt x="9396" y="0"/>
                    <a:pt x="20987" y="0"/>
                  </a:cubicBezTo>
                  <a:close/>
                </a:path>
              </a:pathLst>
            </a:custGeom>
            <a:solidFill>
              <a:srgbClr val="FFFFFF"/>
            </a:solidFill>
          </p:spPr>
        </p:sp>
        <p:sp>
          <p:nvSpPr>
            <p:cNvPr id="4" name="TextBox 4">
              <a:extLst>
                <a:ext uri="{FF2B5EF4-FFF2-40B4-BE49-F238E27FC236}">
                  <a16:creationId xmlns:a16="http://schemas.microsoft.com/office/drawing/2014/main" id="{F12E3954-E4C8-B87C-ACC7-7CB03B35FE88}"/>
                </a:ext>
              </a:extLst>
            </p:cNvPr>
            <p:cNvSpPr txBox="1"/>
            <p:nvPr/>
          </p:nvSpPr>
          <p:spPr>
            <a:xfrm>
              <a:off x="0" y="0"/>
              <a:ext cx="1943088" cy="917520"/>
            </a:xfrm>
            <a:prstGeom prst="rect">
              <a:avLst/>
            </a:prstGeom>
          </p:spPr>
          <p:txBody>
            <a:bodyPr lIns="50800" tIns="50800" rIns="50800" bIns="50800" rtlCol="0" anchor="ctr"/>
            <a:lstStyle/>
            <a:p>
              <a:pPr algn="ctr">
                <a:lnSpc>
                  <a:spcPts val="2520"/>
                </a:lnSpc>
              </a:pPr>
              <a:endParaRPr/>
            </a:p>
          </p:txBody>
        </p:sp>
      </p:grpSp>
      <p:grpSp>
        <p:nvGrpSpPr>
          <p:cNvPr id="5" name="Group 5">
            <a:extLst>
              <a:ext uri="{FF2B5EF4-FFF2-40B4-BE49-F238E27FC236}">
                <a16:creationId xmlns:a16="http://schemas.microsoft.com/office/drawing/2014/main" id="{7281995B-BD57-FDEA-7EE7-8D0D741D0D1A}"/>
              </a:ext>
            </a:extLst>
          </p:cNvPr>
          <p:cNvGrpSpPr/>
          <p:nvPr/>
        </p:nvGrpSpPr>
        <p:grpSpPr>
          <a:xfrm>
            <a:off x="8375375" y="1571569"/>
            <a:ext cx="9247485" cy="8050291"/>
            <a:chOff x="0" y="0"/>
            <a:chExt cx="2435552" cy="2120241"/>
          </a:xfrm>
        </p:grpSpPr>
        <p:sp>
          <p:nvSpPr>
            <p:cNvPr id="6" name="Freeform 6">
              <a:extLst>
                <a:ext uri="{FF2B5EF4-FFF2-40B4-BE49-F238E27FC236}">
                  <a16:creationId xmlns:a16="http://schemas.microsoft.com/office/drawing/2014/main" id="{60AADD75-658E-1429-9AB7-F3B2959D00D8}"/>
                </a:ext>
              </a:extLst>
            </p:cNvPr>
            <p:cNvSpPr/>
            <p:nvPr/>
          </p:nvSpPr>
          <p:spPr>
            <a:xfrm>
              <a:off x="0" y="0"/>
              <a:ext cx="2435552" cy="2120241"/>
            </a:xfrm>
            <a:custGeom>
              <a:avLst/>
              <a:gdLst/>
              <a:ahLst/>
              <a:cxnLst/>
              <a:rect l="l" t="t" r="r" b="b"/>
              <a:pathLst>
                <a:path w="2435552" h="2120241">
                  <a:moveTo>
                    <a:pt x="16744" y="0"/>
                  </a:moveTo>
                  <a:lnTo>
                    <a:pt x="2418808" y="0"/>
                  </a:lnTo>
                  <a:cubicBezTo>
                    <a:pt x="2428055" y="0"/>
                    <a:pt x="2435552" y="7496"/>
                    <a:pt x="2435552" y="16744"/>
                  </a:cubicBezTo>
                  <a:lnTo>
                    <a:pt x="2435552" y="2103497"/>
                  </a:lnTo>
                  <a:cubicBezTo>
                    <a:pt x="2435552" y="2107938"/>
                    <a:pt x="2433787" y="2112197"/>
                    <a:pt x="2430647" y="2115337"/>
                  </a:cubicBezTo>
                  <a:cubicBezTo>
                    <a:pt x="2427507" y="2118477"/>
                    <a:pt x="2423248" y="2120241"/>
                    <a:pt x="2418808" y="2120241"/>
                  </a:cubicBezTo>
                  <a:lnTo>
                    <a:pt x="16744" y="2120241"/>
                  </a:lnTo>
                  <a:cubicBezTo>
                    <a:pt x="7496" y="2120241"/>
                    <a:pt x="0" y="2112745"/>
                    <a:pt x="0" y="2103497"/>
                  </a:cubicBezTo>
                  <a:lnTo>
                    <a:pt x="0" y="16744"/>
                  </a:lnTo>
                  <a:cubicBezTo>
                    <a:pt x="0" y="7496"/>
                    <a:pt x="7496" y="0"/>
                    <a:pt x="16744" y="0"/>
                  </a:cubicBezTo>
                  <a:close/>
                </a:path>
              </a:pathLst>
            </a:custGeom>
            <a:solidFill>
              <a:srgbClr val="000000"/>
            </a:solidFill>
          </p:spPr>
        </p:sp>
        <p:sp>
          <p:nvSpPr>
            <p:cNvPr id="7" name="TextBox 7">
              <a:extLst>
                <a:ext uri="{FF2B5EF4-FFF2-40B4-BE49-F238E27FC236}">
                  <a16:creationId xmlns:a16="http://schemas.microsoft.com/office/drawing/2014/main" id="{AFAC906B-0FD2-4A97-2073-9AF221F85ADB}"/>
                </a:ext>
              </a:extLst>
            </p:cNvPr>
            <p:cNvSpPr txBox="1"/>
            <p:nvPr/>
          </p:nvSpPr>
          <p:spPr>
            <a:xfrm>
              <a:off x="0" y="0"/>
              <a:ext cx="2435552" cy="2120241"/>
            </a:xfrm>
            <a:prstGeom prst="rect">
              <a:avLst/>
            </a:prstGeom>
          </p:spPr>
          <p:txBody>
            <a:bodyPr lIns="50800" tIns="50800" rIns="50800" bIns="50800" rtlCol="0" anchor="ctr"/>
            <a:lstStyle/>
            <a:p>
              <a:pPr algn="ctr">
                <a:lnSpc>
                  <a:spcPts val="2520"/>
                </a:lnSpc>
              </a:pPr>
              <a:endParaRPr/>
            </a:p>
          </p:txBody>
        </p:sp>
      </p:grpSp>
      <p:sp>
        <p:nvSpPr>
          <p:cNvPr id="8" name="TextBox 8">
            <a:extLst>
              <a:ext uri="{FF2B5EF4-FFF2-40B4-BE49-F238E27FC236}">
                <a16:creationId xmlns:a16="http://schemas.microsoft.com/office/drawing/2014/main" id="{7ADB42D7-BECA-5D28-46D7-4A2C41CE0D10}"/>
              </a:ext>
            </a:extLst>
          </p:cNvPr>
          <p:cNvSpPr txBox="1"/>
          <p:nvPr/>
        </p:nvSpPr>
        <p:spPr>
          <a:xfrm>
            <a:off x="604768" y="5753100"/>
            <a:ext cx="6978231" cy="1538883"/>
          </a:xfrm>
          <a:prstGeom prst="rect">
            <a:avLst/>
          </a:prstGeom>
        </p:spPr>
        <p:txBody>
          <a:bodyPr wrap="square" lIns="0" tIns="0" rIns="0" bIns="0" rtlCol="0" anchor="t">
            <a:spAutoFit/>
          </a:bodyPr>
          <a:lstStyle/>
          <a:p>
            <a:pPr marL="0" lvl="0" indent="0" algn="just"/>
            <a:r>
              <a:rPr lang="en-US" sz="2500" b="1" dirty="0">
                <a:solidFill>
                  <a:srgbClr val="EE4D4D"/>
                </a:solidFill>
                <a:latin typeface="Montaser Arabic Bold"/>
                <a:cs typeface="Montaser Arabic Bold"/>
                <a:sym typeface="Inter"/>
              </a:rPr>
              <a:t>Reverse engineering was used to study existing applications and resources that are related to the proposed car fault diagnosis applications</a:t>
            </a:r>
          </a:p>
        </p:txBody>
      </p:sp>
      <p:sp>
        <p:nvSpPr>
          <p:cNvPr id="9" name="TextBox 9">
            <a:extLst>
              <a:ext uri="{FF2B5EF4-FFF2-40B4-BE49-F238E27FC236}">
                <a16:creationId xmlns:a16="http://schemas.microsoft.com/office/drawing/2014/main" id="{6E49992D-6320-5DA2-9E8F-065BAF7D927B}"/>
              </a:ext>
            </a:extLst>
          </p:cNvPr>
          <p:cNvSpPr txBox="1"/>
          <p:nvPr/>
        </p:nvSpPr>
        <p:spPr>
          <a:xfrm>
            <a:off x="665140" y="1752544"/>
            <a:ext cx="7710233" cy="2462213"/>
          </a:xfrm>
          <a:prstGeom prst="rect">
            <a:avLst/>
          </a:prstGeom>
        </p:spPr>
        <p:txBody>
          <a:bodyPr wrap="square" lIns="0" tIns="0" rIns="0" bIns="0" rtlCol="0" anchor="t">
            <a:spAutoFit/>
          </a:bodyPr>
          <a:lstStyle/>
          <a:p>
            <a:pPr algn="l"/>
            <a:r>
              <a:rPr lang="en-US" sz="8000" b="1" dirty="0">
                <a:solidFill>
                  <a:srgbClr val="FFFFFF"/>
                </a:solidFill>
                <a:latin typeface="Montaser Arabic Bold"/>
                <a:ea typeface="Montaser Arabic Bold"/>
                <a:cs typeface="Montaser Arabic Bold"/>
                <a:sym typeface="Montaser Arabic Bold"/>
              </a:rPr>
              <a:t>Reverse Engineering</a:t>
            </a:r>
          </a:p>
        </p:txBody>
      </p:sp>
      <p:sp>
        <p:nvSpPr>
          <p:cNvPr id="12" name="TextBox 12">
            <a:extLst>
              <a:ext uri="{FF2B5EF4-FFF2-40B4-BE49-F238E27FC236}">
                <a16:creationId xmlns:a16="http://schemas.microsoft.com/office/drawing/2014/main" id="{DCC93BDF-A3EE-2A0A-0851-56F64064B1C9}"/>
              </a:ext>
            </a:extLst>
          </p:cNvPr>
          <p:cNvSpPr txBox="1"/>
          <p:nvPr/>
        </p:nvSpPr>
        <p:spPr>
          <a:xfrm>
            <a:off x="10516616" y="2840487"/>
            <a:ext cx="7124829" cy="361950"/>
          </a:xfrm>
          <a:prstGeom prst="rect">
            <a:avLst/>
          </a:prstGeom>
        </p:spPr>
        <p:txBody>
          <a:bodyPr lIns="0" tIns="0" rIns="0" bIns="0" rtlCol="0" anchor="t">
            <a:spAutoFit/>
          </a:bodyPr>
          <a:lstStyle/>
          <a:p>
            <a:pPr algn="l">
              <a:lnSpc>
                <a:spcPts val="2879"/>
              </a:lnSpc>
            </a:pPr>
            <a:r>
              <a:rPr lang="en-US" sz="2400" dirty="0">
                <a:solidFill>
                  <a:srgbClr val="FFFFFF"/>
                </a:solidFill>
                <a:latin typeface="Inter"/>
                <a:ea typeface="Inter"/>
                <a:cs typeface="Inter"/>
                <a:sym typeface="Inter"/>
              </a:rPr>
              <a:t>We considered:</a:t>
            </a:r>
          </a:p>
        </p:txBody>
      </p:sp>
      <p:sp>
        <p:nvSpPr>
          <p:cNvPr id="16" name="TextBox 15">
            <a:extLst>
              <a:ext uri="{FF2B5EF4-FFF2-40B4-BE49-F238E27FC236}">
                <a16:creationId xmlns:a16="http://schemas.microsoft.com/office/drawing/2014/main" id="{9AB4F333-9026-CDDA-A1C7-EDAAB0734751}"/>
              </a:ext>
            </a:extLst>
          </p:cNvPr>
          <p:cNvSpPr txBox="1"/>
          <p:nvPr/>
        </p:nvSpPr>
        <p:spPr>
          <a:xfrm>
            <a:off x="9144000" y="3561079"/>
            <a:ext cx="8257370" cy="3164841"/>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400" dirty="0">
                <a:solidFill>
                  <a:schemeClr val="bg2"/>
                </a:solidFill>
              </a:rPr>
              <a:t>OBD (On Board Diagnostics) related applications2.</a:t>
            </a:r>
          </a:p>
          <a:p>
            <a:pPr marL="457200" indent="-457200">
              <a:lnSpc>
                <a:spcPct val="150000"/>
              </a:lnSpc>
              <a:buFont typeface="Wingdings" panose="05000000000000000000" pitchFamily="2" charset="2"/>
              <a:buChar char="Ø"/>
            </a:pPr>
            <a:r>
              <a:rPr lang="en-US" sz="2800" dirty="0">
                <a:solidFill>
                  <a:schemeClr val="bg2"/>
                </a:solidFill>
              </a:rPr>
              <a:t>Dashboard warning light guide applications/resources.</a:t>
            </a:r>
          </a:p>
          <a:p>
            <a:pPr marL="457200" indent="-457200">
              <a:lnSpc>
                <a:spcPct val="150000"/>
              </a:lnSpc>
              <a:buFont typeface="Wingdings" panose="05000000000000000000" pitchFamily="2" charset="2"/>
              <a:buChar char="Ø"/>
            </a:pPr>
            <a:r>
              <a:rPr lang="en-US" sz="2800" dirty="0">
                <a:solidFill>
                  <a:schemeClr val="bg2"/>
                </a:solidFill>
              </a:rPr>
              <a:t>Car maintenance tutorial applications/resources</a:t>
            </a:r>
          </a:p>
          <a:p>
            <a:pPr marL="457200" indent="-457200">
              <a:lnSpc>
                <a:spcPct val="150000"/>
              </a:lnSpc>
              <a:buFont typeface="Wingdings" panose="05000000000000000000" pitchFamily="2" charset="2"/>
              <a:buChar char="Ø"/>
            </a:pPr>
            <a:r>
              <a:rPr lang="en-US" sz="2800" dirty="0">
                <a:solidFill>
                  <a:schemeClr val="bg2"/>
                </a:solidFill>
              </a:rPr>
              <a:t>Sound recognition/diagnostic tools</a:t>
            </a:r>
          </a:p>
        </p:txBody>
      </p:sp>
    </p:spTree>
    <p:extLst>
      <p:ext uri="{BB962C8B-B14F-4D97-AF65-F5344CB8AC3E}">
        <p14:creationId xmlns:p14="http://schemas.microsoft.com/office/powerpoint/2010/main" val="754236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5" name="TextBox 5"/>
          <p:cNvSpPr txBox="1"/>
          <p:nvPr/>
        </p:nvSpPr>
        <p:spPr>
          <a:xfrm>
            <a:off x="665141" y="1752544"/>
            <a:ext cx="13388386" cy="1231106"/>
          </a:xfrm>
          <a:prstGeom prst="rect">
            <a:avLst/>
          </a:prstGeom>
        </p:spPr>
        <p:txBody>
          <a:bodyPr lIns="0" tIns="0" rIns="0" bIns="0" rtlCol="0" anchor="t">
            <a:spAutoFit/>
          </a:bodyPr>
          <a:lstStyle/>
          <a:p>
            <a:pPr marL="0" lvl="0" indent="0" algn="l">
              <a:lnSpc>
                <a:spcPts val="9600"/>
              </a:lnSpc>
              <a:spcBef>
                <a:spcPct val="0"/>
              </a:spcBef>
            </a:pPr>
            <a:r>
              <a:rPr lang="en-US" sz="9600" b="1" dirty="0">
                <a:solidFill>
                  <a:srgbClr val="EE4D4D"/>
                </a:solidFill>
                <a:latin typeface="Montaser Arabic Bold"/>
                <a:ea typeface="Montaser Arabic Bold"/>
                <a:cs typeface="Montaser Arabic Bold"/>
                <a:sym typeface="Montaser Arabic Bold"/>
              </a:rPr>
              <a:t>Existing Solutions</a:t>
            </a:r>
            <a:endParaRPr lang="en-US" sz="9600" b="1" u="none" strike="noStrike" dirty="0">
              <a:solidFill>
                <a:srgbClr val="EE4D4D"/>
              </a:solidFill>
              <a:latin typeface="Montaser Arabic Bold"/>
              <a:ea typeface="Montaser Arabic Bold"/>
              <a:cs typeface="Montaser Arabic Bold"/>
              <a:sym typeface="Montaser Arabic Bold"/>
            </a:endParaRPr>
          </a:p>
        </p:txBody>
      </p:sp>
      <p:sp>
        <p:nvSpPr>
          <p:cNvPr id="6" name="TextBox 6"/>
          <p:cNvSpPr txBox="1"/>
          <p:nvPr/>
        </p:nvSpPr>
        <p:spPr>
          <a:xfrm>
            <a:off x="15051238" y="5741966"/>
            <a:ext cx="1906481" cy="1650260"/>
          </a:xfrm>
          <a:prstGeom prst="rect">
            <a:avLst/>
          </a:prstGeom>
        </p:spPr>
        <p:txBody>
          <a:bodyPr lIns="0" tIns="0" rIns="0" bIns="0" rtlCol="0" anchor="t">
            <a:spAutoFit/>
          </a:bodyPr>
          <a:lstStyle/>
          <a:p>
            <a:pPr marL="0" lvl="0" indent="0" algn="just">
              <a:lnSpc>
                <a:spcPts val="3255"/>
              </a:lnSpc>
            </a:pPr>
            <a:r>
              <a:rPr lang="en-US" sz="2100" u="none" strike="noStrike" dirty="0">
                <a:solidFill>
                  <a:srgbClr val="000000"/>
                </a:solidFill>
                <a:latin typeface="Inter"/>
                <a:ea typeface="Inter"/>
                <a:cs typeface="Inter"/>
                <a:sym typeface="Inter"/>
              </a:rPr>
              <a:t>A snapshot of the current competitive </a:t>
            </a:r>
            <a:r>
              <a:rPr lang="en-US" sz="2100" u="none" strike="noStrike" dirty="0" err="1">
                <a:solidFill>
                  <a:srgbClr val="000000"/>
                </a:solidFill>
                <a:latin typeface="Inter"/>
                <a:ea typeface="Inter"/>
                <a:cs typeface="Inter"/>
                <a:sym typeface="Inter"/>
              </a:rPr>
              <a:t>landscap</a:t>
            </a:r>
            <a:endParaRPr lang="en-US" sz="2100" u="none" strike="noStrike" dirty="0">
              <a:solidFill>
                <a:srgbClr val="000000"/>
              </a:solidFill>
              <a:latin typeface="Inter"/>
              <a:ea typeface="Inter"/>
              <a:cs typeface="Inter"/>
              <a:sym typeface="Inter"/>
            </a:endParaRPr>
          </a:p>
        </p:txBody>
      </p:sp>
      <p:sp>
        <p:nvSpPr>
          <p:cNvPr id="7" name="TextBox 7"/>
          <p:cNvSpPr txBox="1"/>
          <p:nvPr/>
        </p:nvSpPr>
        <p:spPr>
          <a:xfrm>
            <a:off x="512506" y="3964544"/>
            <a:ext cx="4241739" cy="846386"/>
          </a:xfrm>
          <a:prstGeom prst="rect">
            <a:avLst/>
          </a:prstGeom>
        </p:spPr>
        <p:txBody>
          <a:bodyPr lIns="0" tIns="0" rIns="0" bIns="0" rtlCol="0" anchor="t">
            <a:spAutoFit/>
          </a:bodyPr>
          <a:lstStyle/>
          <a:p>
            <a:pPr marL="0" lvl="0" indent="0" algn="l">
              <a:lnSpc>
                <a:spcPts val="3299"/>
              </a:lnSpc>
            </a:pPr>
            <a:r>
              <a:rPr lang="en-US" sz="2999" b="1" u="none" strike="noStrike" dirty="0">
                <a:solidFill>
                  <a:srgbClr val="FFFFFF"/>
                </a:solidFill>
                <a:latin typeface="Montaser Arabic Bold"/>
                <a:ea typeface="Montaser Arabic Bold"/>
                <a:cs typeface="Montaser Arabic Bold"/>
                <a:sym typeface="Montaser Arabic Bold"/>
              </a:rPr>
              <a:t>Car Scanner ELM OBD2</a:t>
            </a:r>
          </a:p>
        </p:txBody>
      </p:sp>
      <p:sp>
        <p:nvSpPr>
          <p:cNvPr id="8" name="TextBox 8"/>
          <p:cNvSpPr txBox="1"/>
          <p:nvPr/>
        </p:nvSpPr>
        <p:spPr>
          <a:xfrm>
            <a:off x="5238464" y="4401355"/>
            <a:ext cx="4241739" cy="423193"/>
          </a:xfrm>
          <a:prstGeom prst="rect">
            <a:avLst/>
          </a:prstGeom>
        </p:spPr>
        <p:txBody>
          <a:bodyPr lIns="0" tIns="0" rIns="0" bIns="0" rtlCol="0" anchor="t">
            <a:spAutoFit/>
          </a:bodyPr>
          <a:lstStyle/>
          <a:p>
            <a:pPr marL="0" lvl="0" indent="0" algn="l">
              <a:lnSpc>
                <a:spcPts val="3299"/>
              </a:lnSpc>
            </a:pPr>
            <a:r>
              <a:rPr lang="en-US" sz="2999" b="1" u="none" strike="noStrike" dirty="0">
                <a:solidFill>
                  <a:srgbClr val="FFFFFF"/>
                </a:solidFill>
                <a:latin typeface="Montaser Arabic Bold"/>
                <a:ea typeface="Montaser Arabic Bold"/>
                <a:cs typeface="Montaser Arabic Bold"/>
                <a:sym typeface="Montaser Arabic Bold"/>
              </a:rPr>
              <a:t>OBD aut</a:t>
            </a:r>
            <a:r>
              <a:rPr lang="en-US" sz="2999" b="1" dirty="0">
                <a:solidFill>
                  <a:srgbClr val="FFFFFF"/>
                </a:solidFill>
                <a:latin typeface="Montaser Arabic Bold"/>
                <a:ea typeface="Montaser Arabic Bold"/>
                <a:cs typeface="Montaser Arabic Bold"/>
                <a:sym typeface="Montaser Arabic Bold"/>
              </a:rPr>
              <a:t>o doctor</a:t>
            </a:r>
            <a:endParaRPr lang="en-US" sz="2999" b="1" u="none" strike="noStrike" dirty="0">
              <a:solidFill>
                <a:srgbClr val="FFFFFF"/>
              </a:solidFill>
              <a:latin typeface="Montaser Arabic Bold"/>
              <a:ea typeface="Montaser Arabic Bold"/>
              <a:cs typeface="Montaser Arabic Bold"/>
              <a:sym typeface="Montaser Arabic Bold"/>
            </a:endParaRPr>
          </a:p>
        </p:txBody>
      </p:sp>
      <p:sp>
        <p:nvSpPr>
          <p:cNvPr id="9" name="TextBox 9"/>
          <p:cNvSpPr txBox="1"/>
          <p:nvPr/>
        </p:nvSpPr>
        <p:spPr>
          <a:xfrm>
            <a:off x="9813579" y="4401355"/>
            <a:ext cx="4241739" cy="423193"/>
          </a:xfrm>
          <a:prstGeom prst="rect">
            <a:avLst/>
          </a:prstGeom>
        </p:spPr>
        <p:txBody>
          <a:bodyPr lIns="0" tIns="0" rIns="0" bIns="0" rtlCol="0" anchor="t">
            <a:spAutoFit/>
          </a:bodyPr>
          <a:lstStyle/>
          <a:p>
            <a:pPr marL="0" lvl="0" indent="0" algn="l">
              <a:lnSpc>
                <a:spcPts val="3299"/>
              </a:lnSpc>
            </a:pPr>
            <a:r>
              <a:rPr lang="en-US" sz="2999" b="1" u="none" strike="noStrike" dirty="0" err="1">
                <a:solidFill>
                  <a:srgbClr val="FFFFFF"/>
                </a:solidFill>
                <a:latin typeface="Montaser Arabic Bold"/>
                <a:ea typeface="Montaser Arabic Bold"/>
                <a:cs typeface="Montaser Arabic Bold"/>
                <a:sym typeface="Montaser Arabic Bold"/>
              </a:rPr>
              <a:t>OBDeleven</a:t>
            </a:r>
            <a:endParaRPr lang="en-US" sz="2999" b="1" u="none" strike="noStrike" dirty="0">
              <a:solidFill>
                <a:srgbClr val="FFFFFF"/>
              </a:solidFill>
              <a:latin typeface="Montaser Arabic Bold"/>
              <a:ea typeface="Montaser Arabic Bold"/>
              <a:cs typeface="Montaser Arabic Bold"/>
              <a:sym typeface="Montaser Arabic Bold"/>
            </a:endParaRPr>
          </a:p>
        </p:txBody>
      </p:sp>
      <p:pic>
        <p:nvPicPr>
          <p:cNvPr id="1026" name="Picture 2" descr="Car Scanner ELM OBD2 - Apps on Google Play">
            <a:extLst>
              <a:ext uri="{FF2B5EF4-FFF2-40B4-BE49-F238E27FC236}">
                <a16:creationId xmlns:a16="http://schemas.microsoft.com/office/drawing/2014/main" id="{E847361B-FAEB-4497-E635-35C92DF96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976" y="4944279"/>
            <a:ext cx="4876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r Scanner ELM OBD2 – The best car OBD2 diagnostic solution for iOS and  Android in your pocket!">
            <a:extLst>
              <a:ext uri="{FF2B5EF4-FFF2-40B4-BE49-F238E27FC236}">
                <a16:creationId xmlns:a16="http://schemas.microsoft.com/office/drawing/2014/main" id="{453FD949-E500-73CA-DA13-16B9DB7A0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59131" y="4944278"/>
            <a:ext cx="3704330" cy="507602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OBD Auto Doctor car scanner - Apps on Google Play">
            <a:extLst>
              <a:ext uri="{FF2B5EF4-FFF2-40B4-BE49-F238E27FC236}">
                <a16:creationId xmlns:a16="http://schemas.microsoft.com/office/drawing/2014/main" id="{ED987720-750C-A245-F7D3-3826CD072D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122" b="10846"/>
          <a:stretch/>
        </p:blipFill>
        <p:spPr bwMode="auto">
          <a:xfrm>
            <a:off x="5165167" y="4821152"/>
            <a:ext cx="4565067" cy="519914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OBDeleven OBD2 Diagnostic Bluetooth car scan Tool, Cameroon | Ubuy">
            <a:extLst>
              <a:ext uri="{FF2B5EF4-FFF2-40B4-BE49-F238E27FC236}">
                <a16:creationId xmlns:a16="http://schemas.microsoft.com/office/drawing/2014/main" id="{B66021DF-937E-6E2D-831F-4EF1E1F76C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3624" y="4982020"/>
            <a:ext cx="4442117" cy="50382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4D4D"/>
        </a:solidFill>
        <a:effectLst/>
      </p:bgPr>
    </p:bg>
    <p:spTree>
      <p:nvGrpSpPr>
        <p:cNvPr id="1" name="">
          <a:extLst>
            <a:ext uri="{FF2B5EF4-FFF2-40B4-BE49-F238E27FC236}">
              <a16:creationId xmlns:a16="http://schemas.microsoft.com/office/drawing/2014/main" id="{33F2C28F-80F9-3C64-19FE-17804D3846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79D9550-BA9D-6904-3782-31129E341E1E}"/>
              </a:ext>
            </a:extLst>
          </p:cNvPr>
          <p:cNvGrpSpPr/>
          <p:nvPr/>
        </p:nvGrpSpPr>
        <p:grpSpPr>
          <a:xfrm>
            <a:off x="332570" y="5050746"/>
            <a:ext cx="7377664" cy="3483710"/>
            <a:chOff x="0" y="0"/>
            <a:chExt cx="1943088" cy="917520"/>
          </a:xfrm>
        </p:grpSpPr>
        <p:sp>
          <p:nvSpPr>
            <p:cNvPr id="3" name="Freeform 3">
              <a:extLst>
                <a:ext uri="{FF2B5EF4-FFF2-40B4-BE49-F238E27FC236}">
                  <a16:creationId xmlns:a16="http://schemas.microsoft.com/office/drawing/2014/main" id="{B51591A3-2171-0C31-DA93-C926E9CACEAB}"/>
                </a:ext>
              </a:extLst>
            </p:cNvPr>
            <p:cNvSpPr/>
            <p:nvPr/>
          </p:nvSpPr>
          <p:spPr>
            <a:xfrm>
              <a:off x="0" y="0"/>
              <a:ext cx="1943088" cy="917520"/>
            </a:xfrm>
            <a:custGeom>
              <a:avLst/>
              <a:gdLst/>
              <a:ahLst/>
              <a:cxnLst/>
              <a:rect l="l" t="t" r="r" b="b"/>
              <a:pathLst>
                <a:path w="1943088" h="917520">
                  <a:moveTo>
                    <a:pt x="20987" y="0"/>
                  </a:moveTo>
                  <a:lnTo>
                    <a:pt x="1922101" y="0"/>
                  </a:lnTo>
                  <a:cubicBezTo>
                    <a:pt x="1933692" y="0"/>
                    <a:pt x="1943088" y="9396"/>
                    <a:pt x="1943088" y="20987"/>
                  </a:cubicBezTo>
                  <a:lnTo>
                    <a:pt x="1943088" y="896533"/>
                  </a:lnTo>
                  <a:cubicBezTo>
                    <a:pt x="1943088" y="908124"/>
                    <a:pt x="1933692" y="917520"/>
                    <a:pt x="1922101" y="917520"/>
                  </a:cubicBezTo>
                  <a:lnTo>
                    <a:pt x="20987" y="917520"/>
                  </a:lnTo>
                  <a:cubicBezTo>
                    <a:pt x="9396" y="917520"/>
                    <a:pt x="0" y="908124"/>
                    <a:pt x="0" y="896533"/>
                  </a:cubicBezTo>
                  <a:lnTo>
                    <a:pt x="0" y="20987"/>
                  </a:lnTo>
                  <a:cubicBezTo>
                    <a:pt x="0" y="9396"/>
                    <a:pt x="9396" y="0"/>
                    <a:pt x="20987" y="0"/>
                  </a:cubicBezTo>
                  <a:close/>
                </a:path>
              </a:pathLst>
            </a:custGeom>
            <a:solidFill>
              <a:srgbClr val="FFFFFF"/>
            </a:solidFill>
          </p:spPr>
        </p:sp>
        <p:sp>
          <p:nvSpPr>
            <p:cNvPr id="4" name="TextBox 4">
              <a:extLst>
                <a:ext uri="{FF2B5EF4-FFF2-40B4-BE49-F238E27FC236}">
                  <a16:creationId xmlns:a16="http://schemas.microsoft.com/office/drawing/2014/main" id="{66B16F9E-EC99-F96A-852C-730E411FC1E8}"/>
                </a:ext>
              </a:extLst>
            </p:cNvPr>
            <p:cNvSpPr txBox="1"/>
            <p:nvPr/>
          </p:nvSpPr>
          <p:spPr>
            <a:xfrm>
              <a:off x="0" y="0"/>
              <a:ext cx="1943088" cy="917520"/>
            </a:xfrm>
            <a:prstGeom prst="rect">
              <a:avLst/>
            </a:prstGeom>
          </p:spPr>
          <p:txBody>
            <a:bodyPr lIns="50800" tIns="50800" rIns="50800" bIns="50800" rtlCol="0" anchor="ctr"/>
            <a:lstStyle/>
            <a:p>
              <a:pPr algn="ctr">
                <a:lnSpc>
                  <a:spcPts val="2520"/>
                </a:lnSpc>
              </a:pPr>
              <a:endParaRPr/>
            </a:p>
          </p:txBody>
        </p:sp>
      </p:grpSp>
      <p:grpSp>
        <p:nvGrpSpPr>
          <p:cNvPr id="5" name="Group 5">
            <a:extLst>
              <a:ext uri="{FF2B5EF4-FFF2-40B4-BE49-F238E27FC236}">
                <a16:creationId xmlns:a16="http://schemas.microsoft.com/office/drawing/2014/main" id="{C9CA68FA-6FAF-86DA-B9E1-C66135193EC5}"/>
              </a:ext>
            </a:extLst>
          </p:cNvPr>
          <p:cNvGrpSpPr/>
          <p:nvPr/>
        </p:nvGrpSpPr>
        <p:grpSpPr>
          <a:xfrm>
            <a:off x="8375375" y="1571569"/>
            <a:ext cx="9247485" cy="8050291"/>
            <a:chOff x="0" y="0"/>
            <a:chExt cx="2435552" cy="2120241"/>
          </a:xfrm>
        </p:grpSpPr>
        <p:sp>
          <p:nvSpPr>
            <p:cNvPr id="6" name="Freeform 6">
              <a:extLst>
                <a:ext uri="{FF2B5EF4-FFF2-40B4-BE49-F238E27FC236}">
                  <a16:creationId xmlns:a16="http://schemas.microsoft.com/office/drawing/2014/main" id="{C8EA993C-0C25-7F9F-62E9-90A0880B97DA}"/>
                </a:ext>
              </a:extLst>
            </p:cNvPr>
            <p:cNvSpPr/>
            <p:nvPr/>
          </p:nvSpPr>
          <p:spPr>
            <a:xfrm>
              <a:off x="0" y="0"/>
              <a:ext cx="2435552" cy="2120241"/>
            </a:xfrm>
            <a:custGeom>
              <a:avLst/>
              <a:gdLst/>
              <a:ahLst/>
              <a:cxnLst/>
              <a:rect l="l" t="t" r="r" b="b"/>
              <a:pathLst>
                <a:path w="2435552" h="2120241">
                  <a:moveTo>
                    <a:pt x="16744" y="0"/>
                  </a:moveTo>
                  <a:lnTo>
                    <a:pt x="2418808" y="0"/>
                  </a:lnTo>
                  <a:cubicBezTo>
                    <a:pt x="2428055" y="0"/>
                    <a:pt x="2435552" y="7496"/>
                    <a:pt x="2435552" y="16744"/>
                  </a:cubicBezTo>
                  <a:lnTo>
                    <a:pt x="2435552" y="2103497"/>
                  </a:lnTo>
                  <a:cubicBezTo>
                    <a:pt x="2435552" y="2107938"/>
                    <a:pt x="2433787" y="2112197"/>
                    <a:pt x="2430647" y="2115337"/>
                  </a:cubicBezTo>
                  <a:cubicBezTo>
                    <a:pt x="2427507" y="2118477"/>
                    <a:pt x="2423248" y="2120241"/>
                    <a:pt x="2418808" y="2120241"/>
                  </a:cubicBezTo>
                  <a:lnTo>
                    <a:pt x="16744" y="2120241"/>
                  </a:lnTo>
                  <a:cubicBezTo>
                    <a:pt x="7496" y="2120241"/>
                    <a:pt x="0" y="2112745"/>
                    <a:pt x="0" y="2103497"/>
                  </a:cubicBezTo>
                  <a:lnTo>
                    <a:pt x="0" y="16744"/>
                  </a:lnTo>
                  <a:cubicBezTo>
                    <a:pt x="0" y="7496"/>
                    <a:pt x="7496" y="0"/>
                    <a:pt x="16744" y="0"/>
                  </a:cubicBezTo>
                  <a:close/>
                </a:path>
              </a:pathLst>
            </a:custGeom>
            <a:solidFill>
              <a:srgbClr val="000000"/>
            </a:solidFill>
          </p:spPr>
        </p:sp>
        <p:sp>
          <p:nvSpPr>
            <p:cNvPr id="7" name="TextBox 7">
              <a:extLst>
                <a:ext uri="{FF2B5EF4-FFF2-40B4-BE49-F238E27FC236}">
                  <a16:creationId xmlns:a16="http://schemas.microsoft.com/office/drawing/2014/main" id="{735AB4FE-C69E-5CD7-EFC2-CCFE82920A0E}"/>
                </a:ext>
              </a:extLst>
            </p:cNvPr>
            <p:cNvSpPr txBox="1"/>
            <p:nvPr/>
          </p:nvSpPr>
          <p:spPr>
            <a:xfrm>
              <a:off x="0" y="0"/>
              <a:ext cx="2435552" cy="2120241"/>
            </a:xfrm>
            <a:prstGeom prst="rect">
              <a:avLst/>
            </a:prstGeom>
          </p:spPr>
          <p:txBody>
            <a:bodyPr lIns="50800" tIns="50800" rIns="50800" bIns="50800" rtlCol="0" anchor="ctr"/>
            <a:lstStyle/>
            <a:p>
              <a:pPr algn="ctr">
                <a:lnSpc>
                  <a:spcPts val="2520"/>
                </a:lnSpc>
              </a:pPr>
              <a:endParaRPr/>
            </a:p>
          </p:txBody>
        </p:sp>
      </p:grpSp>
      <p:sp>
        <p:nvSpPr>
          <p:cNvPr id="8" name="TextBox 8">
            <a:extLst>
              <a:ext uri="{FF2B5EF4-FFF2-40B4-BE49-F238E27FC236}">
                <a16:creationId xmlns:a16="http://schemas.microsoft.com/office/drawing/2014/main" id="{23280E44-8D29-AE98-3F25-F539812E9483}"/>
              </a:ext>
            </a:extLst>
          </p:cNvPr>
          <p:cNvSpPr txBox="1"/>
          <p:nvPr/>
        </p:nvSpPr>
        <p:spPr>
          <a:xfrm>
            <a:off x="604768" y="5753100"/>
            <a:ext cx="6978231" cy="1923604"/>
          </a:xfrm>
          <a:prstGeom prst="rect">
            <a:avLst/>
          </a:prstGeom>
        </p:spPr>
        <p:txBody>
          <a:bodyPr wrap="square" lIns="0" tIns="0" rIns="0" bIns="0" rtlCol="0" anchor="t">
            <a:spAutoFit/>
          </a:bodyPr>
          <a:lstStyle/>
          <a:p>
            <a:pPr marL="0" lvl="0" indent="0" algn="just"/>
            <a:r>
              <a:rPr lang="en-US" sz="2500" b="1" dirty="0">
                <a:solidFill>
                  <a:srgbClr val="EE4D4D"/>
                </a:solidFill>
                <a:latin typeface="Montaser Arabic Bold"/>
                <a:cs typeface="Montaser Arabic Bold"/>
                <a:sym typeface="Inter"/>
              </a:rPr>
              <a:t>Brainstorming was used to generate ideas based on user feedback and expert input. It helped transform collected data into practical features and system design decisions for the application.</a:t>
            </a:r>
          </a:p>
        </p:txBody>
      </p:sp>
      <p:sp>
        <p:nvSpPr>
          <p:cNvPr id="9" name="TextBox 9">
            <a:extLst>
              <a:ext uri="{FF2B5EF4-FFF2-40B4-BE49-F238E27FC236}">
                <a16:creationId xmlns:a16="http://schemas.microsoft.com/office/drawing/2014/main" id="{D4ADC88A-3494-411F-B22B-8D7A693CB8EE}"/>
              </a:ext>
            </a:extLst>
          </p:cNvPr>
          <p:cNvSpPr txBox="1"/>
          <p:nvPr/>
        </p:nvSpPr>
        <p:spPr>
          <a:xfrm>
            <a:off x="665140" y="1752544"/>
            <a:ext cx="7710233" cy="1231106"/>
          </a:xfrm>
          <a:prstGeom prst="rect">
            <a:avLst/>
          </a:prstGeom>
        </p:spPr>
        <p:txBody>
          <a:bodyPr wrap="square" lIns="0" tIns="0" rIns="0" bIns="0" rtlCol="0" anchor="t">
            <a:spAutoFit/>
          </a:bodyPr>
          <a:lstStyle/>
          <a:p>
            <a:pPr algn="l"/>
            <a:r>
              <a:rPr lang="en-US" sz="8000" b="1" dirty="0">
                <a:solidFill>
                  <a:srgbClr val="FFFFFF"/>
                </a:solidFill>
                <a:latin typeface="Montaser Arabic Bold"/>
                <a:ea typeface="Montaser Arabic Bold"/>
                <a:cs typeface="Montaser Arabic Bold"/>
                <a:sym typeface="Montaser Arabic Bold"/>
              </a:rPr>
              <a:t>Brainstorming</a:t>
            </a:r>
          </a:p>
        </p:txBody>
      </p:sp>
      <p:sp>
        <p:nvSpPr>
          <p:cNvPr id="12" name="TextBox 12">
            <a:extLst>
              <a:ext uri="{FF2B5EF4-FFF2-40B4-BE49-F238E27FC236}">
                <a16:creationId xmlns:a16="http://schemas.microsoft.com/office/drawing/2014/main" id="{C9E25C4E-E871-4E9F-2028-C479850EAAC4}"/>
              </a:ext>
            </a:extLst>
          </p:cNvPr>
          <p:cNvSpPr txBox="1"/>
          <p:nvPr/>
        </p:nvSpPr>
        <p:spPr>
          <a:xfrm>
            <a:off x="9040514" y="1884340"/>
            <a:ext cx="7124829" cy="361950"/>
          </a:xfrm>
          <a:prstGeom prst="rect">
            <a:avLst/>
          </a:prstGeom>
        </p:spPr>
        <p:txBody>
          <a:bodyPr lIns="0" tIns="0" rIns="0" bIns="0" rtlCol="0" anchor="t">
            <a:spAutoFit/>
          </a:bodyPr>
          <a:lstStyle/>
          <a:p>
            <a:pPr algn="l">
              <a:lnSpc>
                <a:spcPts val="2879"/>
              </a:lnSpc>
            </a:pPr>
            <a:r>
              <a:rPr lang="en-US" sz="2400" dirty="0">
                <a:solidFill>
                  <a:srgbClr val="FFFFFF"/>
                </a:solidFill>
                <a:latin typeface="Inter"/>
                <a:ea typeface="Inter"/>
                <a:cs typeface="Inter"/>
                <a:sym typeface="Inter"/>
              </a:rPr>
              <a:t>We considered:</a:t>
            </a:r>
          </a:p>
        </p:txBody>
      </p:sp>
      <p:sp>
        <p:nvSpPr>
          <p:cNvPr id="16" name="TextBox 15">
            <a:extLst>
              <a:ext uri="{FF2B5EF4-FFF2-40B4-BE49-F238E27FC236}">
                <a16:creationId xmlns:a16="http://schemas.microsoft.com/office/drawing/2014/main" id="{981EB4C5-A835-A22A-33D8-49743A547044}"/>
              </a:ext>
            </a:extLst>
          </p:cNvPr>
          <p:cNvSpPr txBox="1"/>
          <p:nvPr/>
        </p:nvSpPr>
        <p:spPr>
          <a:xfrm>
            <a:off x="8870432" y="2246290"/>
            <a:ext cx="8257370" cy="6683048"/>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400" dirty="0">
                <a:solidFill>
                  <a:schemeClr val="bg2"/>
                </a:solidFill>
              </a:rPr>
              <a:t>What should happen when a user opens the app?</a:t>
            </a:r>
          </a:p>
          <a:p>
            <a:pPr marL="457200" indent="-457200">
              <a:lnSpc>
                <a:spcPct val="150000"/>
              </a:lnSpc>
              <a:buFont typeface="Wingdings" panose="05000000000000000000" pitchFamily="2" charset="2"/>
              <a:buChar char="Ø"/>
            </a:pPr>
            <a:r>
              <a:rPr lang="en-US" sz="2400" dirty="0">
                <a:solidFill>
                  <a:schemeClr val="bg2"/>
                </a:solidFill>
              </a:rPr>
              <a:t>Should the app start with dashboard scanning, sound recording, or a home menu?</a:t>
            </a:r>
          </a:p>
          <a:p>
            <a:pPr marL="457200" indent="-457200">
              <a:lnSpc>
                <a:spcPct val="150000"/>
              </a:lnSpc>
              <a:buFont typeface="Wingdings" panose="05000000000000000000" pitchFamily="2" charset="2"/>
              <a:buChar char="Ø"/>
            </a:pPr>
            <a:r>
              <a:rPr lang="en-US" sz="2400" dirty="0">
                <a:solidFill>
                  <a:schemeClr val="bg2"/>
                </a:solidFill>
              </a:rPr>
              <a:t>How should results be displayed to non-technical users?</a:t>
            </a:r>
          </a:p>
          <a:p>
            <a:pPr marL="457200" indent="-457200">
              <a:lnSpc>
                <a:spcPct val="150000"/>
              </a:lnSpc>
              <a:buFont typeface="Wingdings" panose="05000000000000000000" pitchFamily="2" charset="2"/>
              <a:buChar char="Ø"/>
            </a:pPr>
            <a:r>
              <a:rPr lang="en-US" sz="2400" dirty="0">
                <a:solidFill>
                  <a:schemeClr val="bg2"/>
                </a:solidFill>
              </a:rPr>
              <a:t> What information should be shown after a warning light is detected?</a:t>
            </a:r>
          </a:p>
          <a:p>
            <a:pPr marL="457200" indent="-457200">
              <a:lnSpc>
                <a:spcPct val="150000"/>
              </a:lnSpc>
              <a:buFont typeface="Wingdings" panose="05000000000000000000" pitchFamily="2" charset="2"/>
              <a:buChar char="Ø"/>
            </a:pPr>
            <a:r>
              <a:rPr lang="en-US" sz="2400" dirty="0">
                <a:solidFill>
                  <a:schemeClr val="bg2"/>
                </a:solidFill>
              </a:rPr>
              <a:t>How can the app show urgency clearly?</a:t>
            </a:r>
          </a:p>
          <a:p>
            <a:pPr marL="457200" indent="-457200">
              <a:lnSpc>
                <a:spcPct val="150000"/>
              </a:lnSpc>
              <a:buFont typeface="Wingdings" panose="05000000000000000000" pitchFamily="2" charset="2"/>
              <a:buChar char="Ø"/>
            </a:pPr>
            <a:r>
              <a:rPr lang="en-US" sz="2400" dirty="0">
                <a:solidFill>
                  <a:schemeClr val="bg2"/>
                </a:solidFill>
              </a:rPr>
              <a:t>Should the app work offline?</a:t>
            </a:r>
          </a:p>
          <a:p>
            <a:pPr marL="457200" indent="-457200">
              <a:lnSpc>
                <a:spcPct val="150000"/>
              </a:lnSpc>
              <a:buFont typeface="Wingdings" panose="05000000000000000000" pitchFamily="2" charset="2"/>
              <a:buChar char="Ø"/>
            </a:pPr>
            <a:r>
              <a:rPr lang="en-US" sz="2400" dirty="0">
                <a:solidFill>
                  <a:schemeClr val="bg2"/>
                </a:solidFill>
              </a:rPr>
              <a:t>How can mechanic confirmation be encouraged without making the app seem useless?</a:t>
            </a:r>
          </a:p>
          <a:p>
            <a:pPr marL="457200" indent="-457200">
              <a:lnSpc>
                <a:spcPct val="150000"/>
              </a:lnSpc>
              <a:buFont typeface="Wingdings" panose="05000000000000000000" pitchFamily="2" charset="2"/>
              <a:buChar char="Ø"/>
            </a:pPr>
            <a:r>
              <a:rPr lang="en-US" sz="2400" dirty="0">
                <a:solidFill>
                  <a:schemeClr val="bg2"/>
                </a:solidFill>
              </a:rPr>
              <a:t>What features should be included in the first version?</a:t>
            </a:r>
          </a:p>
          <a:p>
            <a:pPr marL="457200" indent="-457200">
              <a:lnSpc>
                <a:spcPct val="150000"/>
              </a:lnSpc>
              <a:buFont typeface="Wingdings" panose="05000000000000000000" pitchFamily="2" charset="2"/>
              <a:buChar char="Ø"/>
            </a:pPr>
            <a:r>
              <a:rPr lang="en-US" sz="2400" dirty="0">
                <a:solidFill>
                  <a:schemeClr val="bg2"/>
                </a:solidFill>
              </a:rPr>
              <a:t>What features should be postponed to future versions?</a:t>
            </a:r>
          </a:p>
        </p:txBody>
      </p:sp>
    </p:spTree>
    <p:extLst>
      <p:ext uri="{BB962C8B-B14F-4D97-AF65-F5344CB8AC3E}">
        <p14:creationId xmlns:p14="http://schemas.microsoft.com/office/powerpoint/2010/main" val="2674594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15970E8-139F-DBA8-AD9F-65F550F41DB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AF6FD4-DB5E-812C-187D-72B2C3E7941D}"/>
              </a:ext>
            </a:extLst>
          </p:cNvPr>
          <p:cNvGrpSpPr/>
          <p:nvPr/>
        </p:nvGrpSpPr>
        <p:grpSpPr>
          <a:xfrm>
            <a:off x="671279" y="928"/>
            <a:ext cx="17177593" cy="8956719"/>
            <a:chOff x="951" y="-102904"/>
            <a:chExt cx="2661259" cy="1387630"/>
          </a:xfrm>
        </p:grpSpPr>
        <p:sp>
          <p:nvSpPr>
            <p:cNvPr id="3" name="Freeform 3">
              <a:extLst>
                <a:ext uri="{FF2B5EF4-FFF2-40B4-BE49-F238E27FC236}">
                  <a16:creationId xmlns:a16="http://schemas.microsoft.com/office/drawing/2014/main" id="{37E7F7E5-1DD5-BA41-B4AC-81CA4A587BAB}"/>
                </a:ext>
              </a:extLst>
            </p:cNvPr>
            <p:cNvSpPr/>
            <p:nvPr/>
          </p:nvSpPr>
          <p:spPr>
            <a:xfrm>
              <a:off x="951" y="-102904"/>
              <a:ext cx="2661259" cy="1387630"/>
            </a:xfrm>
            <a:custGeom>
              <a:avLst/>
              <a:gdLst/>
              <a:ahLst/>
              <a:cxnLst/>
              <a:rect l="l" t="t" r="r" b="b"/>
              <a:pathLst>
                <a:path w="2661259" h="1387630">
                  <a:moveTo>
                    <a:pt x="9014" y="0"/>
                  </a:moveTo>
                  <a:lnTo>
                    <a:pt x="2652245" y="0"/>
                  </a:lnTo>
                  <a:cubicBezTo>
                    <a:pt x="2654635" y="0"/>
                    <a:pt x="2656928" y="950"/>
                    <a:pt x="2658619" y="2640"/>
                  </a:cubicBezTo>
                  <a:cubicBezTo>
                    <a:pt x="2660309" y="4331"/>
                    <a:pt x="2661259" y="6623"/>
                    <a:pt x="2661259" y="9014"/>
                  </a:cubicBezTo>
                  <a:lnTo>
                    <a:pt x="2661259" y="1378616"/>
                  </a:lnTo>
                  <a:cubicBezTo>
                    <a:pt x="2661259" y="1381007"/>
                    <a:pt x="2660309" y="1383300"/>
                    <a:pt x="2658619" y="1384990"/>
                  </a:cubicBezTo>
                  <a:cubicBezTo>
                    <a:pt x="2656928" y="1386680"/>
                    <a:pt x="2654635" y="1387630"/>
                    <a:pt x="2652245" y="1387630"/>
                  </a:cubicBezTo>
                  <a:lnTo>
                    <a:pt x="9014" y="1387630"/>
                  </a:lnTo>
                  <a:cubicBezTo>
                    <a:pt x="6623" y="1387630"/>
                    <a:pt x="4331" y="1386680"/>
                    <a:pt x="2640" y="1384990"/>
                  </a:cubicBezTo>
                  <a:cubicBezTo>
                    <a:pt x="950" y="1383300"/>
                    <a:pt x="0" y="1381007"/>
                    <a:pt x="0" y="1378616"/>
                  </a:cubicBezTo>
                  <a:lnTo>
                    <a:pt x="0" y="9014"/>
                  </a:lnTo>
                  <a:cubicBezTo>
                    <a:pt x="0" y="6623"/>
                    <a:pt x="950" y="4331"/>
                    <a:pt x="2640" y="2640"/>
                  </a:cubicBezTo>
                  <a:cubicBezTo>
                    <a:pt x="4331" y="950"/>
                    <a:pt x="6623" y="0"/>
                    <a:pt x="9014" y="0"/>
                  </a:cubicBezTo>
                  <a:close/>
                </a:path>
              </a:pathLst>
            </a:custGeom>
            <a:blipFill>
              <a:blip r:embed="rId2"/>
              <a:stretch>
                <a:fillRect l="-32139" t="-33689" r="-2766" b="-39012"/>
              </a:stretch>
            </a:blipFill>
          </p:spPr>
          <p:txBody>
            <a:bodyPr/>
            <a:lstStyle/>
            <a:p>
              <a:r>
                <a:rPr lang="en-US" sz="9600" dirty="0">
                  <a:solidFill>
                    <a:schemeClr val="bg1"/>
                  </a:solidFill>
                </a:rPr>
                <a:t>Summary of Key Findings</a:t>
              </a:r>
            </a:p>
          </p:txBody>
        </p:sp>
      </p:grpSp>
      <p:grpSp>
        <p:nvGrpSpPr>
          <p:cNvPr id="6" name="Group 8">
            <a:extLst>
              <a:ext uri="{FF2B5EF4-FFF2-40B4-BE49-F238E27FC236}">
                <a16:creationId xmlns:a16="http://schemas.microsoft.com/office/drawing/2014/main" id="{FBFEE634-A216-61B1-1FB5-72B6F3B1D10C}"/>
              </a:ext>
            </a:extLst>
          </p:cNvPr>
          <p:cNvGrpSpPr/>
          <p:nvPr/>
        </p:nvGrpSpPr>
        <p:grpSpPr>
          <a:xfrm>
            <a:off x="9516418" y="1618597"/>
            <a:ext cx="4322326" cy="3858860"/>
            <a:chOff x="0" y="0"/>
            <a:chExt cx="1138390" cy="1016325"/>
          </a:xfrm>
        </p:grpSpPr>
        <p:sp>
          <p:nvSpPr>
            <p:cNvPr id="7" name="Freeform 9">
              <a:extLst>
                <a:ext uri="{FF2B5EF4-FFF2-40B4-BE49-F238E27FC236}">
                  <a16:creationId xmlns:a16="http://schemas.microsoft.com/office/drawing/2014/main" id="{4CD7727E-C5CE-1688-7AF2-17BAFAE58DFD}"/>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sp>
        <p:sp>
          <p:nvSpPr>
            <p:cNvPr id="8" name="TextBox 10">
              <a:extLst>
                <a:ext uri="{FF2B5EF4-FFF2-40B4-BE49-F238E27FC236}">
                  <a16:creationId xmlns:a16="http://schemas.microsoft.com/office/drawing/2014/main" id="{008918FF-D3CC-71EE-8E35-9EF54AF43909}"/>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grpSp>
        <p:nvGrpSpPr>
          <p:cNvPr id="9" name="Group 8">
            <a:extLst>
              <a:ext uri="{FF2B5EF4-FFF2-40B4-BE49-F238E27FC236}">
                <a16:creationId xmlns:a16="http://schemas.microsoft.com/office/drawing/2014/main" id="{1D71217A-5C76-5161-DFDB-6D4E4D80DE21}"/>
              </a:ext>
            </a:extLst>
          </p:cNvPr>
          <p:cNvGrpSpPr/>
          <p:nvPr/>
        </p:nvGrpSpPr>
        <p:grpSpPr>
          <a:xfrm>
            <a:off x="5108587" y="1651721"/>
            <a:ext cx="4322326" cy="3858860"/>
            <a:chOff x="0" y="0"/>
            <a:chExt cx="1138390" cy="1016325"/>
          </a:xfrm>
        </p:grpSpPr>
        <p:sp>
          <p:nvSpPr>
            <p:cNvPr id="10" name="Freeform 9">
              <a:extLst>
                <a:ext uri="{FF2B5EF4-FFF2-40B4-BE49-F238E27FC236}">
                  <a16:creationId xmlns:a16="http://schemas.microsoft.com/office/drawing/2014/main" id="{715BEF35-602F-A508-E74E-A0EC0BFFB7CF}"/>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sp>
        <p:sp>
          <p:nvSpPr>
            <p:cNvPr id="11" name="TextBox 10">
              <a:extLst>
                <a:ext uri="{FF2B5EF4-FFF2-40B4-BE49-F238E27FC236}">
                  <a16:creationId xmlns:a16="http://schemas.microsoft.com/office/drawing/2014/main" id="{4AAF7938-EE81-ABAF-4F47-4F2F5922113C}"/>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grpSp>
        <p:nvGrpSpPr>
          <p:cNvPr id="12" name="Group 8">
            <a:extLst>
              <a:ext uri="{FF2B5EF4-FFF2-40B4-BE49-F238E27FC236}">
                <a16:creationId xmlns:a16="http://schemas.microsoft.com/office/drawing/2014/main" id="{384DEDBA-2EF6-F1B9-C2EA-55F829F1E725}"/>
              </a:ext>
            </a:extLst>
          </p:cNvPr>
          <p:cNvGrpSpPr/>
          <p:nvPr/>
        </p:nvGrpSpPr>
        <p:grpSpPr>
          <a:xfrm>
            <a:off x="671282" y="1571569"/>
            <a:ext cx="4322326" cy="3858860"/>
            <a:chOff x="0" y="0"/>
            <a:chExt cx="1138390" cy="1016325"/>
          </a:xfrm>
        </p:grpSpPr>
        <p:sp>
          <p:nvSpPr>
            <p:cNvPr id="13" name="Freeform 9">
              <a:extLst>
                <a:ext uri="{FF2B5EF4-FFF2-40B4-BE49-F238E27FC236}">
                  <a16:creationId xmlns:a16="http://schemas.microsoft.com/office/drawing/2014/main" id="{9E2782F1-3606-251E-BFC0-272B0C49DF9B}"/>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txBody>
            <a:bodyPr/>
            <a:lstStyle/>
            <a:p>
              <a:endParaRPr lang="en-US" dirty="0"/>
            </a:p>
          </p:txBody>
        </p:sp>
        <p:sp>
          <p:nvSpPr>
            <p:cNvPr id="14" name="TextBox 10">
              <a:extLst>
                <a:ext uri="{FF2B5EF4-FFF2-40B4-BE49-F238E27FC236}">
                  <a16:creationId xmlns:a16="http://schemas.microsoft.com/office/drawing/2014/main" id="{07FBB59B-0615-8927-4315-0E78A8E6BB74}"/>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grpSp>
        <p:nvGrpSpPr>
          <p:cNvPr id="15" name="Group 8">
            <a:extLst>
              <a:ext uri="{FF2B5EF4-FFF2-40B4-BE49-F238E27FC236}">
                <a16:creationId xmlns:a16="http://schemas.microsoft.com/office/drawing/2014/main" id="{1E7EB438-B3A6-97F3-E2AF-D6F7D84F9E42}"/>
              </a:ext>
            </a:extLst>
          </p:cNvPr>
          <p:cNvGrpSpPr/>
          <p:nvPr/>
        </p:nvGrpSpPr>
        <p:grpSpPr>
          <a:xfrm>
            <a:off x="13924249" y="1535435"/>
            <a:ext cx="4322326" cy="3858860"/>
            <a:chOff x="0" y="0"/>
            <a:chExt cx="1138390" cy="1016325"/>
          </a:xfrm>
        </p:grpSpPr>
        <p:sp>
          <p:nvSpPr>
            <p:cNvPr id="16" name="Freeform 9">
              <a:extLst>
                <a:ext uri="{FF2B5EF4-FFF2-40B4-BE49-F238E27FC236}">
                  <a16:creationId xmlns:a16="http://schemas.microsoft.com/office/drawing/2014/main" id="{C0A40169-CF6D-F1E0-8BD9-CCFDEB4DD529}"/>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sp>
        <p:sp>
          <p:nvSpPr>
            <p:cNvPr id="17" name="TextBox 10">
              <a:extLst>
                <a:ext uri="{FF2B5EF4-FFF2-40B4-BE49-F238E27FC236}">
                  <a16:creationId xmlns:a16="http://schemas.microsoft.com/office/drawing/2014/main" id="{A5A5271F-5AA9-F13C-D6D3-774DA7041DDF}"/>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grpSp>
        <p:nvGrpSpPr>
          <p:cNvPr id="18" name="Group 8">
            <a:extLst>
              <a:ext uri="{FF2B5EF4-FFF2-40B4-BE49-F238E27FC236}">
                <a16:creationId xmlns:a16="http://schemas.microsoft.com/office/drawing/2014/main" id="{1D032AFE-AD04-F88F-82FD-B843BEECBD0C}"/>
              </a:ext>
            </a:extLst>
          </p:cNvPr>
          <p:cNvGrpSpPr/>
          <p:nvPr/>
        </p:nvGrpSpPr>
        <p:grpSpPr>
          <a:xfrm>
            <a:off x="9502479" y="5602697"/>
            <a:ext cx="4322326" cy="3858860"/>
            <a:chOff x="0" y="0"/>
            <a:chExt cx="1138390" cy="1016325"/>
          </a:xfrm>
        </p:grpSpPr>
        <p:sp>
          <p:nvSpPr>
            <p:cNvPr id="19" name="Freeform 9">
              <a:extLst>
                <a:ext uri="{FF2B5EF4-FFF2-40B4-BE49-F238E27FC236}">
                  <a16:creationId xmlns:a16="http://schemas.microsoft.com/office/drawing/2014/main" id="{D607261D-6EA0-CF34-FE67-A2E729DA9144}"/>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sp>
        <p:sp>
          <p:nvSpPr>
            <p:cNvPr id="20" name="TextBox 10">
              <a:extLst>
                <a:ext uri="{FF2B5EF4-FFF2-40B4-BE49-F238E27FC236}">
                  <a16:creationId xmlns:a16="http://schemas.microsoft.com/office/drawing/2014/main" id="{D887396F-64CD-CD9A-3FEF-2A5D17EC996F}"/>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grpSp>
        <p:nvGrpSpPr>
          <p:cNvPr id="21" name="Group 8">
            <a:extLst>
              <a:ext uri="{FF2B5EF4-FFF2-40B4-BE49-F238E27FC236}">
                <a16:creationId xmlns:a16="http://schemas.microsoft.com/office/drawing/2014/main" id="{CBAF1B94-0FF3-FEBB-67C3-FEAC7EB511F4}"/>
              </a:ext>
            </a:extLst>
          </p:cNvPr>
          <p:cNvGrpSpPr/>
          <p:nvPr/>
        </p:nvGrpSpPr>
        <p:grpSpPr>
          <a:xfrm>
            <a:off x="13924249" y="5582829"/>
            <a:ext cx="4322326" cy="3858860"/>
            <a:chOff x="0" y="0"/>
            <a:chExt cx="1138390" cy="1016325"/>
          </a:xfrm>
        </p:grpSpPr>
        <p:sp>
          <p:nvSpPr>
            <p:cNvPr id="22" name="Freeform 9">
              <a:extLst>
                <a:ext uri="{FF2B5EF4-FFF2-40B4-BE49-F238E27FC236}">
                  <a16:creationId xmlns:a16="http://schemas.microsoft.com/office/drawing/2014/main" id="{FD11A1D6-D384-DB5F-8E30-3DB1E45A6170}"/>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sp>
        <p:sp>
          <p:nvSpPr>
            <p:cNvPr id="23" name="TextBox 10">
              <a:extLst>
                <a:ext uri="{FF2B5EF4-FFF2-40B4-BE49-F238E27FC236}">
                  <a16:creationId xmlns:a16="http://schemas.microsoft.com/office/drawing/2014/main" id="{62BAD3A1-FB83-CD11-9A2A-AD34771FCC38}"/>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grpSp>
        <p:nvGrpSpPr>
          <p:cNvPr id="24" name="Group 8">
            <a:extLst>
              <a:ext uri="{FF2B5EF4-FFF2-40B4-BE49-F238E27FC236}">
                <a16:creationId xmlns:a16="http://schemas.microsoft.com/office/drawing/2014/main" id="{CD7F991D-F0BB-7ECA-A577-8FA24D78448F}"/>
              </a:ext>
            </a:extLst>
          </p:cNvPr>
          <p:cNvGrpSpPr/>
          <p:nvPr/>
        </p:nvGrpSpPr>
        <p:grpSpPr>
          <a:xfrm>
            <a:off x="5080709" y="5602697"/>
            <a:ext cx="4322326" cy="3858860"/>
            <a:chOff x="0" y="0"/>
            <a:chExt cx="1138390" cy="1016325"/>
          </a:xfrm>
        </p:grpSpPr>
        <p:sp>
          <p:nvSpPr>
            <p:cNvPr id="25" name="Freeform 9">
              <a:extLst>
                <a:ext uri="{FF2B5EF4-FFF2-40B4-BE49-F238E27FC236}">
                  <a16:creationId xmlns:a16="http://schemas.microsoft.com/office/drawing/2014/main" id="{762DB6B8-2CA1-EACF-40AE-A03D64054F0B}"/>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sp>
        <p:sp>
          <p:nvSpPr>
            <p:cNvPr id="26" name="TextBox 10">
              <a:extLst>
                <a:ext uri="{FF2B5EF4-FFF2-40B4-BE49-F238E27FC236}">
                  <a16:creationId xmlns:a16="http://schemas.microsoft.com/office/drawing/2014/main" id="{AFF37666-39EC-ACEB-B2AC-CC099B124681}"/>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grpSp>
        <p:nvGrpSpPr>
          <p:cNvPr id="27" name="Group 8">
            <a:extLst>
              <a:ext uri="{FF2B5EF4-FFF2-40B4-BE49-F238E27FC236}">
                <a16:creationId xmlns:a16="http://schemas.microsoft.com/office/drawing/2014/main" id="{8BB33712-9F49-7E4C-2593-D40241AD805F}"/>
              </a:ext>
            </a:extLst>
          </p:cNvPr>
          <p:cNvGrpSpPr/>
          <p:nvPr/>
        </p:nvGrpSpPr>
        <p:grpSpPr>
          <a:xfrm>
            <a:off x="671282" y="5582829"/>
            <a:ext cx="4322326" cy="3858860"/>
            <a:chOff x="0" y="0"/>
            <a:chExt cx="1138390" cy="1016325"/>
          </a:xfrm>
        </p:grpSpPr>
        <p:sp>
          <p:nvSpPr>
            <p:cNvPr id="28" name="Freeform 9">
              <a:extLst>
                <a:ext uri="{FF2B5EF4-FFF2-40B4-BE49-F238E27FC236}">
                  <a16:creationId xmlns:a16="http://schemas.microsoft.com/office/drawing/2014/main" id="{6EFBE1BB-DD3F-EC85-A223-0EF3A17BC78C}"/>
                </a:ext>
              </a:extLst>
            </p:cNvPr>
            <p:cNvSpPr/>
            <p:nvPr/>
          </p:nvSpPr>
          <p:spPr>
            <a:xfrm>
              <a:off x="0" y="0"/>
              <a:ext cx="1138390" cy="1016325"/>
            </a:xfrm>
            <a:custGeom>
              <a:avLst/>
              <a:gdLst/>
              <a:ahLst/>
              <a:cxnLst/>
              <a:rect l="l" t="t" r="r" b="b"/>
              <a:pathLst>
                <a:path w="1138390" h="1016325">
                  <a:moveTo>
                    <a:pt x="35823" y="0"/>
                  </a:moveTo>
                  <a:lnTo>
                    <a:pt x="1102567" y="0"/>
                  </a:lnTo>
                  <a:cubicBezTo>
                    <a:pt x="1112068" y="0"/>
                    <a:pt x="1121180" y="3774"/>
                    <a:pt x="1127898" y="10492"/>
                  </a:cubicBezTo>
                  <a:cubicBezTo>
                    <a:pt x="1134616" y="17210"/>
                    <a:pt x="1138390" y="26322"/>
                    <a:pt x="1138390" y="35823"/>
                  </a:cubicBezTo>
                  <a:lnTo>
                    <a:pt x="1138390" y="980502"/>
                  </a:lnTo>
                  <a:cubicBezTo>
                    <a:pt x="1138390" y="990003"/>
                    <a:pt x="1134616" y="999115"/>
                    <a:pt x="1127898" y="1005833"/>
                  </a:cubicBezTo>
                  <a:cubicBezTo>
                    <a:pt x="1121180" y="1012551"/>
                    <a:pt x="1112068" y="1016325"/>
                    <a:pt x="1102567" y="1016325"/>
                  </a:cubicBezTo>
                  <a:lnTo>
                    <a:pt x="35823" y="1016325"/>
                  </a:lnTo>
                  <a:cubicBezTo>
                    <a:pt x="26322" y="1016325"/>
                    <a:pt x="17210" y="1012551"/>
                    <a:pt x="10492" y="1005833"/>
                  </a:cubicBezTo>
                  <a:cubicBezTo>
                    <a:pt x="3774" y="999115"/>
                    <a:pt x="0" y="990003"/>
                    <a:pt x="0" y="980502"/>
                  </a:cubicBezTo>
                  <a:lnTo>
                    <a:pt x="0" y="35823"/>
                  </a:lnTo>
                  <a:cubicBezTo>
                    <a:pt x="0" y="26322"/>
                    <a:pt x="3774" y="17210"/>
                    <a:pt x="10492" y="10492"/>
                  </a:cubicBezTo>
                  <a:cubicBezTo>
                    <a:pt x="17210" y="3774"/>
                    <a:pt x="26322" y="0"/>
                    <a:pt x="35823" y="0"/>
                  </a:cubicBezTo>
                  <a:close/>
                </a:path>
              </a:pathLst>
            </a:custGeom>
            <a:solidFill>
              <a:srgbClr val="FFFFFF"/>
            </a:solidFill>
          </p:spPr>
        </p:sp>
        <p:sp>
          <p:nvSpPr>
            <p:cNvPr id="29" name="TextBox 10">
              <a:extLst>
                <a:ext uri="{FF2B5EF4-FFF2-40B4-BE49-F238E27FC236}">
                  <a16:creationId xmlns:a16="http://schemas.microsoft.com/office/drawing/2014/main" id="{C76D85BB-578B-C486-3096-68E2C085B719}"/>
                </a:ext>
              </a:extLst>
            </p:cNvPr>
            <p:cNvSpPr txBox="1"/>
            <p:nvPr/>
          </p:nvSpPr>
          <p:spPr>
            <a:xfrm>
              <a:off x="0" y="0"/>
              <a:ext cx="1138390" cy="1016325"/>
            </a:xfrm>
            <a:prstGeom prst="rect">
              <a:avLst/>
            </a:prstGeom>
          </p:spPr>
          <p:txBody>
            <a:bodyPr lIns="50800" tIns="50800" rIns="50800" bIns="50800" rtlCol="0" anchor="ctr"/>
            <a:lstStyle/>
            <a:p>
              <a:pPr algn="ctr">
                <a:lnSpc>
                  <a:spcPts val="2520"/>
                </a:lnSpc>
              </a:pPr>
              <a:endParaRPr/>
            </a:p>
          </p:txBody>
        </p:sp>
      </p:grpSp>
      <p:sp>
        <p:nvSpPr>
          <p:cNvPr id="31" name="TextBox 30">
            <a:extLst>
              <a:ext uri="{FF2B5EF4-FFF2-40B4-BE49-F238E27FC236}">
                <a16:creationId xmlns:a16="http://schemas.microsoft.com/office/drawing/2014/main" id="{4523DB83-20CF-B519-9322-7E1E066D5023}"/>
              </a:ext>
            </a:extLst>
          </p:cNvPr>
          <p:cNvSpPr txBox="1"/>
          <p:nvPr/>
        </p:nvSpPr>
        <p:spPr>
          <a:xfrm>
            <a:off x="1098459" y="1651721"/>
            <a:ext cx="3895149" cy="1323439"/>
          </a:xfrm>
          <a:prstGeom prst="rect">
            <a:avLst/>
          </a:prstGeom>
          <a:noFill/>
        </p:spPr>
        <p:txBody>
          <a:bodyPr wrap="square">
            <a:spAutoFit/>
          </a:bodyPr>
          <a:lstStyle/>
          <a:p>
            <a:r>
              <a:rPr lang="en-US" sz="8000" b="1" spc="-431" dirty="0">
                <a:solidFill>
                  <a:srgbClr val="EE4D4D"/>
                </a:solidFill>
                <a:latin typeface="Montaser Arabic Bold"/>
                <a:ea typeface="Montaser Arabic Bold"/>
                <a:cs typeface="Montaser Arabic Bold"/>
                <a:sym typeface="Montaser Arabic Bold"/>
              </a:rPr>
              <a:t>86.2%</a:t>
            </a:r>
            <a:endParaRPr lang="en-US" sz="8000" dirty="0"/>
          </a:p>
        </p:txBody>
      </p:sp>
      <p:sp>
        <p:nvSpPr>
          <p:cNvPr id="32" name="TextBox 31">
            <a:extLst>
              <a:ext uri="{FF2B5EF4-FFF2-40B4-BE49-F238E27FC236}">
                <a16:creationId xmlns:a16="http://schemas.microsoft.com/office/drawing/2014/main" id="{D234055D-7F73-5CF0-8588-9B99EB9FD761}"/>
              </a:ext>
            </a:extLst>
          </p:cNvPr>
          <p:cNvSpPr txBox="1"/>
          <p:nvPr/>
        </p:nvSpPr>
        <p:spPr>
          <a:xfrm>
            <a:off x="1098459" y="3577199"/>
            <a:ext cx="3895149" cy="1294975"/>
          </a:xfrm>
          <a:prstGeom prst="rect">
            <a:avLst/>
          </a:prstGeom>
          <a:noFill/>
        </p:spPr>
        <p:txBody>
          <a:bodyPr wrap="square" rtlCol="0">
            <a:spAutoFit/>
          </a:bodyPr>
          <a:lstStyle/>
          <a:p>
            <a:r>
              <a:rPr lang="en-US" sz="2500" dirty="0"/>
              <a:t>Of respondents had seen a dashboard warning light they did not understand</a:t>
            </a:r>
          </a:p>
        </p:txBody>
      </p:sp>
      <p:sp>
        <p:nvSpPr>
          <p:cNvPr id="34" name="TextBox 33">
            <a:extLst>
              <a:ext uri="{FF2B5EF4-FFF2-40B4-BE49-F238E27FC236}">
                <a16:creationId xmlns:a16="http://schemas.microsoft.com/office/drawing/2014/main" id="{37DD4A99-DA2E-DEC0-0674-BD7492A273E7}"/>
              </a:ext>
            </a:extLst>
          </p:cNvPr>
          <p:cNvSpPr txBox="1"/>
          <p:nvPr/>
        </p:nvSpPr>
        <p:spPr>
          <a:xfrm>
            <a:off x="5420785" y="1651721"/>
            <a:ext cx="9144000" cy="1323439"/>
          </a:xfrm>
          <a:prstGeom prst="rect">
            <a:avLst/>
          </a:prstGeom>
          <a:noFill/>
        </p:spPr>
        <p:txBody>
          <a:bodyPr wrap="square">
            <a:spAutoFit/>
          </a:bodyPr>
          <a:lstStyle/>
          <a:p>
            <a:r>
              <a:rPr lang="en-US" sz="8000" b="1" spc="-431" dirty="0">
                <a:solidFill>
                  <a:srgbClr val="EE4D4D"/>
                </a:solidFill>
                <a:latin typeface="Montaser Arabic Bold"/>
                <a:ea typeface="Montaser Arabic Bold"/>
                <a:cs typeface="Montaser Arabic Bold"/>
                <a:sym typeface="Montaser Arabic Bold"/>
              </a:rPr>
              <a:t>86.2%</a:t>
            </a:r>
            <a:endParaRPr lang="en-US" sz="8000" dirty="0"/>
          </a:p>
        </p:txBody>
      </p:sp>
      <p:sp>
        <p:nvSpPr>
          <p:cNvPr id="35" name="TextBox 34">
            <a:extLst>
              <a:ext uri="{FF2B5EF4-FFF2-40B4-BE49-F238E27FC236}">
                <a16:creationId xmlns:a16="http://schemas.microsoft.com/office/drawing/2014/main" id="{C424BE1D-228C-85CF-BEC3-6CD7BD0FAA8E}"/>
              </a:ext>
            </a:extLst>
          </p:cNvPr>
          <p:cNvSpPr txBox="1"/>
          <p:nvPr/>
        </p:nvSpPr>
        <p:spPr>
          <a:xfrm>
            <a:off x="5108587" y="3647052"/>
            <a:ext cx="3723215" cy="1246495"/>
          </a:xfrm>
          <a:prstGeom prst="rect">
            <a:avLst/>
          </a:prstGeom>
          <a:noFill/>
        </p:spPr>
        <p:txBody>
          <a:bodyPr wrap="square" rtlCol="0">
            <a:spAutoFit/>
          </a:bodyPr>
          <a:lstStyle/>
          <a:p>
            <a:r>
              <a:rPr lang="en-US" sz="2500" dirty="0"/>
              <a:t>Had heard an unusual engine sound they could not identify</a:t>
            </a:r>
          </a:p>
        </p:txBody>
      </p:sp>
      <p:sp>
        <p:nvSpPr>
          <p:cNvPr id="36" name="TextBox 35">
            <a:extLst>
              <a:ext uri="{FF2B5EF4-FFF2-40B4-BE49-F238E27FC236}">
                <a16:creationId xmlns:a16="http://schemas.microsoft.com/office/drawing/2014/main" id="{B292C2DD-B824-78A4-9154-F5B37EBA574C}"/>
              </a:ext>
            </a:extLst>
          </p:cNvPr>
          <p:cNvSpPr txBox="1"/>
          <p:nvPr/>
        </p:nvSpPr>
        <p:spPr>
          <a:xfrm>
            <a:off x="9998361" y="1714341"/>
            <a:ext cx="3584216" cy="1323439"/>
          </a:xfrm>
          <a:prstGeom prst="rect">
            <a:avLst/>
          </a:prstGeom>
          <a:noFill/>
        </p:spPr>
        <p:txBody>
          <a:bodyPr wrap="square" rtlCol="0">
            <a:spAutoFit/>
          </a:bodyPr>
          <a:lstStyle/>
          <a:p>
            <a:r>
              <a:rPr lang="en-US" sz="8000" b="1" spc="-431" dirty="0">
                <a:solidFill>
                  <a:srgbClr val="EE4D4D"/>
                </a:solidFill>
                <a:latin typeface="Montaser Arabic Bold"/>
                <a:cs typeface="Montaser Arabic Bold"/>
              </a:rPr>
              <a:t>62.1%</a:t>
            </a:r>
          </a:p>
        </p:txBody>
      </p:sp>
      <p:sp>
        <p:nvSpPr>
          <p:cNvPr id="37" name="TextBox 36">
            <a:extLst>
              <a:ext uri="{FF2B5EF4-FFF2-40B4-BE49-F238E27FC236}">
                <a16:creationId xmlns:a16="http://schemas.microsoft.com/office/drawing/2014/main" id="{C011BFB9-FB21-C82B-D51E-301334FFFDA6}"/>
              </a:ext>
            </a:extLst>
          </p:cNvPr>
          <p:cNvSpPr txBox="1"/>
          <p:nvPr/>
        </p:nvSpPr>
        <p:spPr>
          <a:xfrm>
            <a:off x="9823040" y="3577199"/>
            <a:ext cx="3674032" cy="1246495"/>
          </a:xfrm>
          <a:prstGeom prst="rect">
            <a:avLst/>
          </a:prstGeom>
          <a:noFill/>
        </p:spPr>
        <p:txBody>
          <a:bodyPr wrap="square" rtlCol="0">
            <a:spAutoFit/>
          </a:bodyPr>
          <a:lstStyle/>
          <a:p>
            <a:r>
              <a:rPr lang="en-US" sz="2500" dirty="0"/>
              <a:t>Had ignore warning lights because they did not understand them </a:t>
            </a:r>
          </a:p>
        </p:txBody>
      </p:sp>
      <p:sp>
        <p:nvSpPr>
          <p:cNvPr id="39" name="TextBox 38">
            <a:extLst>
              <a:ext uri="{FF2B5EF4-FFF2-40B4-BE49-F238E27FC236}">
                <a16:creationId xmlns:a16="http://schemas.microsoft.com/office/drawing/2014/main" id="{19B3C86F-D47C-C123-37B3-8C3E1058CC1B}"/>
              </a:ext>
            </a:extLst>
          </p:cNvPr>
          <p:cNvSpPr txBox="1"/>
          <p:nvPr/>
        </p:nvSpPr>
        <p:spPr>
          <a:xfrm>
            <a:off x="14239242" y="1801888"/>
            <a:ext cx="3681157" cy="1323439"/>
          </a:xfrm>
          <a:prstGeom prst="rect">
            <a:avLst/>
          </a:prstGeom>
          <a:noFill/>
        </p:spPr>
        <p:txBody>
          <a:bodyPr wrap="square" rtlCol="0">
            <a:spAutoFit/>
          </a:bodyPr>
          <a:lstStyle/>
          <a:p>
            <a:r>
              <a:rPr lang="en-US" sz="8000" b="1" spc="-431" dirty="0">
                <a:solidFill>
                  <a:srgbClr val="EE4D4D"/>
                </a:solidFill>
                <a:latin typeface="Montaser Arabic Bold"/>
                <a:cs typeface="Montaser Arabic Bold"/>
              </a:rPr>
              <a:t>75.9%</a:t>
            </a:r>
          </a:p>
        </p:txBody>
      </p:sp>
      <p:sp>
        <p:nvSpPr>
          <p:cNvPr id="40" name="TextBox 39">
            <a:extLst>
              <a:ext uri="{FF2B5EF4-FFF2-40B4-BE49-F238E27FC236}">
                <a16:creationId xmlns:a16="http://schemas.microsoft.com/office/drawing/2014/main" id="{AAB7A012-758E-427E-292B-98E6FA67A62F}"/>
              </a:ext>
            </a:extLst>
          </p:cNvPr>
          <p:cNvSpPr txBox="1"/>
          <p:nvPr/>
        </p:nvSpPr>
        <p:spPr>
          <a:xfrm>
            <a:off x="14195792" y="3647051"/>
            <a:ext cx="3768059" cy="1246496"/>
          </a:xfrm>
          <a:prstGeom prst="rect">
            <a:avLst/>
          </a:prstGeom>
          <a:noFill/>
        </p:spPr>
        <p:txBody>
          <a:bodyPr wrap="square" rtlCol="0">
            <a:spAutoFit/>
          </a:bodyPr>
          <a:lstStyle/>
          <a:p>
            <a:r>
              <a:rPr lang="en-US" sz="2500" dirty="0"/>
              <a:t>Indicated willingness to use a warning-light scanning application</a:t>
            </a:r>
          </a:p>
        </p:txBody>
      </p:sp>
      <p:sp>
        <p:nvSpPr>
          <p:cNvPr id="42" name="TextBox 41">
            <a:extLst>
              <a:ext uri="{FF2B5EF4-FFF2-40B4-BE49-F238E27FC236}">
                <a16:creationId xmlns:a16="http://schemas.microsoft.com/office/drawing/2014/main" id="{711190A7-D6C9-BAA3-D701-67CDFE9BC787}"/>
              </a:ext>
            </a:extLst>
          </p:cNvPr>
          <p:cNvSpPr txBox="1"/>
          <p:nvPr/>
        </p:nvSpPr>
        <p:spPr>
          <a:xfrm>
            <a:off x="1100318" y="5683830"/>
            <a:ext cx="3863553" cy="1323439"/>
          </a:xfrm>
          <a:prstGeom prst="rect">
            <a:avLst/>
          </a:prstGeom>
          <a:noFill/>
        </p:spPr>
        <p:txBody>
          <a:bodyPr wrap="square">
            <a:spAutoFit/>
          </a:bodyPr>
          <a:lstStyle/>
          <a:p>
            <a:r>
              <a:rPr lang="en-US" sz="8000" b="1" spc="-431" dirty="0">
                <a:solidFill>
                  <a:srgbClr val="EE4D4D"/>
                </a:solidFill>
                <a:latin typeface="Montaser Arabic Bold"/>
                <a:ea typeface="Montaser Arabic Bold"/>
                <a:cs typeface="Montaser Arabic Bold"/>
                <a:sym typeface="Montaser Arabic Bold"/>
              </a:rPr>
              <a:t>72.4%</a:t>
            </a:r>
            <a:endParaRPr lang="en-US" sz="8000" dirty="0"/>
          </a:p>
        </p:txBody>
      </p:sp>
      <p:sp>
        <p:nvSpPr>
          <p:cNvPr id="43" name="TextBox 42">
            <a:extLst>
              <a:ext uri="{FF2B5EF4-FFF2-40B4-BE49-F238E27FC236}">
                <a16:creationId xmlns:a16="http://schemas.microsoft.com/office/drawing/2014/main" id="{D7C59E91-2C6E-31FF-674F-E037ED46EF06}"/>
              </a:ext>
            </a:extLst>
          </p:cNvPr>
          <p:cNvSpPr txBox="1"/>
          <p:nvPr/>
        </p:nvSpPr>
        <p:spPr>
          <a:xfrm>
            <a:off x="981621" y="7269630"/>
            <a:ext cx="3982250" cy="1246495"/>
          </a:xfrm>
          <a:prstGeom prst="rect">
            <a:avLst/>
          </a:prstGeom>
          <a:noFill/>
        </p:spPr>
        <p:txBody>
          <a:bodyPr wrap="square" rtlCol="0">
            <a:spAutoFit/>
          </a:bodyPr>
          <a:lstStyle/>
          <a:p>
            <a:r>
              <a:rPr lang="en-US" sz="2500" dirty="0"/>
              <a:t>Indicated willingness to use an engine sound diagnostic feature</a:t>
            </a:r>
          </a:p>
        </p:txBody>
      </p:sp>
      <p:sp>
        <p:nvSpPr>
          <p:cNvPr id="45" name="TextBox 44">
            <a:extLst>
              <a:ext uri="{FF2B5EF4-FFF2-40B4-BE49-F238E27FC236}">
                <a16:creationId xmlns:a16="http://schemas.microsoft.com/office/drawing/2014/main" id="{265E7591-0022-B2C6-8E00-881D9E945181}"/>
              </a:ext>
            </a:extLst>
          </p:cNvPr>
          <p:cNvSpPr txBox="1"/>
          <p:nvPr/>
        </p:nvSpPr>
        <p:spPr>
          <a:xfrm>
            <a:off x="5264669" y="5706193"/>
            <a:ext cx="4122831" cy="1323439"/>
          </a:xfrm>
          <a:prstGeom prst="rect">
            <a:avLst/>
          </a:prstGeom>
          <a:noFill/>
        </p:spPr>
        <p:txBody>
          <a:bodyPr wrap="square">
            <a:spAutoFit/>
          </a:bodyPr>
          <a:lstStyle/>
          <a:p>
            <a:r>
              <a:rPr lang="en-US" sz="8000" b="1" spc="-431" dirty="0">
                <a:solidFill>
                  <a:srgbClr val="EE4D4D"/>
                </a:solidFill>
                <a:latin typeface="Montaser Arabic Bold"/>
                <a:ea typeface="Montaser Arabic Bold"/>
                <a:cs typeface="Montaser Arabic Bold"/>
                <a:sym typeface="Montaser Arabic Bold"/>
              </a:rPr>
              <a:t>89.7%</a:t>
            </a:r>
            <a:endParaRPr lang="en-US" sz="8000" dirty="0"/>
          </a:p>
        </p:txBody>
      </p:sp>
      <p:sp>
        <p:nvSpPr>
          <p:cNvPr id="46" name="TextBox 45">
            <a:extLst>
              <a:ext uri="{FF2B5EF4-FFF2-40B4-BE49-F238E27FC236}">
                <a16:creationId xmlns:a16="http://schemas.microsoft.com/office/drawing/2014/main" id="{5B7E8B68-84BB-60B6-AC68-B130836EE004}"/>
              </a:ext>
            </a:extLst>
          </p:cNvPr>
          <p:cNvSpPr txBox="1"/>
          <p:nvPr/>
        </p:nvSpPr>
        <p:spPr>
          <a:xfrm>
            <a:off x="5419337" y="7379349"/>
            <a:ext cx="3364737" cy="861774"/>
          </a:xfrm>
          <a:prstGeom prst="rect">
            <a:avLst/>
          </a:prstGeom>
          <a:noFill/>
        </p:spPr>
        <p:txBody>
          <a:bodyPr wrap="square" rtlCol="0">
            <a:spAutoFit/>
          </a:bodyPr>
          <a:lstStyle/>
          <a:p>
            <a:r>
              <a:rPr lang="en-US" sz="2500" dirty="0"/>
              <a:t>Preferred basic offline diagnosis</a:t>
            </a:r>
          </a:p>
        </p:txBody>
      </p:sp>
      <p:sp>
        <p:nvSpPr>
          <p:cNvPr id="48" name="TextBox 47">
            <a:extLst>
              <a:ext uri="{FF2B5EF4-FFF2-40B4-BE49-F238E27FC236}">
                <a16:creationId xmlns:a16="http://schemas.microsoft.com/office/drawing/2014/main" id="{5BD0AFB7-77C2-4EF7-0E12-A269B8CD662B}"/>
              </a:ext>
            </a:extLst>
          </p:cNvPr>
          <p:cNvSpPr txBox="1"/>
          <p:nvPr/>
        </p:nvSpPr>
        <p:spPr>
          <a:xfrm>
            <a:off x="9823040" y="5789355"/>
            <a:ext cx="3759537" cy="1323439"/>
          </a:xfrm>
          <a:prstGeom prst="rect">
            <a:avLst/>
          </a:prstGeom>
          <a:noFill/>
        </p:spPr>
        <p:txBody>
          <a:bodyPr wrap="square">
            <a:spAutoFit/>
          </a:bodyPr>
          <a:lstStyle/>
          <a:p>
            <a:r>
              <a:rPr lang="en-US" sz="8000" b="1" spc="-431" dirty="0">
                <a:solidFill>
                  <a:srgbClr val="EE4D4D"/>
                </a:solidFill>
                <a:latin typeface="Montaser Arabic Bold"/>
                <a:ea typeface="Montaser Arabic Bold"/>
                <a:cs typeface="Montaser Arabic Bold"/>
                <a:sym typeface="Montaser Arabic Bold"/>
              </a:rPr>
              <a:t>86.2%</a:t>
            </a:r>
            <a:endParaRPr lang="en-US" sz="8000" dirty="0"/>
          </a:p>
        </p:txBody>
      </p:sp>
      <p:sp>
        <p:nvSpPr>
          <p:cNvPr id="49" name="TextBox 48">
            <a:extLst>
              <a:ext uri="{FF2B5EF4-FFF2-40B4-BE49-F238E27FC236}">
                <a16:creationId xmlns:a16="http://schemas.microsoft.com/office/drawing/2014/main" id="{9CBC4176-AF2C-A594-3C0A-6BE3A7137314}"/>
              </a:ext>
            </a:extLst>
          </p:cNvPr>
          <p:cNvSpPr txBox="1"/>
          <p:nvPr/>
        </p:nvSpPr>
        <p:spPr>
          <a:xfrm>
            <a:off x="9998361" y="7383113"/>
            <a:ext cx="3108039" cy="861774"/>
          </a:xfrm>
          <a:prstGeom prst="rect">
            <a:avLst/>
          </a:prstGeom>
          <a:noFill/>
        </p:spPr>
        <p:txBody>
          <a:bodyPr wrap="square" rtlCol="0">
            <a:spAutoFit/>
          </a:bodyPr>
          <a:lstStyle/>
          <a:p>
            <a:r>
              <a:rPr lang="en-US" sz="2500" dirty="0"/>
              <a:t>Wanted expert video links</a:t>
            </a:r>
          </a:p>
        </p:txBody>
      </p:sp>
      <p:sp>
        <p:nvSpPr>
          <p:cNvPr id="51" name="TextBox 50">
            <a:extLst>
              <a:ext uri="{FF2B5EF4-FFF2-40B4-BE49-F238E27FC236}">
                <a16:creationId xmlns:a16="http://schemas.microsoft.com/office/drawing/2014/main" id="{CFF6E2E6-C334-9DDC-8394-F4A77ACC351A}"/>
              </a:ext>
            </a:extLst>
          </p:cNvPr>
          <p:cNvSpPr txBox="1"/>
          <p:nvPr/>
        </p:nvSpPr>
        <p:spPr>
          <a:xfrm>
            <a:off x="14194673" y="5821146"/>
            <a:ext cx="9288966" cy="1323439"/>
          </a:xfrm>
          <a:prstGeom prst="rect">
            <a:avLst/>
          </a:prstGeom>
          <a:noFill/>
        </p:spPr>
        <p:txBody>
          <a:bodyPr wrap="square">
            <a:spAutoFit/>
          </a:bodyPr>
          <a:lstStyle/>
          <a:p>
            <a:r>
              <a:rPr lang="en-US" sz="8000" b="1" spc="-431" dirty="0">
                <a:solidFill>
                  <a:srgbClr val="EE4D4D"/>
                </a:solidFill>
                <a:latin typeface="Montaser Arabic Bold"/>
                <a:ea typeface="Montaser Arabic Bold"/>
                <a:cs typeface="Montaser Arabic Bold"/>
                <a:sym typeface="Montaser Arabic Bold"/>
              </a:rPr>
              <a:t>79.3%</a:t>
            </a:r>
            <a:endParaRPr lang="en-US" sz="8000" dirty="0"/>
          </a:p>
        </p:txBody>
      </p:sp>
      <p:sp>
        <p:nvSpPr>
          <p:cNvPr id="52" name="TextBox 51">
            <a:extLst>
              <a:ext uri="{FF2B5EF4-FFF2-40B4-BE49-F238E27FC236}">
                <a16:creationId xmlns:a16="http://schemas.microsoft.com/office/drawing/2014/main" id="{4F6524B2-9374-1C5E-7113-17F318CF9D42}"/>
              </a:ext>
            </a:extLst>
          </p:cNvPr>
          <p:cNvSpPr txBox="1"/>
          <p:nvPr/>
        </p:nvSpPr>
        <p:spPr>
          <a:xfrm>
            <a:off x="14233666" y="7524599"/>
            <a:ext cx="3622715" cy="861774"/>
          </a:xfrm>
          <a:prstGeom prst="rect">
            <a:avLst/>
          </a:prstGeom>
          <a:noFill/>
        </p:spPr>
        <p:txBody>
          <a:bodyPr wrap="square" rtlCol="0">
            <a:spAutoFit/>
          </a:bodyPr>
          <a:lstStyle/>
          <a:p>
            <a:r>
              <a:rPr lang="en-US" sz="2500" dirty="0"/>
              <a:t>Would till confirm the diagnosis with a mechanic </a:t>
            </a:r>
          </a:p>
        </p:txBody>
      </p:sp>
    </p:spTree>
    <p:extLst>
      <p:ext uri="{BB962C8B-B14F-4D97-AF65-F5344CB8AC3E}">
        <p14:creationId xmlns:p14="http://schemas.microsoft.com/office/powerpoint/2010/main" val="151724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4D4D"/>
        </a:solid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46C74306-4001-43C9-156B-364D48FE7A87}"/>
              </a:ext>
            </a:extLst>
          </p:cNvPr>
          <p:cNvPicPr>
            <a:picLocks noChangeAspect="1"/>
          </p:cNvPicPr>
          <p:nvPr/>
        </p:nvPicPr>
        <p:blipFill>
          <a:blip r:embed="rId2"/>
          <a:stretch>
            <a:fillRect/>
          </a:stretch>
        </p:blipFill>
        <p:spPr>
          <a:xfrm>
            <a:off x="647700" y="1333500"/>
            <a:ext cx="16992600" cy="8573006"/>
          </a:xfrm>
          <a:prstGeom prst="rect">
            <a:avLst/>
          </a:prstGeom>
        </p:spPr>
      </p:pic>
      <p:sp>
        <p:nvSpPr>
          <p:cNvPr id="30" name="TextBox 29">
            <a:extLst>
              <a:ext uri="{FF2B5EF4-FFF2-40B4-BE49-F238E27FC236}">
                <a16:creationId xmlns:a16="http://schemas.microsoft.com/office/drawing/2014/main" id="{381BAC79-B7A8-8282-8B45-DEDA02685EA2}"/>
              </a:ext>
            </a:extLst>
          </p:cNvPr>
          <p:cNvSpPr txBox="1"/>
          <p:nvPr/>
        </p:nvSpPr>
        <p:spPr>
          <a:xfrm>
            <a:off x="896744" y="18424"/>
            <a:ext cx="6096000" cy="1323439"/>
          </a:xfrm>
          <a:prstGeom prst="rect">
            <a:avLst/>
          </a:prstGeom>
          <a:noFill/>
        </p:spPr>
        <p:txBody>
          <a:bodyPr wrap="square" rtlCol="0">
            <a:spAutoFit/>
          </a:bodyPr>
          <a:lstStyle/>
          <a:p>
            <a:r>
              <a:rPr lang="en-US" sz="8000" dirty="0"/>
              <a:t>Data Cleaning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3632118" y="5762999"/>
            <a:ext cx="3990742" cy="3858860"/>
            <a:chOff x="0" y="0"/>
            <a:chExt cx="1051060" cy="1016325"/>
          </a:xfrm>
        </p:grpSpPr>
        <p:sp>
          <p:nvSpPr>
            <p:cNvPr id="3" name="Freeform 3"/>
            <p:cNvSpPr/>
            <p:nvPr/>
          </p:nvSpPr>
          <p:spPr>
            <a:xfrm>
              <a:off x="0" y="0"/>
              <a:ext cx="1051060" cy="1016325"/>
            </a:xfrm>
            <a:custGeom>
              <a:avLst/>
              <a:gdLst/>
              <a:ahLst/>
              <a:cxnLst/>
              <a:rect l="l" t="t" r="r" b="b"/>
              <a:pathLst>
                <a:path w="1051060" h="1016325">
                  <a:moveTo>
                    <a:pt x="38799" y="0"/>
                  </a:moveTo>
                  <a:lnTo>
                    <a:pt x="1012260" y="0"/>
                  </a:lnTo>
                  <a:cubicBezTo>
                    <a:pt x="1033688" y="0"/>
                    <a:pt x="1051060" y="17371"/>
                    <a:pt x="1051060" y="38799"/>
                  </a:cubicBezTo>
                  <a:lnTo>
                    <a:pt x="1051060" y="977526"/>
                  </a:lnTo>
                  <a:cubicBezTo>
                    <a:pt x="1051060" y="998954"/>
                    <a:pt x="1033688" y="1016325"/>
                    <a:pt x="1012260" y="1016325"/>
                  </a:cubicBezTo>
                  <a:lnTo>
                    <a:pt x="38799" y="1016325"/>
                  </a:lnTo>
                  <a:cubicBezTo>
                    <a:pt x="17371" y="1016325"/>
                    <a:pt x="0" y="998954"/>
                    <a:pt x="0" y="977526"/>
                  </a:cubicBezTo>
                  <a:lnTo>
                    <a:pt x="0" y="38799"/>
                  </a:lnTo>
                  <a:cubicBezTo>
                    <a:pt x="0" y="17371"/>
                    <a:pt x="17371" y="0"/>
                    <a:pt x="38799" y="0"/>
                  </a:cubicBezTo>
                  <a:close/>
                </a:path>
              </a:pathLst>
            </a:custGeom>
            <a:solidFill>
              <a:srgbClr val="FFFFFF"/>
            </a:solidFill>
          </p:spPr>
        </p:sp>
        <p:sp>
          <p:nvSpPr>
            <p:cNvPr id="4" name="TextBox 4"/>
            <p:cNvSpPr txBox="1"/>
            <p:nvPr/>
          </p:nvSpPr>
          <p:spPr>
            <a:xfrm>
              <a:off x="0" y="0"/>
              <a:ext cx="1051060" cy="101632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9309792" y="5762999"/>
            <a:ext cx="3990742" cy="3858860"/>
            <a:chOff x="0" y="0"/>
            <a:chExt cx="1051060" cy="1016325"/>
          </a:xfrm>
        </p:grpSpPr>
        <p:sp>
          <p:nvSpPr>
            <p:cNvPr id="6" name="Freeform 6"/>
            <p:cNvSpPr/>
            <p:nvPr/>
          </p:nvSpPr>
          <p:spPr>
            <a:xfrm>
              <a:off x="0" y="0"/>
              <a:ext cx="1051060" cy="1016325"/>
            </a:xfrm>
            <a:custGeom>
              <a:avLst/>
              <a:gdLst/>
              <a:ahLst/>
              <a:cxnLst/>
              <a:rect l="l" t="t" r="r" b="b"/>
              <a:pathLst>
                <a:path w="1051060" h="1016325">
                  <a:moveTo>
                    <a:pt x="38799" y="0"/>
                  </a:moveTo>
                  <a:lnTo>
                    <a:pt x="1012260" y="0"/>
                  </a:lnTo>
                  <a:cubicBezTo>
                    <a:pt x="1033688" y="0"/>
                    <a:pt x="1051060" y="17371"/>
                    <a:pt x="1051060" y="38799"/>
                  </a:cubicBezTo>
                  <a:lnTo>
                    <a:pt x="1051060" y="977526"/>
                  </a:lnTo>
                  <a:cubicBezTo>
                    <a:pt x="1051060" y="998954"/>
                    <a:pt x="1033688" y="1016325"/>
                    <a:pt x="1012260" y="1016325"/>
                  </a:cubicBezTo>
                  <a:lnTo>
                    <a:pt x="38799" y="1016325"/>
                  </a:lnTo>
                  <a:cubicBezTo>
                    <a:pt x="17371" y="1016325"/>
                    <a:pt x="0" y="998954"/>
                    <a:pt x="0" y="977526"/>
                  </a:cubicBezTo>
                  <a:lnTo>
                    <a:pt x="0" y="38799"/>
                  </a:lnTo>
                  <a:cubicBezTo>
                    <a:pt x="0" y="17371"/>
                    <a:pt x="17371" y="0"/>
                    <a:pt x="38799" y="0"/>
                  </a:cubicBezTo>
                  <a:close/>
                </a:path>
              </a:pathLst>
            </a:custGeom>
            <a:solidFill>
              <a:srgbClr val="FFFFFF"/>
            </a:solidFill>
          </p:spPr>
        </p:sp>
        <p:sp>
          <p:nvSpPr>
            <p:cNvPr id="7" name="TextBox 7"/>
            <p:cNvSpPr txBox="1"/>
            <p:nvPr/>
          </p:nvSpPr>
          <p:spPr>
            <a:xfrm>
              <a:off x="0" y="0"/>
              <a:ext cx="1051060" cy="101632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4987466" y="5762999"/>
            <a:ext cx="3990742" cy="3858860"/>
            <a:chOff x="0" y="0"/>
            <a:chExt cx="1051060" cy="1016325"/>
          </a:xfrm>
        </p:grpSpPr>
        <p:sp>
          <p:nvSpPr>
            <p:cNvPr id="9" name="Freeform 9"/>
            <p:cNvSpPr/>
            <p:nvPr/>
          </p:nvSpPr>
          <p:spPr>
            <a:xfrm>
              <a:off x="0" y="0"/>
              <a:ext cx="1051060" cy="1016325"/>
            </a:xfrm>
            <a:custGeom>
              <a:avLst/>
              <a:gdLst/>
              <a:ahLst/>
              <a:cxnLst/>
              <a:rect l="l" t="t" r="r" b="b"/>
              <a:pathLst>
                <a:path w="1051060" h="1016325">
                  <a:moveTo>
                    <a:pt x="38799" y="0"/>
                  </a:moveTo>
                  <a:lnTo>
                    <a:pt x="1012260" y="0"/>
                  </a:lnTo>
                  <a:cubicBezTo>
                    <a:pt x="1033688" y="0"/>
                    <a:pt x="1051060" y="17371"/>
                    <a:pt x="1051060" y="38799"/>
                  </a:cubicBezTo>
                  <a:lnTo>
                    <a:pt x="1051060" y="977526"/>
                  </a:lnTo>
                  <a:cubicBezTo>
                    <a:pt x="1051060" y="998954"/>
                    <a:pt x="1033688" y="1016325"/>
                    <a:pt x="1012260" y="1016325"/>
                  </a:cubicBezTo>
                  <a:lnTo>
                    <a:pt x="38799" y="1016325"/>
                  </a:lnTo>
                  <a:cubicBezTo>
                    <a:pt x="17371" y="1016325"/>
                    <a:pt x="0" y="998954"/>
                    <a:pt x="0" y="977526"/>
                  </a:cubicBezTo>
                  <a:lnTo>
                    <a:pt x="0" y="38799"/>
                  </a:lnTo>
                  <a:cubicBezTo>
                    <a:pt x="0" y="17371"/>
                    <a:pt x="17371" y="0"/>
                    <a:pt x="38799" y="0"/>
                  </a:cubicBezTo>
                  <a:close/>
                </a:path>
              </a:pathLst>
            </a:custGeom>
            <a:solidFill>
              <a:srgbClr val="FFFFFF"/>
            </a:solidFill>
          </p:spPr>
        </p:sp>
        <p:sp>
          <p:nvSpPr>
            <p:cNvPr id="10" name="TextBox 10"/>
            <p:cNvSpPr txBox="1"/>
            <p:nvPr/>
          </p:nvSpPr>
          <p:spPr>
            <a:xfrm>
              <a:off x="0" y="0"/>
              <a:ext cx="1051060" cy="1016325"/>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665141" y="5762999"/>
            <a:ext cx="3990742" cy="3858860"/>
            <a:chOff x="0" y="0"/>
            <a:chExt cx="1051060" cy="1016325"/>
          </a:xfrm>
        </p:grpSpPr>
        <p:sp>
          <p:nvSpPr>
            <p:cNvPr id="12" name="Freeform 12"/>
            <p:cNvSpPr/>
            <p:nvPr/>
          </p:nvSpPr>
          <p:spPr>
            <a:xfrm>
              <a:off x="0" y="0"/>
              <a:ext cx="1051060" cy="1016325"/>
            </a:xfrm>
            <a:custGeom>
              <a:avLst/>
              <a:gdLst/>
              <a:ahLst/>
              <a:cxnLst/>
              <a:rect l="l" t="t" r="r" b="b"/>
              <a:pathLst>
                <a:path w="1051060" h="1016325">
                  <a:moveTo>
                    <a:pt x="38799" y="0"/>
                  </a:moveTo>
                  <a:lnTo>
                    <a:pt x="1012260" y="0"/>
                  </a:lnTo>
                  <a:cubicBezTo>
                    <a:pt x="1033688" y="0"/>
                    <a:pt x="1051060" y="17371"/>
                    <a:pt x="1051060" y="38799"/>
                  </a:cubicBezTo>
                  <a:lnTo>
                    <a:pt x="1051060" y="977526"/>
                  </a:lnTo>
                  <a:cubicBezTo>
                    <a:pt x="1051060" y="998954"/>
                    <a:pt x="1033688" y="1016325"/>
                    <a:pt x="1012260" y="1016325"/>
                  </a:cubicBezTo>
                  <a:lnTo>
                    <a:pt x="38799" y="1016325"/>
                  </a:lnTo>
                  <a:cubicBezTo>
                    <a:pt x="17371" y="1016325"/>
                    <a:pt x="0" y="998954"/>
                    <a:pt x="0" y="977526"/>
                  </a:cubicBezTo>
                  <a:lnTo>
                    <a:pt x="0" y="38799"/>
                  </a:lnTo>
                  <a:cubicBezTo>
                    <a:pt x="0" y="17371"/>
                    <a:pt x="17371" y="0"/>
                    <a:pt x="38799" y="0"/>
                  </a:cubicBezTo>
                  <a:close/>
                </a:path>
              </a:pathLst>
            </a:custGeom>
            <a:solidFill>
              <a:srgbClr val="EE4D4D"/>
            </a:solidFill>
          </p:spPr>
        </p:sp>
        <p:sp>
          <p:nvSpPr>
            <p:cNvPr id="13" name="TextBox 13"/>
            <p:cNvSpPr txBox="1"/>
            <p:nvPr/>
          </p:nvSpPr>
          <p:spPr>
            <a:xfrm>
              <a:off x="0" y="0"/>
              <a:ext cx="1051060" cy="1016325"/>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665141" y="1571569"/>
            <a:ext cx="16957719" cy="3858860"/>
            <a:chOff x="0" y="0"/>
            <a:chExt cx="2627194" cy="597838"/>
          </a:xfrm>
        </p:grpSpPr>
        <p:sp>
          <p:nvSpPr>
            <p:cNvPr id="15" name="Freeform 15"/>
            <p:cNvSpPr/>
            <p:nvPr/>
          </p:nvSpPr>
          <p:spPr>
            <a:xfrm>
              <a:off x="0" y="0"/>
              <a:ext cx="2627194" cy="597838"/>
            </a:xfrm>
            <a:custGeom>
              <a:avLst/>
              <a:gdLst/>
              <a:ahLst/>
              <a:cxnLst/>
              <a:rect l="l" t="t" r="r" b="b"/>
              <a:pathLst>
                <a:path w="2627194" h="597838">
                  <a:moveTo>
                    <a:pt x="9131" y="0"/>
                  </a:moveTo>
                  <a:lnTo>
                    <a:pt x="2618064" y="0"/>
                  </a:lnTo>
                  <a:cubicBezTo>
                    <a:pt x="2620485" y="0"/>
                    <a:pt x="2622808" y="962"/>
                    <a:pt x="2624520" y="2674"/>
                  </a:cubicBezTo>
                  <a:cubicBezTo>
                    <a:pt x="2626233" y="4387"/>
                    <a:pt x="2627194" y="6709"/>
                    <a:pt x="2627194" y="9131"/>
                  </a:cubicBezTo>
                  <a:lnTo>
                    <a:pt x="2627194" y="588708"/>
                  </a:lnTo>
                  <a:cubicBezTo>
                    <a:pt x="2627194" y="591129"/>
                    <a:pt x="2626233" y="593452"/>
                    <a:pt x="2624520" y="595164"/>
                  </a:cubicBezTo>
                  <a:cubicBezTo>
                    <a:pt x="2622808" y="596876"/>
                    <a:pt x="2620485" y="597838"/>
                    <a:pt x="2618064" y="597838"/>
                  </a:cubicBezTo>
                  <a:lnTo>
                    <a:pt x="9131" y="597838"/>
                  </a:lnTo>
                  <a:cubicBezTo>
                    <a:pt x="6709" y="597838"/>
                    <a:pt x="4387" y="596876"/>
                    <a:pt x="2674" y="595164"/>
                  </a:cubicBezTo>
                  <a:cubicBezTo>
                    <a:pt x="962" y="593452"/>
                    <a:pt x="0" y="591129"/>
                    <a:pt x="0" y="588708"/>
                  </a:cubicBezTo>
                  <a:lnTo>
                    <a:pt x="0" y="9131"/>
                  </a:lnTo>
                  <a:cubicBezTo>
                    <a:pt x="0" y="6709"/>
                    <a:pt x="962" y="4387"/>
                    <a:pt x="2674" y="2674"/>
                  </a:cubicBezTo>
                  <a:cubicBezTo>
                    <a:pt x="4387" y="962"/>
                    <a:pt x="6709" y="0"/>
                    <a:pt x="9131" y="0"/>
                  </a:cubicBezTo>
                  <a:close/>
                </a:path>
              </a:pathLst>
            </a:custGeom>
            <a:blipFill>
              <a:blip r:embed="rId2"/>
              <a:stretch>
                <a:fillRect t="-384692" b="-174481"/>
              </a:stretch>
            </a:blipFill>
          </p:spPr>
        </p:sp>
      </p:grpSp>
      <p:sp>
        <p:nvSpPr>
          <p:cNvPr id="16" name="TextBox 16"/>
          <p:cNvSpPr txBox="1"/>
          <p:nvPr/>
        </p:nvSpPr>
        <p:spPr>
          <a:xfrm>
            <a:off x="3362032" y="2950454"/>
            <a:ext cx="11563936" cy="1282065"/>
          </a:xfrm>
          <a:prstGeom prst="rect">
            <a:avLst/>
          </a:prstGeom>
        </p:spPr>
        <p:txBody>
          <a:bodyPr lIns="0" tIns="0" rIns="0" bIns="0" rtlCol="0" anchor="t">
            <a:spAutoFit/>
          </a:bodyPr>
          <a:lstStyle/>
          <a:p>
            <a:pPr marL="0" lvl="0" indent="0" algn="ctr">
              <a:lnSpc>
                <a:spcPts val="9600"/>
              </a:lnSpc>
              <a:spcBef>
                <a:spcPct val="0"/>
              </a:spcBef>
            </a:pPr>
            <a:r>
              <a:rPr lang="en-US" sz="9600" b="1">
                <a:solidFill>
                  <a:srgbClr val="FFFFFF"/>
                </a:solidFill>
                <a:latin typeface="Montaser Arabic Bold"/>
                <a:ea typeface="Montaser Arabic Bold"/>
                <a:cs typeface="Montaser Arabic Bold"/>
                <a:sym typeface="Montaser Arabic Bold"/>
              </a:rPr>
              <a:t>Challeng</a:t>
            </a:r>
            <a:r>
              <a:rPr lang="en-US" sz="9600" b="1" u="none" strike="noStrike">
                <a:solidFill>
                  <a:srgbClr val="FFFFFF"/>
                </a:solidFill>
                <a:latin typeface="Montaser Arabic Bold"/>
                <a:ea typeface="Montaser Arabic Bold"/>
                <a:cs typeface="Montaser Arabic Bold"/>
                <a:sym typeface="Montaser Arabic Bold"/>
              </a:rPr>
              <a:t>es</a:t>
            </a:r>
          </a:p>
        </p:txBody>
      </p:sp>
      <p:sp>
        <p:nvSpPr>
          <p:cNvPr id="17" name="TextBox 17"/>
          <p:cNvSpPr txBox="1"/>
          <p:nvPr/>
        </p:nvSpPr>
        <p:spPr>
          <a:xfrm>
            <a:off x="1515482" y="794907"/>
            <a:ext cx="3560817" cy="314325"/>
          </a:xfrm>
          <a:prstGeom prst="rect">
            <a:avLst/>
          </a:prstGeom>
        </p:spPr>
        <p:txBody>
          <a:bodyPr lIns="0" tIns="0" rIns="0" bIns="0" rtlCol="0" anchor="t">
            <a:spAutoFit/>
          </a:bodyPr>
          <a:lstStyle/>
          <a:p>
            <a:pPr algn="l">
              <a:lnSpc>
                <a:spcPts val="2520"/>
              </a:lnSpc>
            </a:pPr>
            <a:r>
              <a:rPr lang="en-US" sz="2100" b="1">
                <a:solidFill>
                  <a:srgbClr val="FFFFFF"/>
                </a:solidFill>
                <a:latin typeface="Inter Bold"/>
                <a:ea typeface="Inter Bold"/>
                <a:cs typeface="Inter Bold"/>
                <a:sym typeface="Inter Bold"/>
              </a:rPr>
              <a:t>THYNK UNLIMITED</a:t>
            </a:r>
          </a:p>
        </p:txBody>
      </p:sp>
      <p:sp>
        <p:nvSpPr>
          <p:cNvPr id="18" name="TextBox 18"/>
          <p:cNvSpPr txBox="1"/>
          <p:nvPr/>
        </p:nvSpPr>
        <p:spPr>
          <a:xfrm>
            <a:off x="14707829" y="796177"/>
            <a:ext cx="2915031" cy="273685"/>
          </a:xfrm>
          <a:prstGeom prst="rect">
            <a:avLst/>
          </a:prstGeom>
        </p:spPr>
        <p:txBody>
          <a:bodyPr lIns="0" tIns="0" rIns="0" bIns="0" rtlCol="0" anchor="t">
            <a:spAutoFit/>
          </a:bodyPr>
          <a:lstStyle/>
          <a:p>
            <a:pPr algn="l">
              <a:lnSpc>
                <a:spcPts val="2240"/>
              </a:lnSpc>
            </a:pPr>
            <a:r>
              <a:rPr lang="en-US" sz="1600">
                <a:solidFill>
                  <a:srgbClr val="FFFFFF"/>
                </a:solidFill>
                <a:latin typeface="Inter"/>
                <a:ea typeface="Inter"/>
                <a:cs typeface="Inter"/>
                <a:sym typeface="Inter"/>
              </a:rPr>
              <a:t>REALLYGREATSITE.COM</a:t>
            </a:r>
          </a:p>
        </p:txBody>
      </p:sp>
      <p:sp>
        <p:nvSpPr>
          <p:cNvPr id="19" name="TextBox 19"/>
          <p:cNvSpPr txBox="1"/>
          <p:nvPr/>
        </p:nvSpPr>
        <p:spPr>
          <a:xfrm>
            <a:off x="13824200" y="7207276"/>
            <a:ext cx="3606575" cy="1829796"/>
          </a:xfrm>
          <a:prstGeom prst="rect">
            <a:avLst/>
          </a:prstGeom>
        </p:spPr>
        <p:txBody>
          <a:bodyPr wrap="square" lIns="0" tIns="0" rIns="0" bIns="0" rtlCol="0" anchor="t">
            <a:spAutoFit/>
          </a:bodyPr>
          <a:lstStyle/>
          <a:p>
            <a:pPr algn="l">
              <a:lnSpc>
                <a:spcPts val="2940"/>
              </a:lnSpc>
            </a:pPr>
            <a:r>
              <a:rPr lang="en-US" sz="2100" dirty="0">
                <a:solidFill>
                  <a:srgbClr val="000000"/>
                </a:solidFill>
                <a:latin typeface="Inter"/>
                <a:ea typeface="Inter"/>
                <a:cs typeface="Inter"/>
                <a:sym typeface="Inter"/>
              </a:rPr>
              <a:t>Some users hesitated to share information because they did not fully trust or understand the purpose of the system being developed</a:t>
            </a:r>
          </a:p>
        </p:txBody>
      </p:sp>
      <p:sp>
        <p:nvSpPr>
          <p:cNvPr id="20" name="TextBox 20"/>
          <p:cNvSpPr txBox="1"/>
          <p:nvPr/>
        </p:nvSpPr>
        <p:spPr>
          <a:xfrm>
            <a:off x="9615356" y="7321023"/>
            <a:ext cx="3685178" cy="1829796"/>
          </a:xfrm>
          <a:prstGeom prst="rect">
            <a:avLst/>
          </a:prstGeom>
        </p:spPr>
        <p:txBody>
          <a:bodyPr wrap="square" lIns="0" tIns="0" rIns="0" bIns="0" rtlCol="0" anchor="t">
            <a:spAutoFit/>
          </a:bodyPr>
          <a:lstStyle/>
          <a:p>
            <a:pPr algn="l">
              <a:lnSpc>
                <a:spcPts val="2940"/>
              </a:lnSpc>
            </a:pPr>
            <a:r>
              <a:rPr lang="en-US" sz="2100" dirty="0">
                <a:solidFill>
                  <a:srgbClr val="000000"/>
                </a:solidFill>
                <a:latin typeface="Inter"/>
                <a:ea typeface="Inter"/>
                <a:cs typeface="Inter"/>
                <a:sym typeface="Inter"/>
              </a:rPr>
              <a:t>Some mechanics were unwilling to participate, mainly due to suspicion and concerns about the app affecting their profession</a:t>
            </a:r>
          </a:p>
        </p:txBody>
      </p:sp>
      <p:sp>
        <p:nvSpPr>
          <p:cNvPr id="21" name="TextBox 21"/>
          <p:cNvSpPr txBox="1"/>
          <p:nvPr/>
        </p:nvSpPr>
        <p:spPr>
          <a:xfrm>
            <a:off x="5076299" y="7174748"/>
            <a:ext cx="3924211" cy="2201693"/>
          </a:xfrm>
          <a:prstGeom prst="rect">
            <a:avLst/>
          </a:prstGeom>
        </p:spPr>
        <p:txBody>
          <a:bodyPr wrap="square" lIns="0" tIns="0" rIns="0" bIns="0" rtlCol="0" anchor="t">
            <a:spAutoFit/>
          </a:bodyPr>
          <a:lstStyle/>
          <a:p>
            <a:pPr algn="l">
              <a:lnSpc>
                <a:spcPts val="2940"/>
              </a:lnSpc>
            </a:pPr>
            <a:r>
              <a:rPr lang="en-US" sz="2100" dirty="0">
                <a:solidFill>
                  <a:srgbClr val="000000"/>
                </a:solidFill>
                <a:latin typeface="Inter"/>
                <a:ea typeface="Inter"/>
                <a:cs typeface="Inter"/>
                <a:sym typeface="Inter"/>
              </a:rPr>
              <a:t>Many potential participants ignored or postponed completing the form, possibly due to lack of interest, time constraints, or unclear study purpose.</a:t>
            </a:r>
          </a:p>
        </p:txBody>
      </p:sp>
      <p:sp>
        <p:nvSpPr>
          <p:cNvPr id="22" name="TextBox 22"/>
          <p:cNvSpPr txBox="1"/>
          <p:nvPr/>
        </p:nvSpPr>
        <p:spPr>
          <a:xfrm>
            <a:off x="857224" y="7506972"/>
            <a:ext cx="3817681" cy="1829796"/>
          </a:xfrm>
          <a:prstGeom prst="rect">
            <a:avLst/>
          </a:prstGeom>
        </p:spPr>
        <p:txBody>
          <a:bodyPr wrap="square" lIns="0" tIns="0" rIns="0" bIns="0" rtlCol="0" anchor="t">
            <a:spAutoFit/>
          </a:bodyPr>
          <a:lstStyle/>
          <a:p>
            <a:pPr algn="l">
              <a:lnSpc>
                <a:spcPts val="2940"/>
              </a:lnSpc>
            </a:pPr>
            <a:r>
              <a:rPr lang="en-US" sz="2100" dirty="0">
                <a:solidFill>
                  <a:srgbClr val="FFFFFF"/>
                </a:solidFill>
                <a:latin typeface="Inter"/>
                <a:ea typeface="Inter"/>
                <a:cs typeface="Inter"/>
                <a:sym typeface="Inter"/>
              </a:rPr>
              <a:t>Only a small number of users responded to the questionnaire, indicating moderate engagement during the data collection process</a:t>
            </a:r>
          </a:p>
        </p:txBody>
      </p:sp>
      <p:sp>
        <p:nvSpPr>
          <p:cNvPr id="23" name="TextBox 23"/>
          <p:cNvSpPr txBox="1"/>
          <p:nvPr/>
        </p:nvSpPr>
        <p:spPr>
          <a:xfrm>
            <a:off x="14325600" y="6337799"/>
            <a:ext cx="2660461" cy="487313"/>
          </a:xfrm>
          <a:prstGeom prst="rect">
            <a:avLst/>
          </a:prstGeom>
        </p:spPr>
        <p:txBody>
          <a:bodyPr lIns="0" tIns="0" rIns="0" bIns="0" rtlCol="0" anchor="t">
            <a:spAutoFit/>
          </a:bodyPr>
          <a:lstStyle/>
          <a:p>
            <a:pPr marL="0" lvl="0" indent="0" algn="l">
              <a:lnSpc>
                <a:spcPts val="3840"/>
              </a:lnSpc>
              <a:spcBef>
                <a:spcPct val="0"/>
              </a:spcBef>
            </a:pPr>
            <a:r>
              <a:rPr lang="en-US" sz="3200" b="1" dirty="0">
                <a:solidFill>
                  <a:srgbClr val="000000"/>
                </a:solidFill>
                <a:latin typeface="Montaser Arabic Bold"/>
                <a:ea typeface="Montaser Arabic Bold"/>
                <a:cs typeface="Montaser Arabic Bold"/>
                <a:sym typeface="Montaser Arabic Bold"/>
              </a:rPr>
              <a:t>Trust Issues</a:t>
            </a:r>
            <a:endParaRPr lang="en-US" sz="3200" b="1" u="none" strike="noStrike" dirty="0">
              <a:solidFill>
                <a:srgbClr val="000000"/>
              </a:solidFill>
              <a:latin typeface="Montaser Arabic Bold"/>
              <a:ea typeface="Montaser Arabic Bold"/>
              <a:cs typeface="Montaser Arabic Bold"/>
              <a:sym typeface="Montaser Arabic Bold"/>
            </a:endParaRPr>
          </a:p>
        </p:txBody>
      </p:sp>
      <p:sp>
        <p:nvSpPr>
          <p:cNvPr id="24" name="TextBox 24"/>
          <p:cNvSpPr txBox="1"/>
          <p:nvPr/>
        </p:nvSpPr>
        <p:spPr>
          <a:xfrm>
            <a:off x="9972138" y="6205160"/>
            <a:ext cx="2660461" cy="974626"/>
          </a:xfrm>
          <a:prstGeom prst="rect">
            <a:avLst/>
          </a:prstGeom>
        </p:spPr>
        <p:txBody>
          <a:bodyPr lIns="0" tIns="0" rIns="0" bIns="0" rtlCol="0" anchor="t">
            <a:spAutoFit/>
          </a:bodyPr>
          <a:lstStyle/>
          <a:p>
            <a:pPr marL="0" lvl="0" indent="0" algn="l">
              <a:lnSpc>
                <a:spcPts val="3840"/>
              </a:lnSpc>
              <a:spcBef>
                <a:spcPct val="0"/>
              </a:spcBef>
            </a:pPr>
            <a:r>
              <a:rPr lang="en-US" sz="3200" b="1" dirty="0">
                <a:solidFill>
                  <a:srgbClr val="000000"/>
                </a:solidFill>
                <a:latin typeface="Montaser Arabic Bold"/>
                <a:ea typeface="Montaser Arabic Bold"/>
                <a:cs typeface="Montaser Arabic Bold"/>
                <a:sym typeface="Montaser Arabic Bold"/>
              </a:rPr>
              <a:t>Expert Reluctance</a:t>
            </a:r>
            <a:endParaRPr lang="en-US" sz="3200" b="1" u="none" strike="noStrike" dirty="0">
              <a:solidFill>
                <a:srgbClr val="000000"/>
              </a:solidFill>
              <a:latin typeface="Montaser Arabic Bold"/>
              <a:ea typeface="Montaser Arabic Bold"/>
              <a:cs typeface="Montaser Arabic Bold"/>
              <a:sym typeface="Montaser Arabic Bold"/>
            </a:endParaRPr>
          </a:p>
        </p:txBody>
      </p:sp>
      <p:sp>
        <p:nvSpPr>
          <p:cNvPr id="25" name="TextBox 25"/>
          <p:cNvSpPr txBox="1"/>
          <p:nvPr/>
        </p:nvSpPr>
        <p:spPr>
          <a:xfrm>
            <a:off x="5340045" y="6210300"/>
            <a:ext cx="2973023" cy="974626"/>
          </a:xfrm>
          <a:prstGeom prst="rect">
            <a:avLst/>
          </a:prstGeom>
        </p:spPr>
        <p:txBody>
          <a:bodyPr wrap="square" lIns="0" tIns="0" rIns="0" bIns="0" rtlCol="0" anchor="t">
            <a:spAutoFit/>
          </a:bodyPr>
          <a:lstStyle/>
          <a:p>
            <a:pPr marL="0" lvl="0" indent="0" algn="l">
              <a:lnSpc>
                <a:spcPts val="3840"/>
              </a:lnSpc>
              <a:spcBef>
                <a:spcPct val="0"/>
              </a:spcBef>
            </a:pPr>
            <a:r>
              <a:rPr lang="en-US" sz="3200" b="1" dirty="0">
                <a:solidFill>
                  <a:srgbClr val="000000"/>
                </a:solidFill>
                <a:latin typeface="Montaser Arabic Bold"/>
                <a:ea typeface="Montaser Arabic Bold"/>
                <a:cs typeface="Montaser Arabic Bold"/>
                <a:sym typeface="Montaser Arabic Bold"/>
              </a:rPr>
              <a:t>Low response Motivation</a:t>
            </a:r>
            <a:endParaRPr lang="en-US" sz="3200" b="1" u="none" strike="noStrike" dirty="0">
              <a:solidFill>
                <a:srgbClr val="000000"/>
              </a:solidFill>
              <a:latin typeface="Montaser Arabic Bold"/>
              <a:ea typeface="Montaser Arabic Bold"/>
              <a:cs typeface="Montaser Arabic Bold"/>
              <a:sym typeface="Montaser Arabic Bold"/>
            </a:endParaRPr>
          </a:p>
        </p:txBody>
      </p:sp>
      <p:sp>
        <p:nvSpPr>
          <p:cNvPr id="26" name="TextBox 26"/>
          <p:cNvSpPr txBox="1"/>
          <p:nvPr/>
        </p:nvSpPr>
        <p:spPr>
          <a:xfrm>
            <a:off x="1164490" y="6200122"/>
            <a:ext cx="2992044" cy="974626"/>
          </a:xfrm>
          <a:prstGeom prst="rect">
            <a:avLst/>
          </a:prstGeom>
        </p:spPr>
        <p:txBody>
          <a:bodyPr wrap="square" lIns="0" tIns="0" rIns="0" bIns="0" rtlCol="0" anchor="t">
            <a:spAutoFit/>
          </a:bodyPr>
          <a:lstStyle/>
          <a:p>
            <a:pPr marL="0" lvl="0" indent="0" algn="l">
              <a:lnSpc>
                <a:spcPts val="3840"/>
              </a:lnSpc>
              <a:spcBef>
                <a:spcPct val="0"/>
              </a:spcBef>
            </a:pPr>
            <a:r>
              <a:rPr lang="en-US" sz="3200" b="1" dirty="0">
                <a:solidFill>
                  <a:srgbClr val="FFFFFF"/>
                </a:solidFill>
                <a:latin typeface="Montaser Arabic Bold"/>
                <a:ea typeface="Montaser Arabic Bold"/>
                <a:cs typeface="Montaser Arabic Bold"/>
                <a:sym typeface="Montaser Arabic Bold"/>
              </a:rPr>
              <a:t>Limited participation</a:t>
            </a:r>
            <a:endParaRPr lang="en-US" sz="3200" b="1" u="none" strike="noStrike" dirty="0">
              <a:solidFill>
                <a:srgbClr val="FFFFFF"/>
              </a:solidFill>
              <a:latin typeface="Montaser Arabic Bold"/>
              <a:ea typeface="Montaser Arabic Bold"/>
              <a:cs typeface="Montaser Arabic Bold"/>
              <a:sym typeface="Montaser Arabic Bold"/>
            </a:endParaRPr>
          </a:p>
        </p:txBody>
      </p:sp>
      <p:sp>
        <p:nvSpPr>
          <p:cNvPr id="27" name="Freeform 27"/>
          <p:cNvSpPr/>
          <p:nvPr/>
        </p:nvSpPr>
        <p:spPr>
          <a:xfrm>
            <a:off x="665141" y="665141"/>
            <a:ext cx="573858" cy="573858"/>
          </a:xfrm>
          <a:custGeom>
            <a:avLst/>
            <a:gdLst/>
            <a:ahLst/>
            <a:cxnLst/>
            <a:rect l="l" t="t" r="r" b="b"/>
            <a:pathLst>
              <a:path w="573858" h="573858">
                <a:moveTo>
                  <a:pt x="0" y="0"/>
                </a:moveTo>
                <a:lnTo>
                  <a:pt x="573857" y="0"/>
                </a:lnTo>
                <a:lnTo>
                  <a:pt x="573857" y="573857"/>
                </a:lnTo>
                <a:lnTo>
                  <a:pt x="0" y="573857"/>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665141" y="4918949"/>
            <a:ext cx="7377664" cy="4702910"/>
            <a:chOff x="0" y="0"/>
            <a:chExt cx="1943088" cy="1238627"/>
          </a:xfrm>
        </p:grpSpPr>
        <p:sp>
          <p:nvSpPr>
            <p:cNvPr id="3" name="Freeform 3"/>
            <p:cNvSpPr/>
            <p:nvPr/>
          </p:nvSpPr>
          <p:spPr>
            <a:xfrm>
              <a:off x="0" y="0"/>
              <a:ext cx="1943088" cy="1238627"/>
            </a:xfrm>
            <a:custGeom>
              <a:avLst/>
              <a:gdLst/>
              <a:ahLst/>
              <a:cxnLst/>
              <a:rect l="l" t="t" r="r" b="b"/>
              <a:pathLst>
                <a:path w="1943088" h="1238627">
                  <a:moveTo>
                    <a:pt x="20987" y="0"/>
                  </a:moveTo>
                  <a:lnTo>
                    <a:pt x="1922101" y="0"/>
                  </a:lnTo>
                  <a:cubicBezTo>
                    <a:pt x="1933692" y="0"/>
                    <a:pt x="1943088" y="9396"/>
                    <a:pt x="1943088" y="20987"/>
                  </a:cubicBezTo>
                  <a:lnTo>
                    <a:pt x="1943088" y="1217639"/>
                  </a:lnTo>
                  <a:cubicBezTo>
                    <a:pt x="1943088" y="1229230"/>
                    <a:pt x="1933692" y="1238627"/>
                    <a:pt x="1922101" y="1238627"/>
                  </a:cubicBezTo>
                  <a:lnTo>
                    <a:pt x="20987" y="1238627"/>
                  </a:lnTo>
                  <a:cubicBezTo>
                    <a:pt x="9396" y="1238627"/>
                    <a:pt x="0" y="1229230"/>
                    <a:pt x="0" y="1217639"/>
                  </a:cubicBezTo>
                  <a:lnTo>
                    <a:pt x="0" y="20987"/>
                  </a:lnTo>
                  <a:cubicBezTo>
                    <a:pt x="0" y="9396"/>
                    <a:pt x="9396" y="0"/>
                    <a:pt x="20987" y="0"/>
                  </a:cubicBezTo>
                  <a:close/>
                </a:path>
              </a:pathLst>
            </a:custGeom>
            <a:solidFill>
              <a:srgbClr val="FFFFFF"/>
            </a:solidFill>
          </p:spPr>
        </p:sp>
        <p:sp>
          <p:nvSpPr>
            <p:cNvPr id="4" name="TextBox 4"/>
            <p:cNvSpPr txBox="1"/>
            <p:nvPr/>
          </p:nvSpPr>
          <p:spPr>
            <a:xfrm>
              <a:off x="0" y="0"/>
              <a:ext cx="1943088" cy="1238627"/>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8375375" y="1571569"/>
            <a:ext cx="9247485" cy="8050291"/>
            <a:chOff x="0" y="0"/>
            <a:chExt cx="1432677" cy="1247201"/>
          </a:xfrm>
        </p:grpSpPr>
        <p:sp>
          <p:nvSpPr>
            <p:cNvPr id="6" name="Freeform 6"/>
            <p:cNvSpPr/>
            <p:nvPr/>
          </p:nvSpPr>
          <p:spPr>
            <a:xfrm>
              <a:off x="0" y="0"/>
              <a:ext cx="1432677" cy="1247201"/>
            </a:xfrm>
            <a:custGeom>
              <a:avLst/>
              <a:gdLst/>
              <a:ahLst/>
              <a:cxnLst/>
              <a:rect l="l" t="t" r="r" b="b"/>
              <a:pathLst>
                <a:path w="1432677" h="1247201">
                  <a:moveTo>
                    <a:pt x="16744" y="0"/>
                  </a:moveTo>
                  <a:lnTo>
                    <a:pt x="1415934" y="0"/>
                  </a:lnTo>
                  <a:cubicBezTo>
                    <a:pt x="1420374" y="0"/>
                    <a:pt x="1424633" y="1764"/>
                    <a:pt x="1427773" y="4904"/>
                  </a:cubicBezTo>
                  <a:cubicBezTo>
                    <a:pt x="1430913" y="8044"/>
                    <a:pt x="1432677" y="12303"/>
                    <a:pt x="1432677" y="16744"/>
                  </a:cubicBezTo>
                  <a:lnTo>
                    <a:pt x="1432677" y="1230457"/>
                  </a:lnTo>
                  <a:cubicBezTo>
                    <a:pt x="1432677" y="1239704"/>
                    <a:pt x="1425181" y="1247201"/>
                    <a:pt x="1415934" y="1247201"/>
                  </a:cubicBezTo>
                  <a:lnTo>
                    <a:pt x="16744" y="1247201"/>
                  </a:lnTo>
                  <a:cubicBezTo>
                    <a:pt x="7496" y="1247201"/>
                    <a:pt x="0" y="1239704"/>
                    <a:pt x="0" y="1230457"/>
                  </a:cubicBezTo>
                  <a:lnTo>
                    <a:pt x="0" y="16744"/>
                  </a:lnTo>
                  <a:cubicBezTo>
                    <a:pt x="0" y="7496"/>
                    <a:pt x="7496" y="0"/>
                    <a:pt x="16744" y="0"/>
                  </a:cubicBezTo>
                  <a:close/>
                </a:path>
              </a:pathLst>
            </a:custGeom>
            <a:blipFill>
              <a:blip r:embed="rId2"/>
              <a:stretch>
                <a:fillRect l="-15208" r="-15208"/>
              </a:stretch>
            </a:blipFill>
          </p:spPr>
        </p:sp>
      </p:grpSp>
      <p:sp>
        <p:nvSpPr>
          <p:cNvPr id="7" name="TextBox 7"/>
          <p:cNvSpPr txBox="1"/>
          <p:nvPr/>
        </p:nvSpPr>
        <p:spPr>
          <a:xfrm>
            <a:off x="914400" y="5676900"/>
            <a:ext cx="6954860" cy="3077766"/>
          </a:xfrm>
          <a:prstGeom prst="rect">
            <a:avLst/>
          </a:prstGeom>
        </p:spPr>
        <p:txBody>
          <a:bodyPr wrap="square" lIns="0" tIns="0" rIns="0" bIns="0" rtlCol="0" anchor="t">
            <a:spAutoFit/>
          </a:bodyPr>
          <a:lstStyle/>
          <a:p>
            <a:pPr marL="0" lvl="0" indent="0" algn="just">
              <a:spcBef>
                <a:spcPct val="0"/>
              </a:spcBef>
            </a:pPr>
            <a:r>
              <a:rPr lang="en-US" sz="2500" u="none" strike="noStrike" dirty="0">
                <a:solidFill>
                  <a:srgbClr val="000000"/>
                </a:solidFill>
                <a:latin typeface="Inter"/>
                <a:ea typeface="Inter"/>
                <a:cs typeface="Inter"/>
                <a:sym typeface="Inter"/>
              </a:rPr>
              <a:t>The requirement gathering phase provides a good foundation for the proposed Mobile Application for Car Fault Diagnosis by identifying the main stakeholders, collecting data from car owners/drivers and technical experts reviewing related applications and organizing the findings for requirement analysis</a:t>
            </a:r>
          </a:p>
        </p:txBody>
      </p:sp>
      <p:sp>
        <p:nvSpPr>
          <p:cNvPr id="8" name="TextBox 8"/>
          <p:cNvSpPr txBox="1"/>
          <p:nvPr/>
        </p:nvSpPr>
        <p:spPr>
          <a:xfrm>
            <a:off x="491596" y="2007328"/>
            <a:ext cx="7377664" cy="1231106"/>
          </a:xfrm>
          <a:prstGeom prst="rect">
            <a:avLst/>
          </a:prstGeom>
        </p:spPr>
        <p:txBody>
          <a:bodyPr lIns="0" tIns="0" rIns="0" bIns="0" rtlCol="0" anchor="t">
            <a:spAutoFit/>
          </a:bodyPr>
          <a:lstStyle/>
          <a:p>
            <a:pPr marL="0" lvl="0" indent="0" algn="l">
              <a:lnSpc>
                <a:spcPts val="9600"/>
              </a:lnSpc>
              <a:spcBef>
                <a:spcPct val="0"/>
              </a:spcBef>
            </a:pPr>
            <a:r>
              <a:rPr lang="en-US" sz="9600" b="1" dirty="0">
                <a:solidFill>
                  <a:srgbClr val="EE4D4D"/>
                </a:solidFill>
                <a:latin typeface="Montaser Arabic Bold"/>
                <a:ea typeface="Montaser Arabic Bold"/>
                <a:cs typeface="Montaser Arabic Bold"/>
                <a:sym typeface="Montaser Arabic Bold"/>
              </a:rPr>
              <a:t>Conclusion</a:t>
            </a:r>
            <a:endParaRPr lang="en-US" sz="9600" b="1" u="none" strike="noStrike" dirty="0">
              <a:solidFill>
                <a:srgbClr val="EE4D4D"/>
              </a:solidFill>
              <a:latin typeface="Montaser Arabic Bold"/>
              <a:ea typeface="Montaser Arabic Bold"/>
              <a:cs typeface="Montaser Arabic Bold"/>
              <a:sym typeface="Montaser Arabic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TotalTime>
  <Words>924</Words>
  <Application>Microsoft Office PowerPoint</Application>
  <PresentationFormat>Custom</PresentationFormat>
  <Paragraphs>122</Paragraphs>
  <Slides>18</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Wingdings</vt:lpstr>
      <vt:lpstr>Calibri</vt:lpstr>
      <vt:lpstr>Montaser Arabic Bold</vt:lpstr>
      <vt:lpstr>Inter</vt:lpstr>
      <vt:lpstr>Canva Sans</vt:lpstr>
      <vt:lpstr>Canva Sans Bold</vt:lpstr>
      <vt:lpstr>Aptos</vt:lpstr>
      <vt:lpstr>Arial</vt:lpstr>
      <vt:lpstr>Inter Bold</vt:lpstr>
      <vt:lpstr>Inter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Gathering</dc:title>
  <dc:creator>FONGANG</dc:creator>
  <cp:lastModifiedBy>Fongang Faith Acho</cp:lastModifiedBy>
  <cp:revision>6</cp:revision>
  <dcterms:created xsi:type="dcterms:W3CDTF">2006-08-16T00:00:00Z</dcterms:created>
  <dcterms:modified xsi:type="dcterms:W3CDTF">2026-04-27T10:13:06Z</dcterms:modified>
  <dc:identifier>DAHIA6BKT3U</dc:identifier>
</cp:coreProperties>
</file>