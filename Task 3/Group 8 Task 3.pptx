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arcellus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55403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CarDiag: Mobile Car Fault Diagnosis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925119" y="2827660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CEF 440 — Internet &amp; Mobile Programming · Dr. Nkemeni Valery · Group 8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55628"/>
            <a:ext cx="2142158" cy="232395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98118"/>
            <a:ext cx="1972047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 ANALYSIS REPORT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27199"/>
            <a:ext cx="40758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925119" y="1669628"/>
            <a:ext cx="2290465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81165" y="1825675"/>
            <a:ext cx="197837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83.3%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81165" y="2175644"/>
            <a:ext cx="197837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Have seen an unknown dashboard warning light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669628"/>
            <a:ext cx="2290539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3388" y="1825675"/>
            <a:ext cx="197844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66.7%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13388" y="2175644"/>
            <a:ext cx="197844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Ignored a warning light due to not understanding 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841947"/>
            <a:ext cx="4722763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1165" y="2997994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85.2%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81165" y="3347963"/>
            <a:ext cx="441067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Have heard an unusual engine sound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3847728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solutions require expensive tools, OBD-II dongles, or specialist knowledge.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14561"/>
            <a:ext cx="3693691" cy="48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Solution: CarDiag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10" y="1411784"/>
            <a:ext cx="5249391" cy="297462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5341" y="1208261"/>
            <a:ext cx="192658" cy="192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34658" y="1200299"/>
            <a:ext cx="18468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Camera Scan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434658" y="1556742"/>
            <a:ext cx="2264420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Recognize warning lights via phone camera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341" y="2115889"/>
            <a:ext cx="192658" cy="192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34658" y="2107927"/>
            <a:ext cx="18468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Sound Diagnosis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434658" y="2464371"/>
            <a:ext cx="2264420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engine audio for fault patterns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5341" y="3023518"/>
            <a:ext cx="192658" cy="1926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34658" y="3015555"/>
            <a:ext cx="18468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Offline-First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434658" y="3371999"/>
            <a:ext cx="2264420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core features work without internet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65341" y="3931146"/>
            <a:ext cx="192658" cy="19265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34658" y="3923184"/>
            <a:ext cx="18468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Urgency Guidance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6434658" y="4279627"/>
            <a:ext cx="2264420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Color-coded urgency + mechanic referral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1489"/>
            <a:ext cx="4737571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Requirements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485677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22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470794" y="2130549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Functional Reqs.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2480518"/>
            <a:ext cx="39872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FR01–FR22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485677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11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635228" y="2130549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Non-Functional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0553" y="2480518"/>
            <a:ext cx="3987329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NFR01–NFR11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019127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8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470794" y="366400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Gaps Found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119" y="4013969"/>
            <a:ext cx="39872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GAP-01 to GAP-08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3019127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54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635228" y="366400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Survey Respondents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0553" y="4013969"/>
            <a:ext cx="3987329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two phases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357688"/>
            <a:ext cx="8151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Plus 6 ambiguities (AMB-01–06) and 5 inconsistencies (INC-01–05) identified and resolved.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567779"/>
            <a:ext cx="4761979" cy="471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Functional Requirements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441871" y="1208261"/>
            <a:ext cx="4831259" cy="757535"/>
          </a:xfrm>
          <a:prstGeom prst="roundRect">
            <a:avLst>
              <a:gd name="adj" fmla="val 7000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6158" y="1222549"/>
            <a:ext cx="504974" cy="728960"/>
          </a:xfrm>
          <a:prstGeom prst="roundRect">
            <a:avLst>
              <a:gd name="adj" fmla="val 7106"/>
            </a:avLst>
          </a:prstGeom>
          <a:solidFill>
            <a:srgbClr val="FFFFF4"/>
          </a:solidFill>
          <a:ln/>
        </p:spPr>
      </p:sp>
      <p:sp>
        <p:nvSpPr>
          <p:cNvPr id="6" name="Text 3"/>
          <p:cNvSpPr/>
          <p:nvPr/>
        </p:nvSpPr>
        <p:spPr>
          <a:xfrm>
            <a:off x="606772" y="1463948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73572" y="1348755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FR01 — Camera Scan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572" y="1652067"/>
            <a:ext cx="4059064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On-device CV model recognizes dashboard symbols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1871" y="2078236"/>
            <a:ext cx="4831259" cy="757535"/>
          </a:xfrm>
          <a:prstGeom prst="roundRect">
            <a:avLst>
              <a:gd name="adj" fmla="val 7000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158" y="2092523"/>
            <a:ext cx="504974" cy="728960"/>
          </a:xfrm>
          <a:prstGeom prst="roundRect">
            <a:avLst>
              <a:gd name="adj" fmla="val 7106"/>
            </a:avLst>
          </a:prstGeom>
          <a:solidFill>
            <a:srgbClr val="FFFFF4"/>
          </a:solidFill>
          <a:ln/>
        </p:spPr>
      </p:sp>
      <p:sp>
        <p:nvSpPr>
          <p:cNvPr id="11" name="Text 8"/>
          <p:cNvSpPr/>
          <p:nvPr/>
        </p:nvSpPr>
        <p:spPr>
          <a:xfrm>
            <a:off x="606772" y="2333923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73572" y="2218730"/>
            <a:ext cx="2318445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FR06 — Audio Classification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73572" y="2522041"/>
            <a:ext cx="4059064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classifier detects knocking, squealing, grinding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1871" y="2948211"/>
            <a:ext cx="4831259" cy="757535"/>
          </a:xfrm>
          <a:prstGeom prst="roundRect">
            <a:avLst>
              <a:gd name="adj" fmla="val 7000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6158" y="2962498"/>
            <a:ext cx="504974" cy="728960"/>
          </a:xfrm>
          <a:prstGeom prst="roundRect">
            <a:avLst>
              <a:gd name="adj" fmla="val 7106"/>
            </a:avLst>
          </a:prstGeom>
          <a:solidFill>
            <a:srgbClr val="FFFFF4"/>
          </a:solidFill>
          <a:ln/>
        </p:spPr>
      </p:sp>
      <p:sp>
        <p:nvSpPr>
          <p:cNvPr id="16" name="Text 13"/>
          <p:cNvSpPr/>
          <p:nvPr/>
        </p:nvSpPr>
        <p:spPr>
          <a:xfrm>
            <a:off x="606772" y="3203897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73572" y="3088704"/>
            <a:ext cx="1945184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FR08 — Urgency Levels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73572" y="3392016"/>
            <a:ext cx="4059064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/ Medium / High / Critical — color-coded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41871" y="3818186"/>
            <a:ext cx="4831259" cy="757535"/>
          </a:xfrm>
          <a:prstGeom prst="roundRect">
            <a:avLst>
              <a:gd name="adj" fmla="val 7000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6158" y="3832473"/>
            <a:ext cx="504974" cy="728960"/>
          </a:xfrm>
          <a:prstGeom prst="roundRect">
            <a:avLst>
              <a:gd name="adj" fmla="val 7106"/>
            </a:avLst>
          </a:prstGeom>
          <a:solidFill>
            <a:srgbClr val="FFFFF4"/>
          </a:solidFill>
          <a:ln/>
        </p:spPr>
      </p:sp>
      <p:sp>
        <p:nvSpPr>
          <p:cNvPr id="21" name="Text 18"/>
          <p:cNvSpPr/>
          <p:nvPr/>
        </p:nvSpPr>
        <p:spPr>
          <a:xfrm>
            <a:off x="606772" y="4073872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073572" y="3958679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FR11 — Offline Mode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3572" y="4261991"/>
            <a:ext cx="4059064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features work from first launch, no internet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12093"/>
            <a:ext cx="4373612" cy="422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Non-Functional Requirements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70508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70508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336453"/>
            <a:ext cx="1623938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Quality Targets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714503" y="2637458"/>
            <a:ext cx="3759622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Accuracy:</a:t>
            </a:r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Image ≥85%, Audio ≥75%</a:t>
            </a:r>
            <a:endParaRPr lang="en-US" sz="8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Response:</a:t>
            </a:r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Camera ≤3s, Audio ≤10s</a:t>
            </a:r>
            <a:endParaRPr lang="en-US" sz="8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Privacy:</a:t>
            </a:r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On-device inference only</a:t>
            </a:r>
            <a:endParaRPr lang="en-US" sz="8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Platform:</a:t>
            </a:r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Android 8.0+ / iOS 13+</a:t>
            </a:r>
            <a:endParaRPr lang="en-US" sz="8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Reliability:</a:t>
            </a:r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≥98% crash-free sessions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1618"/>
            <a:ext cx="5346576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Gaps &amp; Ambiguities Resolved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6119" y="1734964"/>
            <a:ext cx="4004965" cy="1040085"/>
          </a:xfrm>
          <a:prstGeom prst="roundRect">
            <a:avLst>
              <a:gd name="adj" fmla="val 8792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734964"/>
            <a:ext cx="76200" cy="1040085"/>
          </a:xfrm>
          <a:prstGeom prst="roundRect">
            <a:avLst>
              <a:gd name="adj" fmla="val 78140"/>
            </a:avLst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89577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GAP-01: ML Accuracy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4077" y="2245742"/>
            <a:ext cx="362619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thresholds: image ≥85%, audio ≥75% (NFR03)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734964"/>
            <a:ext cx="4005039" cy="1040085"/>
          </a:xfrm>
          <a:prstGeom prst="roundRect">
            <a:avLst>
              <a:gd name="adj" fmla="val 8792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3792" y="1734964"/>
            <a:ext cx="76200" cy="1040085"/>
          </a:xfrm>
          <a:prstGeom prst="roundRect">
            <a:avLst>
              <a:gd name="adj" fmla="val 78140"/>
            </a:avLst>
          </a:prstGeom>
          <a:solidFill>
            <a:srgbClr val="FF954F"/>
          </a:solidFill>
          <a:ln/>
        </p:spPr>
      </p:sp>
      <p:sp>
        <p:nvSpPr>
          <p:cNvPr id="9" name="Text 7"/>
          <p:cNvSpPr/>
          <p:nvPr/>
        </p:nvSpPr>
        <p:spPr>
          <a:xfrm>
            <a:off x="4860801" y="1895773"/>
            <a:ext cx="2076896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GAP-03: Privacy Policy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60801" y="2245742"/>
            <a:ext cx="362627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On-device inference; raw data never transmitted (NFR05)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916808"/>
            <a:ext cx="4004965" cy="1304999"/>
          </a:xfrm>
          <a:prstGeom prst="roundRect">
            <a:avLst>
              <a:gd name="adj" fmla="val 7007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069" y="2916808"/>
            <a:ext cx="76200" cy="1304999"/>
          </a:xfrm>
          <a:prstGeom prst="roundRect">
            <a:avLst>
              <a:gd name="adj" fmla="val 78140"/>
            </a:avLst>
          </a:prstGeom>
          <a:solidFill>
            <a:srgbClr val="FF954F"/>
          </a:solidFill>
          <a:ln/>
        </p:spPr>
      </p:sp>
      <p:sp>
        <p:nvSpPr>
          <p:cNvPr id="13" name="Text 11"/>
          <p:cNvSpPr/>
          <p:nvPr/>
        </p:nvSpPr>
        <p:spPr>
          <a:xfrm>
            <a:off x="714077" y="3077617"/>
            <a:ext cx="3626197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AMB-03: "Diagnose" vs. "Possible Causes"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4077" y="3692500"/>
            <a:ext cx="362619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Standardized to "preliminary assessment" — never "diagnosis"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916808"/>
            <a:ext cx="4005039" cy="1304999"/>
          </a:xfrm>
          <a:prstGeom prst="roundRect">
            <a:avLst>
              <a:gd name="adj" fmla="val 7007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3792" y="2916808"/>
            <a:ext cx="76200" cy="1304999"/>
          </a:xfrm>
          <a:prstGeom prst="roundRect">
            <a:avLst>
              <a:gd name="adj" fmla="val 78140"/>
            </a:avLst>
          </a:prstGeom>
          <a:solidFill>
            <a:srgbClr val="FF954F"/>
          </a:solidFill>
          <a:ln/>
        </p:spPr>
      </p:sp>
      <p:sp>
        <p:nvSpPr>
          <p:cNvPr id="17" name="Text 15"/>
          <p:cNvSpPr/>
          <p:nvPr/>
        </p:nvSpPr>
        <p:spPr>
          <a:xfrm>
            <a:off x="4860801" y="3077617"/>
            <a:ext cx="2127796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INC-01: Urgency Levels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60801" y="3427586"/>
            <a:ext cx="362627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Adopted 4-level system (Low/Medium/High/Critical)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97371"/>
            <a:ext cx="3629992" cy="471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Technical Feasibility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71" y="1401291"/>
            <a:ext cx="5261297" cy="298139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16005" y="1164357"/>
            <a:ext cx="2690813" cy="939626"/>
          </a:xfrm>
          <a:prstGeom prst="roundRect">
            <a:avLst>
              <a:gd name="adj" fmla="val 5644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56499" y="1304851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✅</a:t>
            </a:r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High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56499" y="1653183"/>
            <a:ext cx="2409825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Camera recognition, offline inference, video links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016005" y="2216423"/>
            <a:ext cx="2690813" cy="939626"/>
          </a:xfrm>
          <a:prstGeom prst="roundRect">
            <a:avLst>
              <a:gd name="adj" fmla="val 5644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6499" y="2356917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⚠️</a:t>
            </a:r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Medium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56499" y="2705249"/>
            <a:ext cx="2409825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Audio classification, multi-light detection, engine diversity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16005" y="3268489"/>
            <a:ext cx="2690813" cy="939626"/>
          </a:xfrm>
          <a:prstGeom prst="roundRect">
            <a:avLst>
              <a:gd name="adj" fmla="val 5644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56499" y="3408983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🔲</a:t>
            </a:r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Low (Deferred)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56499" y="3757315"/>
            <a:ext cx="2409825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Mechanic directory, OBD-II integration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16005" y="4334619"/>
            <a:ext cx="269081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TensorFlow Lite enables on-device ML. Target app size: &lt;150 MB.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323478"/>
            <a:ext cx="3423642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Stakeholder Validation</a:t>
            </a:r>
            <a:endParaRPr lang="en-US" sz="2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840" y="908000"/>
            <a:ext cx="293489" cy="2934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39840" y="1323008"/>
            <a:ext cx="1687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Car Owners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3839840" y="1600646"/>
            <a:ext cx="489332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Validated: scan, sound diagnosis, urgency levels, offline mode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9840" y="1934617"/>
            <a:ext cx="293489" cy="2934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39840" y="2349624"/>
            <a:ext cx="1687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3839840" y="2627263"/>
            <a:ext cx="489332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"An assistant, not a replacement" — confidence scores required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9840" y="2961233"/>
            <a:ext cx="293489" cy="2934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39840" y="3376240"/>
            <a:ext cx="1687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 Electricians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3839840" y="3653879"/>
            <a:ext cx="489332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Multi-light detection &amp; electrical fault categorization validated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39840" y="3987850"/>
            <a:ext cx="293489" cy="29348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39840" y="4402857"/>
            <a:ext cx="1687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Drivers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3839840" y="4680496"/>
            <a:ext cx="489332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Offline-first, fast results, clear "stop driving" urgency critical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7795"/>
            <a:ext cx="6567636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MoSCoW Prioritization &amp; Roadmap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34133"/>
            <a:ext cx="2551807" cy="1417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4198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Version Roadmap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91610" y="1766367"/>
            <a:ext cx="19050" cy="2759869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6" name="Shape 3"/>
          <p:cNvSpPr/>
          <p:nvPr/>
        </p:nvSpPr>
        <p:spPr>
          <a:xfrm>
            <a:off x="6436668" y="1916311"/>
            <a:ext cx="283518" cy="1905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7" name="Shape 4"/>
          <p:cNvSpPr/>
          <p:nvPr/>
        </p:nvSpPr>
        <p:spPr>
          <a:xfrm>
            <a:off x="6648004" y="1872704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FF954F"/>
          </a:solidFill>
          <a:ln/>
        </p:spPr>
      </p:sp>
      <p:sp>
        <p:nvSpPr>
          <p:cNvPr id="8" name="Text 5"/>
          <p:cNvSpPr/>
          <p:nvPr/>
        </p:nvSpPr>
        <p:spPr>
          <a:xfrm>
            <a:off x="4749701" y="1810643"/>
            <a:ext cx="138439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v1.0 — MVP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49701" y="2217316"/>
            <a:ext cx="1384399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Camera scan, urgency, offline, safety disclaimers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82085" y="2766864"/>
            <a:ext cx="283518" cy="1905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11" name="Shape 8"/>
          <p:cNvSpPr/>
          <p:nvPr/>
        </p:nvSpPr>
        <p:spPr>
          <a:xfrm>
            <a:off x="6648004" y="2723257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FF954F"/>
          </a:solidFill>
          <a:ln/>
        </p:spPr>
      </p:sp>
      <p:sp>
        <p:nvSpPr>
          <p:cNvPr id="12" name="Text 9"/>
          <p:cNvSpPr/>
          <p:nvPr/>
        </p:nvSpPr>
        <p:spPr>
          <a:xfrm>
            <a:off x="7268170" y="2661196"/>
            <a:ext cx="138447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v2.0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68170" y="3067869"/>
            <a:ext cx="138447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Audio diagnosis, vehicle profiles, French language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36668" y="3497759"/>
            <a:ext cx="283518" cy="1905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15" name="Shape 12"/>
          <p:cNvSpPr/>
          <p:nvPr/>
        </p:nvSpPr>
        <p:spPr>
          <a:xfrm>
            <a:off x="6648004" y="3454152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FF954F"/>
          </a:solidFill>
          <a:ln/>
        </p:spPr>
      </p:sp>
      <p:sp>
        <p:nvSpPr>
          <p:cNvPr id="16" name="Text 13"/>
          <p:cNvSpPr/>
          <p:nvPr/>
        </p:nvSpPr>
        <p:spPr>
          <a:xfrm>
            <a:off x="4749701" y="3392091"/>
            <a:ext cx="138439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v3.0+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49701" y="3798763"/>
            <a:ext cx="1384399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OBD-II integration, mechanic directory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2026-05-11T13:51:10Z</dcterms:created>
  <dcterms:modified xsi:type="dcterms:W3CDTF">2026-05-11T13:51:10Z</dcterms:modified>
</cp:coreProperties>
</file>