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1" r:id="rId9"/>
    <p:sldId id="265" r:id="rId10"/>
    <p:sldId id="264" r:id="rId11"/>
    <p:sldId id="266" r:id="rId12"/>
    <p:sldId id="267" r:id="rId13"/>
    <p:sldId id="268" r:id="rId14"/>
  </p:sldIdLst>
  <p:sldSz cx="9144000" cy="5143500" type="screen16x9"/>
  <p:notesSz cx="5143500" cy="9144000"/>
  <p:embeddedFontLst>
    <p:embeddedFont>
      <p:font typeface="Marcellus" panose="020E0602050203020307" pitchFamily="34" charset="0"/>
      <p:regular r:id="rId16"/>
    </p:embeddedFont>
    <p:embeddedFont>
      <p:font typeface="Montserrat" pitchFamily="2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020" y="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0715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825550"/>
            <a:ext cx="2891730" cy="232395"/>
          </a:xfrm>
          <a:prstGeom prst="roundRect">
            <a:avLst>
              <a:gd name="adj" fmla="val 20497"/>
            </a:avLst>
          </a:prstGeom>
          <a:solidFill>
            <a:srgbClr val="FFE0C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1"/>
          <p:cNvSpPr/>
          <p:nvPr/>
        </p:nvSpPr>
        <p:spPr>
          <a:xfrm>
            <a:off x="581174" y="868040"/>
            <a:ext cx="3178820" cy="14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CEF 440 · INTERNET &amp; MOBILE PROGRAMMING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496119" y="1128787"/>
            <a:ext cx="2063353" cy="251445"/>
          </a:xfrm>
          <a:prstGeom prst="roundRect">
            <a:avLst>
              <a:gd name="adj" fmla="val 18944"/>
            </a:avLst>
          </a:prstGeom>
          <a:noFill/>
          <a:ln w="9525">
            <a:solidFill>
              <a:srgbClr val="FF954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590699" y="1180802"/>
            <a:ext cx="2331393" cy="14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FF95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GROUP 8 · UNIVERSITY OF BUEA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96119" y="1436936"/>
            <a:ext cx="4722763" cy="1059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CarDiag: System Modelling &amp; Design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496119" y="2709193"/>
            <a:ext cx="4722763" cy="1264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Complete UML design phase for an AI-powered mobile car diagnostics app — covering six diagram types grounded in the baselined SRS v1.1.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Instructor:</a:t>
            </a: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Dr. Nkemeni Valery  |  </a:t>
            </a:r>
            <a:r>
              <a:rPr lang="en-US" sz="11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Group 8:</a:t>
            </a: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Salle Yimnai Bryan Nzume Etuge · Fongang Faith Acho · Andigema Joyce Ani · Manikeu Tinkeu Marie Ange Princesse · Ndip Samuel Agbor Ojong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81992"/>
            <a:ext cx="4533007" cy="529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96119" y="1395338"/>
            <a:ext cx="8608963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Six UML diagrams trace the complete system design — from external actors to physical deployment.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739057"/>
            <a:ext cx="4004965" cy="846311"/>
          </a:xfrm>
          <a:prstGeom prst="roundRect">
            <a:avLst>
              <a:gd name="adj" fmla="val 7036"/>
            </a:avLst>
          </a:prstGeom>
          <a:solidFill>
            <a:srgbClr val="FFFFF4"/>
          </a:solidFill>
          <a:ln w="14288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52165" y="1895103"/>
            <a:ext cx="2037904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Context Diagram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2165" y="2245072"/>
            <a:ext cx="3692872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boundary &amp; external actors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42842" y="1739057"/>
            <a:ext cx="4005039" cy="846311"/>
          </a:xfrm>
          <a:prstGeom prst="roundRect">
            <a:avLst>
              <a:gd name="adj" fmla="val 7036"/>
            </a:avLst>
          </a:prstGeom>
          <a:solidFill>
            <a:srgbClr val="FFFFF4"/>
          </a:solidFill>
          <a:ln w="14288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798888" y="1895103"/>
            <a:ext cx="2037904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DFD Level 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98888" y="2245072"/>
            <a:ext cx="3692947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processes, 3 data stores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6119" y="2727127"/>
            <a:ext cx="4004965" cy="846311"/>
          </a:xfrm>
          <a:prstGeom prst="roundRect">
            <a:avLst>
              <a:gd name="adj" fmla="val 7036"/>
            </a:avLst>
          </a:prstGeom>
          <a:solidFill>
            <a:srgbClr val="FFFFF4"/>
          </a:solidFill>
          <a:ln w="14288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652165" y="2883173"/>
            <a:ext cx="2037904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Use Case Diagram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2165" y="3233142"/>
            <a:ext cx="3692872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 use cases, 3 actors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42842" y="2727127"/>
            <a:ext cx="4005039" cy="846311"/>
          </a:xfrm>
          <a:prstGeom prst="roundRect">
            <a:avLst>
              <a:gd name="adj" fmla="val 7036"/>
            </a:avLst>
          </a:prstGeom>
          <a:solidFill>
            <a:srgbClr val="FFFFF4"/>
          </a:solidFill>
          <a:ln w="14288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798888" y="2883173"/>
            <a:ext cx="2037904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Sequence Diagrams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98888" y="3233142"/>
            <a:ext cx="3692947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 interaction flows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6119" y="3715196"/>
            <a:ext cx="4004965" cy="846311"/>
          </a:xfrm>
          <a:prstGeom prst="roundRect">
            <a:avLst>
              <a:gd name="adj" fmla="val 7036"/>
            </a:avLst>
          </a:prstGeom>
          <a:solidFill>
            <a:srgbClr val="FFFFF4"/>
          </a:solidFill>
          <a:ln w="14288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52165" y="3871243"/>
            <a:ext cx="2037904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Class Diagram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2165" y="4221212"/>
            <a:ext cx="3692872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 classes, 2 enums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42842" y="3715196"/>
            <a:ext cx="4005039" cy="846311"/>
          </a:xfrm>
          <a:prstGeom prst="roundRect">
            <a:avLst>
              <a:gd name="adj" fmla="val 7036"/>
            </a:avLst>
          </a:prstGeom>
          <a:solidFill>
            <a:srgbClr val="FFFFF4"/>
          </a:solidFill>
          <a:ln w="14288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798888" y="3871243"/>
            <a:ext cx="2037904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Deployment Diagram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798888" y="4221212"/>
            <a:ext cx="3692947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runtime nodes</a:t>
            </a:r>
            <a:endParaRPr lang="en-US" sz="11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8C9AB32-4E5E-C29A-93D0-C0A773453B8F}"/>
              </a:ext>
            </a:extLst>
          </p:cNvPr>
          <p:cNvSpPr/>
          <p:nvPr/>
        </p:nvSpPr>
        <p:spPr>
          <a:xfrm>
            <a:off x="7978140" y="4739640"/>
            <a:ext cx="1157897" cy="403860"/>
          </a:xfrm>
          <a:prstGeom prst="rect">
            <a:avLst/>
          </a:prstGeom>
          <a:solidFill>
            <a:srgbClr val="FFFF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643" y="367085"/>
            <a:ext cx="669131" cy="181942"/>
          </a:xfrm>
          <a:prstGeom prst="roundRect">
            <a:avLst>
              <a:gd name="adj" fmla="val 21681"/>
            </a:avLst>
          </a:prstGeom>
          <a:solidFill>
            <a:srgbClr val="FFE0C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92038" y="402282"/>
            <a:ext cx="985540" cy="111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7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DIAGRAM 1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21643" y="587871"/>
            <a:ext cx="3832473" cy="438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6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Context Diagram</a:t>
            </a:r>
            <a:endParaRPr lang="en-US" sz="2650" dirty="0"/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57461" y="1281708"/>
            <a:ext cx="4312842" cy="31645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97228" y="1781770"/>
            <a:ext cx="2144837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System Boundary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397228" y="2098328"/>
            <a:ext cx="2229743" cy="279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CarDiag app — all sensor data stays on-device.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397228" y="2474565"/>
            <a:ext cx="2144837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External Actors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397228" y="2791123"/>
            <a:ext cx="2229743" cy="121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99000"/>
              </a:lnSpc>
              <a:buSzPct val="100000"/>
              <a:buChar char="•"/>
            </a:pPr>
            <a:r>
              <a:rPr lang="en-US" sz="9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 Owner</a:t>
            </a: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primary user; camera, audio, symptom inputs</a:t>
            </a:r>
            <a:endParaRPr lang="en-US" sz="900" dirty="0"/>
          </a:p>
          <a:p>
            <a:pPr marL="342900" indent="-342900" algn="l">
              <a:lnSpc>
                <a:spcPct val="99000"/>
              </a:lnSpc>
              <a:buSzPct val="100000"/>
              <a:buChar char="•"/>
            </a:pPr>
            <a:r>
              <a:rPr lang="en-US" sz="9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Sync Server</a:t>
            </a: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Version 2 delta updates</a:t>
            </a:r>
            <a:endParaRPr lang="en-US" sz="900" dirty="0"/>
          </a:p>
          <a:p>
            <a:pPr marL="342900" indent="-342900" algn="l">
              <a:lnSpc>
                <a:spcPct val="99000"/>
              </a:lnSpc>
              <a:buSzPct val="100000"/>
              <a:buChar char="•"/>
            </a:pPr>
            <a:r>
              <a:rPr lang="en-US" sz="9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YouTube</a:t>
            </a: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curated expert video URLs</a:t>
            </a:r>
            <a:endParaRPr lang="en-US" sz="900" dirty="0"/>
          </a:p>
          <a:p>
            <a:pPr marL="342900" indent="-342900" algn="l">
              <a:lnSpc>
                <a:spcPct val="99000"/>
              </a:lnSpc>
              <a:buSzPct val="100000"/>
              <a:buChar char="•"/>
            </a:pPr>
            <a:r>
              <a:rPr lang="en-US" sz="9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Automotive Expert</a:t>
            </a: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offline KB content source</a:t>
            </a:r>
            <a:endParaRPr lang="en-US" sz="9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F8D4AD-6895-3EC5-4D14-C1335DF0EF03}"/>
              </a:ext>
            </a:extLst>
          </p:cNvPr>
          <p:cNvSpPr/>
          <p:nvPr/>
        </p:nvSpPr>
        <p:spPr>
          <a:xfrm>
            <a:off x="7978140" y="4739640"/>
            <a:ext cx="1157897" cy="403860"/>
          </a:xfrm>
          <a:prstGeom prst="rect">
            <a:avLst/>
          </a:prstGeom>
          <a:solidFill>
            <a:srgbClr val="FFFF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64443" y="4664869"/>
            <a:ext cx="8100640" cy="111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99000"/>
              </a:lnSpc>
              <a:buNone/>
            </a:pPr>
            <a:r>
              <a:rPr lang="en-US" sz="7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 2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643" y="367085"/>
            <a:ext cx="688628" cy="181942"/>
          </a:xfrm>
          <a:prstGeom prst="roundRect">
            <a:avLst>
              <a:gd name="adj" fmla="val 21681"/>
            </a:avLst>
          </a:prstGeom>
          <a:solidFill>
            <a:srgbClr val="FFE0C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92038" y="402282"/>
            <a:ext cx="1005036" cy="111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7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DIAGRAM 2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21643" y="587871"/>
            <a:ext cx="5042222" cy="438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6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Data Flow Diagram — Level 0</a:t>
            </a:r>
            <a:endParaRPr lang="en-US" sz="2650" dirty="0"/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29140" y="1281708"/>
            <a:ext cx="4169484" cy="31645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97228" y="1957015"/>
            <a:ext cx="2144837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Processes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397228" y="2273573"/>
            <a:ext cx="2229743" cy="6601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99000"/>
              </a:lnSpc>
              <a:buSzPct val="100000"/>
              <a:buChar char="•"/>
            </a:pPr>
            <a:r>
              <a:rPr lang="en-US" sz="9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P1</a:t>
            </a: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Input Capture</a:t>
            </a:r>
            <a:endParaRPr lang="en-US" sz="900" dirty="0"/>
          </a:p>
          <a:p>
            <a:pPr marL="342900" indent="-342900" algn="l">
              <a:lnSpc>
                <a:spcPct val="99000"/>
              </a:lnSpc>
              <a:buSzPct val="100000"/>
              <a:buChar char="•"/>
            </a:pPr>
            <a:r>
              <a:rPr lang="en-US" sz="9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P2</a:t>
            </a: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On-device AI</a:t>
            </a:r>
            <a:endParaRPr lang="en-US" sz="900" dirty="0"/>
          </a:p>
          <a:p>
            <a:pPr marL="342900" indent="-342900" algn="l">
              <a:lnSpc>
                <a:spcPct val="99000"/>
              </a:lnSpc>
              <a:buSzPct val="100000"/>
              <a:buChar char="•"/>
            </a:pPr>
            <a:r>
              <a:rPr lang="en-US" sz="9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P3</a:t>
            </a: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Result Generation</a:t>
            </a:r>
            <a:endParaRPr lang="en-US" sz="900" dirty="0"/>
          </a:p>
          <a:p>
            <a:pPr marL="342900" indent="-342900" algn="l">
              <a:lnSpc>
                <a:spcPct val="99000"/>
              </a:lnSpc>
              <a:buSzPct val="100000"/>
              <a:buChar char="•"/>
            </a:pPr>
            <a:r>
              <a:rPr lang="en-US" sz="9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P4</a:t>
            </a: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Data Sync (V2)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397228" y="3030885"/>
            <a:ext cx="2144837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Data Stores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397228" y="3347442"/>
            <a:ext cx="2229743" cy="486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99000"/>
              </a:lnSpc>
              <a:buSzPct val="100000"/>
              <a:buChar char="•"/>
            </a:pPr>
            <a:r>
              <a:rPr lang="en-US" sz="9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DS1</a:t>
            </a: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Offline KB (SQLite)</a:t>
            </a:r>
            <a:endParaRPr lang="en-US" sz="900" dirty="0"/>
          </a:p>
          <a:p>
            <a:pPr marL="342900" indent="-342900" algn="l">
              <a:lnSpc>
                <a:spcPct val="99000"/>
              </a:lnSpc>
              <a:buSzPct val="100000"/>
              <a:buChar char="•"/>
            </a:pPr>
            <a:r>
              <a:rPr lang="en-US" sz="9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DS2</a:t>
            </a: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Diagnosis History</a:t>
            </a:r>
            <a:endParaRPr lang="en-US" sz="900" dirty="0"/>
          </a:p>
          <a:p>
            <a:pPr marL="342900" indent="-342900" algn="l">
              <a:lnSpc>
                <a:spcPct val="99000"/>
              </a:lnSpc>
              <a:buSzPct val="100000"/>
              <a:buChar char="•"/>
            </a:pPr>
            <a:r>
              <a:rPr lang="en-US" sz="9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DS3</a:t>
            </a: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Video URL Registry</a:t>
            </a:r>
            <a:endParaRPr lang="en-US" sz="9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D43F4B-38E0-2028-028A-F43EBE8C13C0}"/>
              </a:ext>
            </a:extLst>
          </p:cNvPr>
          <p:cNvSpPr/>
          <p:nvPr/>
        </p:nvSpPr>
        <p:spPr>
          <a:xfrm>
            <a:off x="7978140" y="4739640"/>
            <a:ext cx="1157897" cy="403860"/>
          </a:xfrm>
          <a:prstGeom prst="rect">
            <a:avLst/>
          </a:prstGeom>
          <a:solidFill>
            <a:srgbClr val="FFFF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64443" y="4664869"/>
            <a:ext cx="8100640" cy="111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99000"/>
              </a:lnSpc>
              <a:buNone/>
            </a:pPr>
            <a:r>
              <a:rPr lang="en-US" sz="7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 2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643" y="353095"/>
            <a:ext cx="688256" cy="181942"/>
          </a:xfrm>
          <a:prstGeom prst="roundRect">
            <a:avLst>
              <a:gd name="adj" fmla="val 21681"/>
            </a:avLst>
          </a:prstGeom>
          <a:solidFill>
            <a:srgbClr val="FFE0C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92038" y="388293"/>
            <a:ext cx="1004664" cy="111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7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DIAGRAM 3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21643" y="573881"/>
            <a:ext cx="3832473" cy="438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6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Use Case Diagram</a:t>
            </a:r>
            <a:endParaRPr lang="en-US" sz="2650" dirty="0"/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94370" y="1267718"/>
            <a:ext cx="4259804" cy="36262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14278" y="1047318"/>
            <a:ext cx="2727788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Actors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791200" y="1363876"/>
            <a:ext cx="2835771" cy="486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99000"/>
              </a:lnSpc>
              <a:buSzPct val="100000"/>
              <a:buChar char="•"/>
            </a:pPr>
            <a:r>
              <a:rPr lang="en-US" sz="12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 Owner</a:t>
            </a: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primary user</a:t>
            </a:r>
            <a:endParaRPr lang="en-US" sz="1200" dirty="0"/>
          </a:p>
          <a:p>
            <a:pPr marL="342900" indent="-342900" algn="l">
              <a:lnSpc>
                <a:spcPct val="99000"/>
              </a:lnSpc>
              <a:buSzPct val="100000"/>
              <a:buChar char="•"/>
            </a:pPr>
            <a:r>
              <a:rPr lang="en-US" sz="12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 Admin</a:t>
            </a: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DB maintenance</a:t>
            </a:r>
            <a:endParaRPr lang="en-US" sz="1200" dirty="0"/>
          </a:p>
          <a:p>
            <a:pPr marL="342900" indent="-342900" algn="l">
              <a:lnSpc>
                <a:spcPct val="99000"/>
              </a:lnSpc>
              <a:buSzPct val="100000"/>
              <a:buChar char="•"/>
            </a:pPr>
            <a:r>
              <a:rPr lang="en-US" sz="12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Sync Server</a:t>
            </a: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V2 backend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814278" y="1947654"/>
            <a:ext cx="2727788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Core Use Cases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791200" y="2264212"/>
            <a:ext cx="2835771" cy="13542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99000"/>
              </a:lnSpc>
              <a:buSzPct val="100000"/>
              <a:buChar char="•"/>
            </a:pPr>
            <a:r>
              <a:rPr lang="en-US" sz="12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UC01</a:t>
            </a: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Scan Warning Light</a:t>
            </a:r>
            <a:endParaRPr lang="en-US" sz="1200" dirty="0"/>
          </a:p>
          <a:p>
            <a:pPr marL="342900" indent="-342900" algn="l">
              <a:lnSpc>
                <a:spcPct val="99000"/>
              </a:lnSpc>
              <a:buSzPct val="100000"/>
              <a:buChar char="•"/>
            </a:pPr>
            <a:r>
              <a:rPr lang="en-US" sz="12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UC02</a:t>
            </a: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Manual Search</a:t>
            </a:r>
            <a:endParaRPr lang="en-US" sz="1200" dirty="0"/>
          </a:p>
          <a:p>
            <a:pPr marL="342900" indent="-342900" algn="l">
              <a:lnSpc>
                <a:spcPct val="99000"/>
              </a:lnSpc>
              <a:buSzPct val="100000"/>
              <a:buChar char="•"/>
            </a:pPr>
            <a:r>
              <a:rPr lang="en-US" sz="12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UC03</a:t>
            </a: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Engine Sound</a:t>
            </a:r>
            <a:endParaRPr lang="en-US" sz="1200" dirty="0"/>
          </a:p>
          <a:p>
            <a:pPr marL="342900" indent="-342900" algn="l">
              <a:lnSpc>
                <a:spcPct val="99000"/>
              </a:lnSpc>
              <a:buSzPct val="100000"/>
              <a:buChar char="•"/>
            </a:pPr>
            <a:r>
              <a:rPr lang="en-US" sz="12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UC04</a:t>
            </a: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Repair Suggestions</a:t>
            </a:r>
            <a:endParaRPr lang="en-US" sz="1200" dirty="0"/>
          </a:p>
          <a:p>
            <a:pPr marL="342900" indent="-342900" algn="l">
              <a:lnSpc>
                <a:spcPct val="99000"/>
              </a:lnSpc>
              <a:buSzPct val="100000"/>
              <a:buChar char="•"/>
            </a:pPr>
            <a:r>
              <a:rPr lang="en-US" sz="12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UC05</a:t>
            </a: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Offline Use</a:t>
            </a:r>
            <a:endParaRPr lang="en-US" sz="1200" dirty="0"/>
          </a:p>
          <a:p>
            <a:pPr marL="342900" indent="-342900" algn="l">
              <a:lnSpc>
                <a:spcPct val="99000"/>
              </a:lnSpc>
              <a:buSzPct val="100000"/>
              <a:buChar char="•"/>
            </a:pPr>
            <a:r>
              <a:rPr lang="en-US" sz="12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UC06</a:t>
            </a: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History</a:t>
            </a:r>
            <a:endParaRPr lang="en-US" sz="1200" dirty="0"/>
          </a:p>
          <a:p>
            <a:pPr marL="342900" indent="-342900" algn="l">
              <a:lnSpc>
                <a:spcPct val="99000"/>
              </a:lnSpc>
              <a:buSzPct val="100000"/>
              <a:buChar char="•"/>
            </a:pPr>
            <a:r>
              <a:rPr lang="en-US" sz="12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UC07</a:t>
            </a: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Safety Prompt</a:t>
            </a:r>
            <a:endParaRPr lang="en-US" sz="1200" dirty="0"/>
          </a:p>
          <a:p>
            <a:pPr marL="342900" indent="-342900" algn="l">
              <a:lnSpc>
                <a:spcPct val="99000"/>
              </a:lnSpc>
              <a:buSzPct val="100000"/>
              <a:buChar char="•"/>
            </a:pPr>
            <a:r>
              <a:rPr lang="en-US" sz="12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UC08</a:t>
            </a: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Sync DB (V2)</a:t>
            </a:r>
            <a:endParaRPr lang="en-US" sz="12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35CFA9-89F9-3BB0-FD05-8FDF63F29DB0}"/>
              </a:ext>
            </a:extLst>
          </p:cNvPr>
          <p:cNvSpPr/>
          <p:nvPr/>
        </p:nvSpPr>
        <p:spPr>
          <a:xfrm>
            <a:off x="7978140" y="4739640"/>
            <a:ext cx="1157897" cy="403860"/>
          </a:xfrm>
          <a:prstGeom prst="rect">
            <a:avLst/>
          </a:prstGeom>
          <a:solidFill>
            <a:srgbClr val="FFFF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64443" y="4650879"/>
            <a:ext cx="8100640" cy="139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9900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 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5162" y="505867"/>
            <a:ext cx="983605" cy="213494"/>
          </a:xfrm>
          <a:prstGeom prst="roundRect">
            <a:avLst>
              <a:gd name="adj" fmla="val 20917"/>
            </a:avLst>
          </a:prstGeom>
          <a:solidFill>
            <a:srgbClr val="FFE0C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4860" y="545678"/>
            <a:ext cx="1281410" cy="133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DIAGRAMS 4–11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65162" y="769144"/>
            <a:ext cx="4278213" cy="496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0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Sequence Diagrams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65162" y="1452711"/>
            <a:ext cx="8670875" cy="167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Eight diagrams detail interaction flows for each use case.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65162" y="1760190"/>
            <a:ext cx="4044553" cy="784771"/>
          </a:xfrm>
          <a:prstGeom prst="roundRect">
            <a:avLst>
              <a:gd name="adj" fmla="val 8739"/>
            </a:avLst>
          </a:prstGeom>
          <a:solidFill>
            <a:srgbClr val="FFFFF4">
              <a:alpha val="95000"/>
            </a:srgbClr>
          </a:solidFill>
          <a:ln w="14288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50875" y="1760190"/>
            <a:ext cx="57150" cy="784771"/>
          </a:xfrm>
          <a:prstGeom prst="roundRect">
            <a:avLst>
              <a:gd name="adj" fmla="val 97674"/>
            </a:avLst>
          </a:prstGeom>
          <a:solidFill>
            <a:srgbClr val="FF95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655216" y="1907381"/>
            <a:ext cx="2293888" cy="248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UC01 · Scan Warning Light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5216" y="2230413"/>
            <a:ext cx="3707309" cy="167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Camera → ML classifier → result; low-confidence fallback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34285" y="1760190"/>
            <a:ext cx="4044553" cy="784771"/>
          </a:xfrm>
          <a:prstGeom prst="roundRect">
            <a:avLst>
              <a:gd name="adj" fmla="val 8739"/>
            </a:avLst>
          </a:prstGeom>
          <a:solidFill>
            <a:srgbClr val="FFFFF4">
              <a:alpha val="95000"/>
            </a:srgbClr>
          </a:solidFill>
          <a:ln w="14288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4619997" y="1760190"/>
            <a:ext cx="57150" cy="784771"/>
          </a:xfrm>
          <a:prstGeom prst="roundRect">
            <a:avLst>
              <a:gd name="adj" fmla="val 97674"/>
            </a:avLst>
          </a:prstGeom>
          <a:solidFill>
            <a:srgbClr val="FF95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824338" y="1907381"/>
            <a:ext cx="1955676" cy="248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UC02 · Manual Search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24338" y="2230413"/>
            <a:ext cx="3707309" cy="167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 search under 500 ms per keystroke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5162" y="2669530"/>
            <a:ext cx="4044553" cy="784771"/>
          </a:xfrm>
          <a:prstGeom prst="roundRect">
            <a:avLst>
              <a:gd name="adj" fmla="val 8739"/>
            </a:avLst>
          </a:prstGeom>
          <a:solidFill>
            <a:srgbClr val="FFFFF4">
              <a:alpha val="95000"/>
            </a:srgbClr>
          </a:solidFill>
          <a:ln w="14288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450875" y="2669530"/>
            <a:ext cx="57150" cy="784771"/>
          </a:xfrm>
          <a:prstGeom prst="roundRect">
            <a:avLst>
              <a:gd name="adj" fmla="val 97674"/>
            </a:avLst>
          </a:prstGeom>
          <a:solidFill>
            <a:srgbClr val="FF95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655216" y="2816721"/>
            <a:ext cx="1910507" cy="248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UC03 · Engine Sound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5216" y="3139753"/>
            <a:ext cx="3707309" cy="167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Safety screen → noise check → MFCC classification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34285" y="2669530"/>
            <a:ext cx="4044553" cy="784771"/>
          </a:xfrm>
          <a:prstGeom prst="roundRect">
            <a:avLst>
              <a:gd name="adj" fmla="val 8739"/>
            </a:avLst>
          </a:prstGeom>
          <a:solidFill>
            <a:srgbClr val="FFFFF4">
              <a:alpha val="95000"/>
            </a:srgbClr>
          </a:solidFill>
          <a:ln w="14288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4619997" y="2669530"/>
            <a:ext cx="57150" cy="784771"/>
          </a:xfrm>
          <a:prstGeom prst="roundRect">
            <a:avLst>
              <a:gd name="adj" fmla="val 97674"/>
            </a:avLst>
          </a:prstGeom>
          <a:solidFill>
            <a:srgbClr val="FF95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824338" y="2816721"/>
            <a:ext cx="2287042" cy="248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UC04 · Repair Suggestions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24338" y="3139753"/>
            <a:ext cx="3707309" cy="167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Three-tier guidance; optional video links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5162" y="3578870"/>
            <a:ext cx="4044553" cy="784771"/>
          </a:xfrm>
          <a:prstGeom prst="roundRect">
            <a:avLst>
              <a:gd name="adj" fmla="val 8739"/>
            </a:avLst>
          </a:prstGeom>
          <a:solidFill>
            <a:srgbClr val="FFFFF4">
              <a:alpha val="95000"/>
            </a:srgbClr>
          </a:solidFill>
          <a:ln w="14288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450875" y="3578870"/>
            <a:ext cx="57150" cy="784771"/>
          </a:xfrm>
          <a:prstGeom prst="roundRect">
            <a:avLst>
              <a:gd name="adj" fmla="val 97674"/>
            </a:avLst>
          </a:prstGeom>
          <a:solidFill>
            <a:srgbClr val="FF95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655216" y="3726061"/>
            <a:ext cx="1910507" cy="248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UC05 · Offline Use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55216" y="4049092"/>
            <a:ext cx="3707309" cy="167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Zero network calls; bundled assets only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34285" y="3578870"/>
            <a:ext cx="4044553" cy="784771"/>
          </a:xfrm>
          <a:prstGeom prst="roundRect">
            <a:avLst>
              <a:gd name="adj" fmla="val 8739"/>
            </a:avLst>
          </a:prstGeom>
          <a:solidFill>
            <a:srgbClr val="FFFFF4">
              <a:alpha val="95000"/>
            </a:srgbClr>
          </a:solidFill>
          <a:ln w="14288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4619997" y="3578870"/>
            <a:ext cx="57150" cy="784771"/>
          </a:xfrm>
          <a:prstGeom prst="roundRect">
            <a:avLst>
              <a:gd name="adj" fmla="val 97674"/>
            </a:avLst>
          </a:prstGeom>
          <a:solidFill>
            <a:srgbClr val="FF95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4824338" y="3726061"/>
            <a:ext cx="2857128" cy="248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UC06–08 · History · Safety · Sync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824338" y="4049092"/>
            <a:ext cx="3707309" cy="167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Local history; safety modal; V2 sync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962" y="4503762"/>
            <a:ext cx="8213675" cy="133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5000"/>
              </a:lnSpc>
              <a:buNone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 4</a:t>
            </a:r>
            <a:endParaRPr lang="en-US" sz="8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3C9653A-6BEB-1BCD-8628-BE536645748E}"/>
              </a:ext>
            </a:extLst>
          </p:cNvPr>
          <p:cNvSpPr/>
          <p:nvPr/>
        </p:nvSpPr>
        <p:spPr>
          <a:xfrm>
            <a:off x="7978140" y="4739640"/>
            <a:ext cx="1157897" cy="403860"/>
          </a:xfrm>
          <a:prstGeom prst="rect">
            <a:avLst/>
          </a:prstGeom>
          <a:solidFill>
            <a:srgbClr val="FFFF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38721" y="257398"/>
            <a:ext cx="532507" cy="131862"/>
          </a:xfrm>
          <a:prstGeom prst="roundRect">
            <a:avLst>
              <a:gd name="adj" fmla="val 23142"/>
            </a:avLst>
          </a:prstGeom>
          <a:solidFill>
            <a:srgbClr val="FFE0C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493193" y="284634"/>
            <a:ext cx="880765" cy="77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5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DIAGRAM 5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1438721" y="412477"/>
            <a:ext cx="3591967" cy="339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UC01 · Scan Warning Light</a:t>
            </a:r>
            <a:endParaRPr lang="en-US" sz="2050" dirty="0"/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361725" y="839093"/>
            <a:ext cx="4420475" cy="345154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33401" y="4356050"/>
            <a:ext cx="8305800" cy="3872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sequence diagram illustrates the detailed interaction flow for scanning a warning light. The process begins with the </a:t>
            </a:r>
            <a:r>
              <a:rPr lang="en-US" sz="10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 Owner</a:t>
            </a: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activating the camera scan within the </a:t>
            </a:r>
            <a:r>
              <a:rPr lang="en-US" sz="10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Mobile App</a:t>
            </a: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The app captures the image and sends it to the </a:t>
            </a:r>
            <a:r>
              <a:rPr lang="en-US" sz="10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ImageClassifier</a:t>
            </a: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(powered by TensorFlow Lite) for analysis. Based on the returned confidence score, the system either directly displays the diagnosis or, if confidence is low, provides a fallback prompt for a manual search, ensuring robust diagnostic capabilities.</a:t>
            </a:r>
            <a:endParaRPr lang="en-US" sz="1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C56711-EB0E-989D-C4C6-F3B935482A16}"/>
              </a:ext>
            </a:extLst>
          </p:cNvPr>
          <p:cNvSpPr/>
          <p:nvPr/>
        </p:nvSpPr>
        <p:spPr>
          <a:xfrm>
            <a:off x="7978140" y="4739640"/>
            <a:ext cx="1157897" cy="403860"/>
          </a:xfrm>
          <a:prstGeom prst="rect">
            <a:avLst/>
          </a:prstGeom>
          <a:solidFill>
            <a:srgbClr val="FFFF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2497054" y="4905540"/>
            <a:ext cx="6266557" cy="77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89000"/>
              </a:lnSpc>
              <a:buNone/>
            </a:pPr>
            <a:r>
              <a:rPr lang="en-US" sz="55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 5</a:t>
            </a:r>
            <a:endParaRPr lang="en-US" sz="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6841"/>
            <a:ext cx="512862" cy="124048"/>
          </a:xfrm>
          <a:prstGeom prst="roundRect">
            <a:avLst>
              <a:gd name="adj" fmla="val 23400"/>
            </a:avLst>
          </a:prstGeom>
          <a:solidFill>
            <a:srgbClr val="FFE0C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08992" y="352737"/>
            <a:ext cx="866477" cy="72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5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DIAGRAM 4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457200" y="471874"/>
            <a:ext cx="6262688" cy="322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UC03 · Engine Sound Analysis — Sequence Diagram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457200" y="873710"/>
            <a:ext cx="5960864" cy="180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6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sequence illustrates the interaction flow for diagnosing vehicle faults based on engine sound, incorporating user safety prompts and AI processing.</a:t>
            </a:r>
            <a:endParaRPr lang="en-US" sz="6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13546"/>
            <a:ext cx="431899" cy="5182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41710" y="1199867"/>
            <a:ext cx="1253356" cy="161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Initiate Audio Capture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941710" y="1392822"/>
            <a:ext cx="5476354" cy="90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6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 Owner</a:t>
            </a:r>
            <a:r>
              <a:rPr lang="en-US" sz="6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taps the audio button to start the diagnostic process, indicating intent to record engine sound.</a:t>
            </a:r>
            <a:endParaRPr lang="en-US" sz="6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31840"/>
            <a:ext cx="431899" cy="51829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41710" y="1718161"/>
            <a:ext cx="1241822" cy="161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Display Safety Modal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941710" y="1911116"/>
            <a:ext cx="5476354" cy="90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6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</a:t>
            </a:r>
            <a:r>
              <a:rPr lang="en-US" sz="6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Mobile App</a:t>
            </a:r>
            <a:r>
              <a:rPr lang="en-US" sz="6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presents a non-dismissible safety modal for </a:t>
            </a:r>
            <a:r>
              <a:rPr lang="en-US" sz="650" dirty="0">
                <a:solidFill>
                  <a:srgbClr val="FF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seconds</a:t>
            </a:r>
            <a:r>
              <a:rPr lang="en-US" sz="6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ensuring user awareness of recording.</a:t>
            </a:r>
            <a:endParaRPr lang="en-US" sz="6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150134"/>
            <a:ext cx="431899" cy="51829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41710" y="2236454"/>
            <a:ext cx="1241822" cy="161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User Confirmation</a:t>
            </a:r>
            <a:endParaRPr lang="en-US" sz="950" dirty="0"/>
          </a:p>
        </p:txBody>
      </p:sp>
      <p:sp>
        <p:nvSpPr>
          <p:cNvPr id="14" name="Text 9"/>
          <p:cNvSpPr/>
          <p:nvPr/>
        </p:nvSpPr>
        <p:spPr>
          <a:xfrm>
            <a:off x="941710" y="2429410"/>
            <a:ext cx="5476354" cy="90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6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</a:t>
            </a:r>
            <a:r>
              <a:rPr lang="en-US" sz="6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 Owner</a:t>
            </a:r>
            <a:r>
              <a:rPr lang="en-US" sz="6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explicitly confirms understanding and agreement to proceed after the safety warning timeout.</a:t>
            </a:r>
            <a:endParaRPr lang="en-US" sz="6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668428"/>
            <a:ext cx="431899" cy="51829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41710" y="2754748"/>
            <a:ext cx="1241822" cy="161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Record Engine Audio</a:t>
            </a:r>
            <a:endParaRPr lang="en-US" sz="950" dirty="0"/>
          </a:p>
        </p:txBody>
      </p:sp>
      <p:sp>
        <p:nvSpPr>
          <p:cNvPr id="17" name="Text 11"/>
          <p:cNvSpPr/>
          <p:nvPr/>
        </p:nvSpPr>
        <p:spPr>
          <a:xfrm>
            <a:off x="941710" y="2947704"/>
            <a:ext cx="5476354" cy="90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6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</a:t>
            </a:r>
            <a:r>
              <a:rPr lang="en-US" sz="6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Mobile App</a:t>
            </a:r>
            <a:r>
              <a:rPr lang="en-US" sz="6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actively records the engine sound via the device's microphone, capturing raw audio data.</a:t>
            </a:r>
            <a:endParaRPr lang="en-US" sz="6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186722"/>
            <a:ext cx="431899" cy="54627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41710" y="3273042"/>
            <a:ext cx="1284312" cy="161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Extract MFCC Features</a:t>
            </a:r>
            <a:endParaRPr lang="en-US" sz="950" dirty="0"/>
          </a:p>
        </p:txBody>
      </p:sp>
      <p:sp>
        <p:nvSpPr>
          <p:cNvPr id="20" name="Text 13"/>
          <p:cNvSpPr/>
          <p:nvPr/>
        </p:nvSpPr>
        <p:spPr>
          <a:xfrm>
            <a:off x="941710" y="3465998"/>
            <a:ext cx="5476354" cy="180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6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</a:t>
            </a:r>
            <a:r>
              <a:rPr lang="en-US" sz="6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AudioClassifier</a:t>
            </a:r>
            <a:r>
              <a:rPr lang="en-US" sz="6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component processes the recorded audio, extracting Mel-frequency cepstral coefficients (MFCC) for analysis.</a:t>
            </a:r>
            <a:endParaRPr lang="en-US" sz="65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3732996"/>
            <a:ext cx="431899" cy="518294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941710" y="3819316"/>
            <a:ext cx="1241822" cy="161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Classify Fault Type</a:t>
            </a:r>
            <a:endParaRPr lang="en-US" sz="950" dirty="0"/>
          </a:p>
        </p:txBody>
      </p:sp>
      <p:sp>
        <p:nvSpPr>
          <p:cNvPr id="23" name="Text 15"/>
          <p:cNvSpPr/>
          <p:nvPr/>
        </p:nvSpPr>
        <p:spPr>
          <a:xfrm>
            <a:off x="941710" y="4012272"/>
            <a:ext cx="5476354" cy="90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6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 integrated </a:t>
            </a:r>
            <a:r>
              <a:rPr lang="en-US" sz="6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ML model</a:t>
            </a:r>
            <a:r>
              <a:rPr lang="en-US" sz="6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analyzes the MFCC features to identify and classify the specific engine fault type.</a:t>
            </a:r>
            <a:endParaRPr lang="en-US" sz="65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4251290"/>
            <a:ext cx="431899" cy="518294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941710" y="4337610"/>
            <a:ext cx="1241822" cy="161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Provide Diagnosis</a:t>
            </a:r>
            <a:endParaRPr lang="en-US" sz="950" dirty="0"/>
          </a:p>
        </p:txBody>
      </p:sp>
      <p:sp>
        <p:nvSpPr>
          <p:cNvPr id="26" name="Text 17"/>
          <p:cNvSpPr/>
          <p:nvPr/>
        </p:nvSpPr>
        <p:spPr>
          <a:xfrm>
            <a:off x="941710" y="4530566"/>
            <a:ext cx="5476354" cy="90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6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</a:t>
            </a:r>
            <a:r>
              <a:rPr lang="en-US" sz="6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Mobile App</a:t>
            </a:r>
            <a:r>
              <a:rPr lang="en-US" sz="6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displays the diagnosed fault, an urgency level, and tailored repair suggestions to the </a:t>
            </a:r>
            <a:r>
              <a:rPr lang="en-US" sz="65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 Owner</a:t>
            </a:r>
            <a:r>
              <a:rPr lang="en-US" sz="6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650" dirty="0"/>
          </a:p>
        </p:txBody>
      </p:sp>
      <p:sp>
        <p:nvSpPr>
          <p:cNvPr id="27" name="Text 18"/>
          <p:cNvSpPr/>
          <p:nvPr/>
        </p:nvSpPr>
        <p:spPr>
          <a:xfrm>
            <a:off x="2017276" y="4854713"/>
            <a:ext cx="5960864" cy="72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87000"/>
              </a:lnSpc>
              <a:buNone/>
            </a:pPr>
            <a:r>
              <a:rPr lang="en-US" sz="500" dirty="0">
                <a:solidFill>
                  <a:srgbClr val="8888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 4</a:t>
            </a:r>
            <a:endParaRPr lang="en-US" sz="5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5506F9B-8629-18AB-8FA2-81E97E1079B8}"/>
              </a:ext>
            </a:extLst>
          </p:cNvPr>
          <p:cNvSpPr/>
          <p:nvPr/>
        </p:nvSpPr>
        <p:spPr>
          <a:xfrm>
            <a:off x="7978140" y="4739640"/>
            <a:ext cx="1157897" cy="403860"/>
          </a:xfrm>
          <a:prstGeom prst="rect">
            <a:avLst/>
          </a:prstGeom>
          <a:solidFill>
            <a:srgbClr val="FFFF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67991" y="248766"/>
            <a:ext cx="517327" cy="120179"/>
          </a:xfrm>
          <a:prstGeom prst="roundRect">
            <a:avLst>
              <a:gd name="adj" fmla="val 23534"/>
            </a:avLst>
          </a:prstGeom>
          <a:solidFill>
            <a:srgbClr val="FFE0C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718444" y="273993"/>
            <a:ext cx="873621" cy="69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5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DIAGRAM 13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1667991" y="388888"/>
            <a:ext cx="4918546" cy="314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UC05 · Offline Use — Sequence Diagram</a:t>
            </a:r>
            <a:endParaRPr lang="en-US" sz="1900" dirty="0"/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31568" y="1136869"/>
            <a:ext cx="5650566" cy="32213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882134" y="1058251"/>
            <a:ext cx="1667173" cy="157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Interaction Flow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882134" y="1392841"/>
            <a:ext cx="2910499" cy="261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diagram details how the CarDiag app ensures full functionality even without an internet connection: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882134" y="1997654"/>
            <a:ext cx="2910499" cy="1377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86000"/>
              </a:lnSpc>
              <a:buSzPct val="100000"/>
              <a:buChar char="•"/>
            </a:pPr>
            <a:r>
              <a:rPr lang="en-US" sz="12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Owner Initiates:</a:t>
            </a: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Car Owner opens the application.</a:t>
            </a:r>
            <a:endParaRPr lang="en-US" sz="1200" dirty="0"/>
          </a:p>
          <a:p>
            <a:pPr marL="342900" indent="-342900" algn="l">
              <a:lnSpc>
                <a:spcPct val="86000"/>
              </a:lnSpc>
              <a:buSzPct val="100000"/>
              <a:buChar char="•"/>
            </a:pPr>
            <a:r>
              <a:rPr lang="en-US" sz="12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Network Check:</a:t>
            </a: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Mobile App verifies network availability.</a:t>
            </a:r>
            <a:endParaRPr lang="en-US" sz="1200" dirty="0"/>
          </a:p>
          <a:p>
            <a:pPr marL="342900" indent="-342900" algn="l">
              <a:lnSpc>
                <a:spcPct val="86000"/>
              </a:lnSpc>
              <a:buSzPct val="100000"/>
              <a:buChar char="•"/>
            </a:pPr>
            <a:r>
              <a:rPr lang="en-US" sz="12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Offline Activation:</a:t>
            </a: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If no connection, all features load from the pre-bundled SQLite Offline Knowledge Base.</a:t>
            </a:r>
            <a:endParaRPr lang="en-US" sz="1200" dirty="0"/>
          </a:p>
          <a:p>
            <a:pPr marL="342900" indent="-342900" algn="l">
              <a:lnSpc>
                <a:spcPct val="86000"/>
              </a:lnSpc>
              <a:buSzPct val="100000"/>
              <a:buChar char="•"/>
            </a:pPr>
            <a:r>
              <a:rPr lang="en-US" sz="12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Zero Network:</a:t>
            </a: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No external network calls are made during offline operation.</a:t>
            </a:r>
            <a:endParaRPr lang="en-US" sz="1200" dirty="0"/>
          </a:p>
          <a:p>
            <a:pPr marL="342900" indent="-342900" algn="l">
              <a:lnSpc>
                <a:spcPct val="86000"/>
              </a:lnSpc>
              <a:buSzPct val="100000"/>
              <a:buChar char="•"/>
            </a:pPr>
            <a:r>
              <a:rPr lang="en-US" sz="12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Full Access:</a:t>
            </a: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Users can scan warnings, search faults, view history, and access repair suggestions.</a:t>
            </a:r>
            <a:endParaRPr lang="en-US" sz="12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4155EA-8AF6-04EF-34BC-A2D7E94D40AF}"/>
              </a:ext>
            </a:extLst>
          </p:cNvPr>
          <p:cNvSpPr/>
          <p:nvPr/>
        </p:nvSpPr>
        <p:spPr>
          <a:xfrm>
            <a:off x="7978140" y="4739640"/>
            <a:ext cx="1157897" cy="403860"/>
          </a:xfrm>
          <a:prstGeom prst="rect">
            <a:avLst/>
          </a:prstGeom>
          <a:solidFill>
            <a:srgbClr val="FFFF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643" y="353095"/>
            <a:ext cx="722486" cy="181942"/>
          </a:xfrm>
          <a:prstGeom prst="roundRect">
            <a:avLst>
              <a:gd name="adj" fmla="val 21681"/>
            </a:avLst>
          </a:prstGeom>
          <a:solidFill>
            <a:srgbClr val="FFE0C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92038" y="388293"/>
            <a:ext cx="1038895" cy="111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7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DIAGRAM 12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21643" y="573881"/>
            <a:ext cx="3832473" cy="438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6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Class Diagram</a:t>
            </a:r>
            <a:endParaRPr lang="en-US" sz="2650" dirty="0"/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1643" y="1280602"/>
            <a:ext cx="5584478" cy="313876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97228" y="1406128"/>
            <a:ext cx="2144837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Core Classes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397228" y="1722686"/>
            <a:ext cx="2229743" cy="1007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99000"/>
              </a:lnSpc>
              <a:buSzPct val="100000"/>
              <a:buChar char="•"/>
            </a:pPr>
            <a:r>
              <a:rPr lang="en-US" sz="9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DiagnosticSession</a:t>
            </a:r>
            <a:endParaRPr lang="en-US" sz="900" dirty="0"/>
          </a:p>
          <a:p>
            <a:pPr marL="342900" indent="-342900" algn="l">
              <a:lnSpc>
                <a:spcPct val="99000"/>
              </a:lnSpc>
              <a:buSzPct val="100000"/>
              <a:buChar char="•"/>
            </a:pPr>
            <a:r>
              <a:rPr lang="en-US" sz="9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DiagnosticResult</a:t>
            </a:r>
            <a:endParaRPr lang="en-US" sz="900" dirty="0"/>
          </a:p>
          <a:p>
            <a:pPr marL="342900" indent="-342900" algn="l">
              <a:lnSpc>
                <a:spcPct val="99000"/>
              </a:lnSpc>
              <a:buSzPct val="100000"/>
              <a:buChar char="•"/>
            </a:pPr>
            <a:r>
              <a:rPr lang="en-US" sz="9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FaultRecord</a:t>
            </a:r>
            <a:endParaRPr lang="en-US" sz="900" dirty="0"/>
          </a:p>
          <a:p>
            <a:pPr marL="342900" indent="-342900" algn="l">
              <a:lnSpc>
                <a:spcPct val="99000"/>
              </a:lnSpc>
              <a:buSzPct val="100000"/>
              <a:buChar char="•"/>
            </a:pPr>
            <a:r>
              <a:rPr lang="en-US" sz="9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RepairSuggestion</a:t>
            </a:r>
            <a:endParaRPr lang="en-US" sz="900" dirty="0"/>
          </a:p>
          <a:p>
            <a:pPr marL="342900" indent="-342900" algn="l">
              <a:lnSpc>
                <a:spcPct val="99000"/>
              </a:lnSpc>
              <a:buSzPct val="100000"/>
              <a:buChar char="•"/>
            </a:pPr>
            <a:r>
              <a:rPr lang="en-US" sz="9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VehicleProfile</a:t>
            </a:r>
            <a:endParaRPr lang="en-US" sz="900" dirty="0"/>
          </a:p>
          <a:p>
            <a:pPr marL="342900" indent="-342900" algn="l">
              <a:lnSpc>
                <a:spcPct val="99000"/>
              </a:lnSpc>
              <a:buSzPct val="100000"/>
              <a:buChar char="•"/>
            </a:pPr>
            <a:r>
              <a:rPr lang="en-US" sz="9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HistoryEntry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397228" y="2827065"/>
            <a:ext cx="2144837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ML &amp; Support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397228" y="3143622"/>
            <a:ext cx="2229743" cy="486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342900" indent="-342900" algn="l">
              <a:lnSpc>
                <a:spcPct val="99000"/>
              </a:lnSpc>
              <a:buSzPct val="100000"/>
              <a:buChar char="•"/>
            </a:pPr>
            <a:r>
              <a:rPr lang="en-US" sz="9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ImageClassifier / AudioClassifier</a:t>
            </a:r>
            <a:endParaRPr lang="en-US" sz="900" dirty="0"/>
          </a:p>
          <a:p>
            <a:pPr marL="342900" indent="-342900" algn="l">
              <a:lnSpc>
                <a:spcPct val="99000"/>
              </a:lnSpc>
              <a:buSzPct val="100000"/>
              <a:buChar char="•"/>
            </a:pPr>
            <a:r>
              <a:rPr lang="en-US" sz="9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VideoLink</a:t>
            </a:r>
            <a:endParaRPr lang="en-US" sz="900" dirty="0"/>
          </a:p>
          <a:p>
            <a:pPr marL="342900" indent="-342900" algn="l">
              <a:lnSpc>
                <a:spcPct val="99000"/>
              </a:lnSpc>
              <a:buSzPct val="100000"/>
              <a:buChar char="•"/>
            </a:pPr>
            <a:r>
              <a:rPr lang="en-US" sz="9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EmergencyContact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397228" y="3727400"/>
            <a:ext cx="2144837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Enums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397228" y="4043958"/>
            <a:ext cx="2229743" cy="3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99000"/>
              </a:lnSpc>
              <a:buSzPct val="100000"/>
              <a:buChar char="•"/>
            </a:pPr>
            <a:r>
              <a:rPr lang="en-US" sz="9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UrgencyLevel</a:t>
            </a:r>
            <a:endParaRPr lang="en-US" sz="900" dirty="0"/>
          </a:p>
          <a:p>
            <a:pPr marL="342900" indent="-342900" algn="l">
              <a:lnSpc>
                <a:spcPct val="99000"/>
              </a:lnSpc>
              <a:buSzPct val="100000"/>
              <a:buChar char="•"/>
            </a:pPr>
            <a:r>
              <a:rPr lang="en-US" sz="9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SuggestionTier</a:t>
            </a:r>
            <a:endParaRPr lang="en-US" sz="9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D6C486-7F4A-94FB-1448-A58AFD810D0F}"/>
              </a:ext>
            </a:extLst>
          </p:cNvPr>
          <p:cNvSpPr/>
          <p:nvPr/>
        </p:nvSpPr>
        <p:spPr>
          <a:xfrm>
            <a:off x="7978140" y="4739640"/>
            <a:ext cx="1157897" cy="403860"/>
          </a:xfrm>
          <a:prstGeom prst="rect">
            <a:avLst/>
          </a:prstGeom>
          <a:solidFill>
            <a:srgbClr val="FFFF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64443" y="4650879"/>
            <a:ext cx="8100640" cy="139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9900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643" y="367085"/>
            <a:ext cx="722114" cy="181942"/>
          </a:xfrm>
          <a:prstGeom prst="roundRect">
            <a:avLst>
              <a:gd name="adj" fmla="val 21681"/>
            </a:avLst>
          </a:prstGeom>
          <a:solidFill>
            <a:srgbClr val="FFE0C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92038" y="402282"/>
            <a:ext cx="1038523" cy="111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7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DIAGRAM 13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21643" y="587871"/>
            <a:ext cx="3832473" cy="438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6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Deployment Diagram</a:t>
            </a:r>
            <a:endParaRPr lang="en-US" sz="2650" dirty="0"/>
          </a:p>
        </p:txBody>
      </p:sp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67725" y="1281708"/>
            <a:ext cx="5292313" cy="31645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97228" y="1531813"/>
            <a:ext cx="2144837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Mobile Device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397228" y="1848371"/>
            <a:ext cx="2229743" cy="4185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Android 8.0+ / iOS 13+ · 2 GB RAM · TF Lite ML · SQLite KB · encrypted storage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397228" y="2364135"/>
            <a:ext cx="2144837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Sync Server (V2)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397228" y="2680692"/>
            <a:ext cx="2686943" cy="139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REST API · master DB · admin CMS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397228" y="2917403"/>
            <a:ext cx="2144837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YouTube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397228" y="3233961"/>
            <a:ext cx="2229743" cy="279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Curated URLs via browser; no direct API in V1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397228" y="3610198"/>
            <a:ext cx="2144837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Security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397228" y="3926756"/>
            <a:ext cx="2229743" cy="279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HTTPS only · no raw sensor transmission</a:t>
            </a:r>
            <a:endParaRPr lang="en-US" sz="9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C5767A7-78EA-B2D7-63EC-0B1ADF2918FF}"/>
              </a:ext>
            </a:extLst>
          </p:cNvPr>
          <p:cNvSpPr/>
          <p:nvPr/>
        </p:nvSpPr>
        <p:spPr>
          <a:xfrm>
            <a:off x="7978140" y="4739640"/>
            <a:ext cx="1157897" cy="403860"/>
          </a:xfrm>
          <a:prstGeom prst="rect">
            <a:avLst/>
          </a:prstGeom>
          <a:solidFill>
            <a:srgbClr val="FFFF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64443" y="4664869"/>
            <a:ext cx="8100640" cy="111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99000"/>
              </a:lnSpc>
              <a:buNone/>
            </a:pPr>
            <a:r>
              <a:rPr lang="en-US" sz="7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 14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70871" y="385539"/>
            <a:ext cx="4087192" cy="471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Design Summary</a:t>
            </a:r>
            <a:endParaRPr lang="en-US" sz="2850" dirty="0"/>
          </a:p>
        </p:txBody>
      </p:sp>
      <p:sp>
        <p:nvSpPr>
          <p:cNvPr id="4" name="Text 1"/>
          <p:cNvSpPr/>
          <p:nvPr/>
        </p:nvSpPr>
        <p:spPr>
          <a:xfrm>
            <a:off x="3870871" y="1026021"/>
            <a:ext cx="4831259" cy="310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 six diagrams are consistent with SRS v1.1 and incorporate all 20 validation changes from the Buea stakeholder programme.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3870871" y="1462832"/>
            <a:ext cx="4831259" cy="739453"/>
          </a:xfrm>
          <a:prstGeom prst="roundRect">
            <a:avLst>
              <a:gd name="adj" fmla="val 7172"/>
            </a:avLst>
          </a:prstGeom>
          <a:solidFill>
            <a:srgbClr val="FFFFF4"/>
          </a:solidFill>
          <a:ln w="14288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4011364" y="1603325"/>
            <a:ext cx="1814959" cy="235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Offline-First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011364" y="1906637"/>
            <a:ext cx="4550271" cy="15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 core features from first launch — zero network calls required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870871" y="2314724"/>
            <a:ext cx="4831259" cy="739453"/>
          </a:xfrm>
          <a:prstGeom prst="roundRect">
            <a:avLst>
              <a:gd name="adj" fmla="val 7172"/>
            </a:avLst>
          </a:prstGeom>
          <a:solidFill>
            <a:srgbClr val="FFFFF4"/>
          </a:solidFill>
          <a:ln w="14288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4011364" y="2455218"/>
            <a:ext cx="1814959" cy="235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Safety-Critical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011364" y="2758529"/>
            <a:ext cx="4550271" cy="15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Non-dismissible modals, 3-second delays, emergency contacts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870871" y="3166616"/>
            <a:ext cx="4831259" cy="739453"/>
          </a:xfrm>
          <a:prstGeom prst="roundRect">
            <a:avLst>
              <a:gd name="adj" fmla="val 7172"/>
            </a:avLst>
          </a:prstGeom>
          <a:solidFill>
            <a:srgbClr val="FFFFF4"/>
          </a:solidFill>
          <a:ln w="14288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4011364" y="3307110"/>
            <a:ext cx="1814959" cy="235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Privacy-First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011364" y="3610421"/>
            <a:ext cx="4550271" cy="15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sensor data transmitted; encrypted local storage only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870871" y="4018508"/>
            <a:ext cx="4831259" cy="739453"/>
          </a:xfrm>
          <a:prstGeom prst="roundRect">
            <a:avLst>
              <a:gd name="adj" fmla="val 7172"/>
            </a:avLst>
          </a:prstGeom>
          <a:solidFill>
            <a:srgbClr val="FFFFF4"/>
          </a:solidFill>
          <a:ln w="14288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4011364" y="4159002"/>
            <a:ext cx="1814959" cy="235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Versioned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011364" y="4462314"/>
            <a:ext cx="4550271" cy="15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V1 complete offline; V2 adds sync and video links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7654" y="370284"/>
            <a:ext cx="4272855" cy="447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7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Conclusion &amp; Next Steps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3847654" y="968648"/>
            <a:ext cx="4877693" cy="2864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modelling complete. These six diagrams serve as the primary reference for UI and database implementation.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3847654" y="1548036"/>
            <a:ext cx="4877693" cy="860152"/>
          </a:xfrm>
          <a:prstGeom prst="roundRect">
            <a:avLst>
              <a:gd name="adj" fmla="val 7973"/>
            </a:avLst>
          </a:prstGeom>
          <a:solidFill>
            <a:srgbClr val="FFFFF4">
              <a:alpha val="95000"/>
            </a:srgbClr>
          </a:solidFill>
          <a:ln w="14288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3847654" y="1533748"/>
            <a:ext cx="4877693" cy="57150"/>
          </a:xfrm>
          <a:prstGeom prst="roundRect">
            <a:avLst>
              <a:gd name="adj" fmla="val 87907"/>
            </a:avLst>
          </a:prstGeom>
          <a:solidFill>
            <a:srgbClr val="FF95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6107088" y="1368623"/>
            <a:ext cx="358825" cy="358825"/>
          </a:xfrm>
          <a:prstGeom prst="roundRect">
            <a:avLst>
              <a:gd name="adj" fmla="val 159270"/>
            </a:avLst>
          </a:prstGeom>
          <a:solidFill>
            <a:srgbClr val="FF95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6214765" y="1454721"/>
            <a:ext cx="143470" cy="1865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981524" y="1847031"/>
            <a:ext cx="1719411" cy="223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Task 5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981524" y="2131070"/>
            <a:ext cx="4609951" cy="143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UI Design &amp; Implementation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847654" y="2688506"/>
            <a:ext cx="4877693" cy="860152"/>
          </a:xfrm>
          <a:prstGeom prst="roundRect">
            <a:avLst>
              <a:gd name="adj" fmla="val 7973"/>
            </a:avLst>
          </a:prstGeom>
          <a:solidFill>
            <a:srgbClr val="FFFFF4">
              <a:alpha val="95000"/>
            </a:srgbClr>
          </a:solidFill>
          <a:ln w="14288">
            <a:solidFill>
              <a:srgbClr val="FFE0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3847654" y="2674218"/>
            <a:ext cx="4877693" cy="57150"/>
          </a:xfrm>
          <a:prstGeom prst="roundRect">
            <a:avLst>
              <a:gd name="adj" fmla="val 87907"/>
            </a:avLst>
          </a:prstGeom>
          <a:solidFill>
            <a:srgbClr val="FF95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6107088" y="2509093"/>
            <a:ext cx="358825" cy="358825"/>
          </a:xfrm>
          <a:prstGeom prst="roundRect">
            <a:avLst>
              <a:gd name="adj" fmla="val 159270"/>
            </a:avLst>
          </a:prstGeom>
          <a:solidFill>
            <a:srgbClr val="FF954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6214765" y="2595190"/>
            <a:ext cx="143470" cy="1865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981524" y="2987501"/>
            <a:ext cx="1719411" cy="223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Task 6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3981524" y="3271540"/>
            <a:ext cx="4609951" cy="143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Database Design &amp; Implementation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847654" y="3662139"/>
            <a:ext cx="4877693" cy="854273"/>
          </a:xfrm>
          <a:prstGeom prst="roundRect">
            <a:avLst>
              <a:gd name="adj" fmla="val 5881"/>
            </a:avLst>
          </a:prstGeom>
          <a:solidFill>
            <a:srgbClr val="FFD1B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7237" y="3821162"/>
            <a:ext cx="149498" cy="119583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236318" y="3792885"/>
            <a:ext cx="4369445" cy="572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 diagrams produced in Draw.io (diagrams.net). Source .drawio files in project repository. References: CarDiag SRS v1.1, Task 3 Reports, CEF 440 Course Outline, Rumbaugh et al. (UML Ref. Manual), Sommerville (Software Engineering, 10th Ed.).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3390454" y="4629894"/>
            <a:ext cx="4877693" cy="1432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Slide 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1002</Words>
  <Application>Microsoft Office PowerPoint</Application>
  <PresentationFormat>On-screen Show (16:9)</PresentationFormat>
  <Paragraphs>168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Montserrat</vt:lpstr>
      <vt:lpstr>Marcellus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Salle Yimnai Bryan</cp:lastModifiedBy>
  <cp:revision>5</cp:revision>
  <dcterms:created xsi:type="dcterms:W3CDTF">2026-05-26T10:37:23Z</dcterms:created>
  <dcterms:modified xsi:type="dcterms:W3CDTF">2026-05-26T11:10:20Z</dcterms:modified>
</cp:coreProperties>
</file>