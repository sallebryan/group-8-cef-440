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514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025823"/>
            <a:ext cx="609600" cy="609600"/>
          </a:xfrm>
          <a:prstGeom prst="roundRect">
            <a:avLst>
              <a:gd name="adj" fmla="val 26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757" y="1145580"/>
            <a:ext cx="369987" cy="369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4050" y="1127423"/>
            <a:ext cx="139442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pPr algn="l" indent="0" marL="0">
              <a:buNone/>
            </a:pPr>
            <a:r>
              <a:rPr lang="en-US" sz="2550" b="1" spc="-51" kern="0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1808157" y="990600"/>
            <a:ext cx="5336844" cy="7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575" spc="221" kern="0" dirty="0">
                <a:solidFill>
                  <a:srgbClr val="FFFFFF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 OF BUEA FACULTY OF ENGINEERING &amp; TECHNOLOGY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143000" y="2517279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CEF 440 · TASK 5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1143000" y="3063379"/>
            <a:ext cx="16482060" cy="271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50" b="1" spc="-25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Design &amp; Implementation</a:t>
            </a:r>
            <a:endParaRPr lang="en-US" sz="10350" dirty="0"/>
          </a:p>
        </p:txBody>
      </p:sp>
      <p:sp>
        <p:nvSpPr>
          <p:cNvPr id="9" name="Text 6"/>
          <p:cNvSpPr/>
          <p:nvPr/>
        </p:nvSpPr>
        <p:spPr>
          <a:xfrm>
            <a:off x="1143000" y="6068517"/>
            <a:ext cx="11576685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and building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your pocket car-diagnostic assistant.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assistant, not a replacement.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143000" y="7937500"/>
            <a:ext cx="1098804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 GROUP 8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43000" y="8305800"/>
            <a:ext cx="3404692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39850" y="8416925"/>
            <a:ext cx="31131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 Yimnai Bryan Nzume Etuge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4681042" y="8305800"/>
            <a:ext cx="2943027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7892" y="8416925"/>
            <a:ext cx="263761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Manikeu Tinkeu Marie Ange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7757418" y="8305800"/>
            <a:ext cx="2284214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4268" y="8416925"/>
            <a:ext cx="196671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Fongang Faith Acho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143000" y="8896350"/>
            <a:ext cx="2302768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39850" y="9007475"/>
            <a:ext cx="198526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Andigema Joyce Ani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3579118" y="8896350"/>
            <a:ext cx="2868811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75968" y="9007475"/>
            <a:ext cx="25611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Ndip Samuel Agbor Ojong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4688145" y="8928100"/>
            <a:ext cx="245685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spc="158" kern="0" dirty="0">
                <a:solidFill>
                  <a:srgbClr val="FFFFFF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</a:t>
            </a:r>
            <a:pPr algn="r" indent="0" marL="0">
              <a:buNone/>
            </a:pPr>
            <a:r>
              <a:rPr lang="en-US" sz="1575" spc="15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 NKEMENI VALERY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28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312"/>
            <a:ext cx="13735050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delivers three things that turn an idea into a real, running app.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414353"/>
            <a:ext cx="5118100" cy="3560762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6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30350" y="3858853"/>
            <a:ext cx="447370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30350" y="4830403"/>
            <a:ext cx="44737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30350" y="5459053"/>
            <a:ext cx="4473702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recognisable, trustworthy character — name, logomark, tagline and the promise that governs every screen.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584950" y="3416046"/>
            <a:ext cx="5118100" cy="3560763"/>
          </a:xfrm>
          <a:prstGeom prst="roundRect">
            <a:avLst>
              <a:gd name="adj" fmla="val 6420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72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72300" y="3860545"/>
            <a:ext cx="447370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972300" y="4832096"/>
            <a:ext cx="44737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72300" y="5460746"/>
            <a:ext cx="447370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accessible, token-based design system — colour, type, shape, icons and components.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26901" y="3420394"/>
            <a:ext cx="5118100" cy="3560763"/>
          </a:xfrm>
          <a:prstGeom prst="roundRect">
            <a:avLst>
              <a:gd name="adj" fmla="val 6420"/>
            </a:avLst>
          </a:prstGeom>
          <a:solidFill>
            <a:srgbClr val="FFFFFF">
              <a:alpha val="97000"/>
            </a:srgbClr>
          </a:solidFill>
          <a:ln w="6350">
            <a:solidFill>
              <a:srgbClr val="ECE2D4">
                <a:alpha val="9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11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414250" y="3864894"/>
            <a:ext cx="447370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414250" y="4836444"/>
            <a:ext cx="44737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Build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414250" y="5465094"/>
            <a:ext cx="447370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 Android app in Kotlin &amp; Jetpack Compose — all 16 screens, fully offline, backend-ready.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7355146"/>
            <a:ext cx="16002000" cy="1244600"/>
          </a:xfrm>
          <a:prstGeom prst="roundRect">
            <a:avLst>
              <a:gd name="adj" fmla="val 18367"/>
            </a:avLst>
          </a:prstGeom>
          <a:solidFill>
            <a:srgbClr val="E4F0ED">
              <a:alpha val="85000"/>
            </a:srgbClr>
          </a:solidFill>
          <a:ln w="6350">
            <a:solidFill>
              <a:srgbClr val="CFE5E0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29719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0" y="7786947"/>
            <a:ext cx="3810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139950" y="7666297"/>
            <a:ext cx="15056232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trust. </a:t>
            </a:r>
            <a:pPr algn="l" indent="0" marL="0">
              <a:buNone/>
            </a:pPr>
            <a:r>
              <a:rPr lang="en-US" sz="1950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helps a non-technical driver understand a problem and decide the next step — a qualified mechanic still confirms the fix.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62100" y="9534525"/>
            <a:ext cx="30519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CARDIAG · CEF 440 TASK 5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51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809876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624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3362870"/>
            <a:ext cx="1648206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50" b="1" spc="-28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143000" y="5145989"/>
            <a:ext cx="1157668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7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recognisable, repeatable signals that tell a user what CarDiag is, who it is for, and how it behaves — the foundation of trust for a tool that touches driver safety.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7083827"/>
            <a:ext cx="2179737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9850" y="7194952"/>
            <a:ext cx="186223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&amp; wordmark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3456087" y="7083827"/>
            <a:ext cx="2563217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2937" y="7194952"/>
            <a:ext cx="224641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Pulse-shield logomark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6152654" y="7083827"/>
            <a:ext cx="2092325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504" y="7194952"/>
            <a:ext cx="177482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&amp; promise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378329" y="7083827"/>
            <a:ext cx="2228949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5179" y="7194952"/>
            <a:ext cx="191144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&amp; voice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143000" y="9563100"/>
            <a:ext cx="30519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CARDIAG · CEF 440 TASK 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280706" y="9544050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28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IDENTITY · THE ESSENTIALS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536937"/>
            <a:ext cx="81203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NAME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784587"/>
            <a:ext cx="8120338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87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pPr algn="l" indent="0" marL="0">
              <a:buNone/>
            </a:pPr>
            <a:r>
              <a:rPr lang="en-US" sz="4350" b="1" spc="-87" kern="0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552937"/>
            <a:ext cx="812033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contraction of “Car Diagnosis” — short, pronounceable, descriptive. The diagnostic half is emphasised in brand green.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143000" y="3497606"/>
            <a:ext cx="81203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LOGOMARK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3745256"/>
            <a:ext cx="812033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shield holding a pulse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4183406"/>
            <a:ext cx="812033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shield says protection and trust; the heartbeat line says diagnosis and vital signs. One scalable vector, light &amp; inverted finishes.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143000" y="5130733"/>
            <a:ext cx="81203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TAGLINE &amp; PROMISE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5378383"/>
            <a:ext cx="812033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pocket diagnostic” · </a:t>
            </a:r>
            <a:pPr algn="l" indent="0" marL="0">
              <a:buNone/>
            </a:pPr>
            <a:r>
              <a:rPr lang="en-US" sz="2250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fully offline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5816533"/>
            <a:ext cx="8120338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deeper promise governs every result screen: </a:t>
            </a:r>
            <a:pPr algn="l" indent="0" marL="0">
              <a:lnSpc>
                <a:spcPct val="150000"/>
              </a:lnSpc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 assistant, not a replacement.”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636423" y="1899218"/>
            <a:ext cx="7508578" cy="3824685"/>
          </a:xfrm>
          <a:prstGeom prst="roundRect">
            <a:avLst>
              <a:gd name="adj" fmla="val 4483"/>
            </a:avLst>
          </a:prstGeom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666750" dist="285750" dir="5400000">
              <a:srgbClr val="221A12">
                <a:alpha val="5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6423" y="1899218"/>
            <a:ext cx="7508578" cy="382468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23794" y="5952503"/>
            <a:ext cx="773383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 1 — THE CARDIAG BRAND BOARD · “TRUSTED COMPANION”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62100" y="9534525"/>
            <a:ext cx="1557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IDENTITY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28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PERSONALITY &amp; VOICE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312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plain-spoken and protective — never alarmist, never over-claiming.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941011"/>
            <a:ext cx="12753975" cy="793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E6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explains a fault in everyday terms —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221A12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“Possible engine timing problem. Visit a mechanic soon”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E6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“potential crankshaft synchronisation anomaly”.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4208103"/>
            <a:ext cx="3032720" cy="1851025"/>
          </a:xfrm>
          <a:prstGeom prst="roundRect">
            <a:avLst>
              <a:gd name="adj" fmla="val 12350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6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7000" y="4500203"/>
            <a:ext cx="26009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97000" y="4938353"/>
            <a:ext cx="26009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always shown; low confidence never names a fault.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5270" y="4209795"/>
            <a:ext cx="3032720" cy="1851025"/>
          </a:xfrm>
          <a:prstGeom prst="roundRect">
            <a:avLst>
              <a:gd name="adj" fmla="val 12350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72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9270" y="4501895"/>
            <a:ext cx="26009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4639270" y="4940045"/>
            <a:ext cx="26009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palette, generous spacing, no harsh reds except real danger.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27541" y="4214142"/>
            <a:ext cx="3032820" cy="1851025"/>
          </a:xfrm>
          <a:prstGeom prst="roundRect">
            <a:avLst>
              <a:gd name="adj" fmla="val 12350"/>
            </a:avLst>
          </a:prstGeom>
          <a:solidFill>
            <a:srgbClr val="FFFFFF">
              <a:alpha val="97000"/>
            </a:srgbClr>
          </a:solidFill>
          <a:ln w="6350">
            <a:solidFill>
              <a:srgbClr val="ECE2D4">
                <a:alpha val="9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11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81541" y="4506242"/>
            <a:ext cx="26010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7881541" y="4944392"/>
            <a:ext cx="26010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disclaimer on every result; non-dismissible critical warnings.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869911" y="4223552"/>
            <a:ext cx="3032720" cy="1851025"/>
          </a:xfrm>
          <a:prstGeom prst="roundRect">
            <a:avLst>
              <a:gd name="adj" fmla="val 12350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ECE2D4">
                <a:alpha val="94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278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123911" y="4515652"/>
            <a:ext cx="26009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Plain-spoken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1123911" y="4953802"/>
            <a:ext cx="26009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sentences, everyday words, one clear “Do this first”.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112180" y="4244219"/>
            <a:ext cx="3032820" cy="1851025"/>
          </a:xfrm>
          <a:prstGeom prst="roundRect">
            <a:avLst>
              <a:gd name="adj" fmla="val 1235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CE2D4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2986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366181" y="4536319"/>
            <a:ext cx="26010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4366181" y="4974469"/>
            <a:ext cx="26010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non-technical owner completes a check in no more than three taps.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62100" y="9534525"/>
            <a:ext cx="1557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IDENTITY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28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DIRECTION SELECTION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315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directions were prototyped. We chose the reassuring one.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07718"/>
            <a:ext cx="7772400" cy="3993455"/>
          </a:xfrm>
          <a:prstGeom prst="roundRect">
            <a:avLst>
              <a:gd name="adj" fmla="val 4293"/>
            </a:avLst>
          </a:prstGeom>
          <a:ln w="6350">
            <a:solidFill>
              <a:srgbClr val="ECE2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3214068"/>
            <a:ext cx="7759700" cy="39807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7391673"/>
            <a:ext cx="1144488" cy="438150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 w="6350">
            <a:solidFill>
              <a:srgbClr val="ECE2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39850" y="7502798"/>
            <a:ext cx="82698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01788" y="7442473"/>
            <a:ext cx="5441594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 — “Diagnostic Instrument”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7925073"/>
            <a:ext cx="800557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Cool, technical, high-contrast — cyan on near-black with a gauge logomark. Reads as a precision tool, but clinical.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372600" y="3212653"/>
            <a:ext cx="7772400" cy="3971330"/>
          </a:xfrm>
          <a:prstGeom prst="roundRect">
            <a:avLst>
              <a:gd name="adj" fmla="val 4317"/>
            </a:avLst>
          </a:prstGeom>
          <a:ln w="19050">
            <a:solidFill>
              <a:srgbClr val="0E7468"/>
            </a:solidFill>
            <a:prstDash val="solid"/>
          </a:ln>
          <a:effectLst>
            <a:outerShdw sx="100000" sy="100000" kx="0" ky="0" algn="bl" rotWithShape="0" blurRad="666750" dist="285750" dir="5400000">
              <a:srgbClr val="0E7468">
                <a:alpha val="6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0" y="3231703"/>
            <a:ext cx="7734300" cy="393323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5647294" y="3384103"/>
            <a:ext cx="1326257" cy="387350"/>
          </a:xfrm>
          <a:prstGeom prst="roundRect">
            <a:avLst>
              <a:gd name="adj" fmla="val 50000"/>
            </a:avLst>
          </a:prstGeom>
          <a:solidFill>
            <a:srgbClr val="0E746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9694" y="348252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66394" y="3469828"/>
            <a:ext cx="8309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372600" y="7374484"/>
            <a:ext cx="1992511" cy="438150"/>
          </a:xfrm>
          <a:prstGeom prst="roundRect">
            <a:avLst>
              <a:gd name="adj" fmla="val 50000"/>
            </a:avLst>
          </a:prstGeom>
          <a:solidFill>
            <a:srgbClr val="0E7468"/>
          </a:solidFill>
          <a:ln w="6350">
            <a:solidFill>
              <a:srgbClr val="0E746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569450" y="7485609"/>
            <a:ext cx="167501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identity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479411" y="7425283"/>
            <a:ext cx="5044361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B — “Trusted Companion”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372600" y="7907884"/>
            <a:ext cx="800557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friendly, reassuring — deep green on soft paper, rounded shapes, the pulse-shield. A human, low-anxiety guide that supports adoption.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62100" y="9534525"/>
            <a:ext cx="1557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IDENTITY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51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682902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624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TWO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3236133"/>
            <a:ext cx="1648206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50" b="1" spc="-28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143000" y="5019634"/>
            <a:ext cx="11772900" cy="152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7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consistent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13A18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token-based design system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7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source of colour, type, spacing, shape, iconography and components that every screen draws from.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7021627"/>
            <a:ext cx="149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30325" y="7021627"/>
            <a:ext cx="259655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over completeness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5636816" y="7021627"/>
            <a:ext cx="149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824141" y="7021627"/>
            <a:ext cx="242679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is non-negotiable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9960869" y="7021627"/>
            <a:ext cx="149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0148193" y="7021627"/>
            <a:ext cx="19029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uncertainty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143000" y="7440727"/>
            <a:ext cx="149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330325" y="7440727"/>
            <a:ext cx="171628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by default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636816" y="7440727"/>
            <a:ext cx="149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5824141" y="7440727"/>
            <a:ext cx="23901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in three taps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960869" y="7440727"/>
            <a:ext cx="149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0148193" y="7440727"/>
            <a:ext cx="191502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colour alone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143000" y="9563100"/>
            <a:ext cx="30519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CARDIAG · CEF 440 TASK 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280706" y="9544050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 SYSTEM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048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warm, low-glare palette. Colour is used sparingly so urgency always stands out.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42770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9350" y="3249120"/>
            <a:ext cx="2495550" cy="91440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6" name="Shape 4"/>
          <p:cNvSpPr/>
          <p:nvPr/>
        </p:nvSpPr>
        <p:spPr>
          <a:xfrm>
            <a:off x="1149350" y="4157170"/>
            <a:ext cx="2495550" cy="9525"/>
          </a:xfrm>
          <a:prstGeom prst="rect">
            <a:avLst/>
          </a:prstGeom>
          <a:solidFill>
            <a:srgbClr val="ECE2D4"/>
          </a:solidFill>
          <a:ln/>
        </p:spPr>
      </p:sp>
      <p:sp>
        <p:nvSpPr>
          <p:cNvPr id="7" name="Text 5"/>
          <p:cNvSpPr/>
          <p:nvPr/>
        </p:nvSpPr>
        <p:spPr>
          <a:xfrm>
            <a:off x="1301750" y="4287345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301750" y="4560395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#FBF6EE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1750" y="3244079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8100" y="3250429"/>
            <a:ext cx="249555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848100" y="4158479"/>
            <a:ext cx="2495550" cy="9525"/>
          </a:xfrm>
          <a:prstGeom prst="rect">
            <a:avLst/>
          </a:prstGeom>
          <a:solidFill>
            <a:srgbClr val="ECE2D4"/>
          </a:solidFill>
          <a:ln/>
        </p:spPr>
      </p:sp>
      <p:sp>
        <p:nvSpPr>
          <p:cNvPr id="12" name="Text 10"/>
          <p:cNvSpPr/>
          <p:nvPr/>
        </p:nvSpPr>
        <p:spPr>
          <a:xfrm>
            <a:off x="4000500" y="4288654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4000500" y="4561704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40500" y="3247744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6850" y="3254094"/>
            <a:ext cx="2495550" cy="914400"/>
          </a:xfrm>
          <a:prstGeom prst="rect">
            <a:avLst/>
          </a:prstGeom>
          <a:solidFill>
            <a:srgbClr val="F5EEE2"/>
          </a:solidFill>
          <a:ln/>
        </p:spPr>
      </p:sp>
      <p:sp>
        <p:nvSpPr>
          <p:cNvPr id="16" name="Text 14"/>
          <p:cNvSpPr/>
          <p:nvPr/>
        </p:nvSpPr>
        <p:spPr>
          <a:xfrm>
            <a:off x="6699250" y="4292319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Surface-2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699250" y="4565369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#F5EEE2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9250" y="3255796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ECE2D4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5600" y="3262146"/>
            <a:ext cx="2495550" cy="914400"/>
          </a:xfrm>
          <a:prstGeom prst="rect">
            <a:avLst/>
          </a:prstGeom>
          <a:solidFill>
            <a:srgbClr val="221A12"/>
          </a:solidFill>
          <a:ln/>
        </p:spPr>
      </p:sp>
      <p:sp>
        <p:nvSpPr>
          <p:cNvPr id="20" name="Text 18"/>
          <p:cNvSpPr/>
          <p:nvPr/>
        </p:nvSpPr>
        <p:spPr>
          <a:xfrm>
            <a:off x="9398000" y="4300371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398000" y="4573421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#221A12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938000" y="3273241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ECE2D4">
                <a:alpha val="8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44350" y="3279591"/>
            <a:ext cx="2495550" cy="914400"/>
          </a:xfrm>
          <a:prstGeom prst="rect">
            <a:avLst/>
          </a:prstGeom>
          <a:solidFill>
            <a:srgbClr val="7A6E60"/>
          </a:solidFill>
          <a:ln/>
        </p:spPr>
      </p:sp>
      <p:sp>
        <p:nvSpPr>
          <p:cNvPr id="24" name="Text 22"/>
          <p:cNvSpPr/>
          <p:nvPr/>
        </p:nvSpPr>
        <p:spPr>
          <a:xfrm>
            <a:off x="12096750" y="4317816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2096750" y="4590866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#7A6E60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6751" y="3315720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71000"/>
            </a:srgbClr>
          </a:solidFill>
          <a:ln w="6350">
            <a:solidFill>
              <a:srgbClr val="ECE2D4">
                <a:alpha val="71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43100" y="3322070"/>
            <a:ext cx="2495550" cy="914400"/>
          </a:xfrm>
          <a:prstGeom prst="rect">
            <a:avLst/>
          </a:prstGeom>
          <a:solidFill>
            <a:srgbClr val="A99C8C"/>
          </a:solidFill>
          <a:ln/>
        </p:spPr>
      </p:sp>
      <p:sp>
        <p:nvSpPr>
          <p:cNvPr id="28" name="Text 26"/>
          <p:cNvSpPr/>
          <p:nvPr/>
        </p:nvSpPr>
        <p:spPr>
          <a:xfrm>
            <a:off x="14795500" y="4360295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Faint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4795500" y="4633345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#A99C8C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43000" y="5233640"/>
            <a:ext cx="250825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27000"/>
            </a:srgbClr>
          </a:solidFill>
          <a:ln w="6350">
            <a:solidFill>
              <a:srgbClr val="ECE2D4">
                <a:alpha val="2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9350" y="5239991"/>
            <a:ext cx="2495550" cy="914400"/>
          </a:xfrm>
          <a:prstGeom prst="rect">
            <a:avLst/>
          </a:prstGeom>
          <a:solidFill>
            <a:srgbClr val="ECE2D4"/>
          </a:solidFill>
          <a:ln/>
        </p:spPr>
      </p:sp>
      <p:sp>
        <p:nvSpPr>
          <p:cNvPr id="32" name="Text 30"/>
          <p:cNvSpPr/>
          <p:nvPr/>
        </p:nvSpPr>
        <p:spPr>
          <a:xfrm>
            <a:off x="1301750" y="6278216"/>
            <a:ext cx="22669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301750" y="6551265"/>
            <a:ext cx="2266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#ECE2D4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7064831"/>
            <a:ext cx="137350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6E60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Deep-green brand accents on a soft-paper canvas. Amber is reserved for highlights and encouragement — never for alarm.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562100" y="9534525"/>
            <a:ext cx="1681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URGENCY COLOUR SYSTEM · FR08 · NFR11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044"/>
            <a:ext cx="15304770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is one of four levels — colour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action. Never colour alone.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61818"/>
            <a:ext cx="3814763" cy="2834283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9350" y="3268168"/>
            <a:ext cx="3802063" cy="95250"/>
          </a:xfrm>
          <a:prstGeom prst="rect">
            <a:avLst/>
          </a:prstGeom>
          <a:solidFill>
            <a:srgbClr val="1FA85A"/>
          </a:solidFill>
          <a:ln/>
        </p:spPr>
      </p:sp>
      <p:sp>
        <p:nvSpPr>
          <p:cNvPr id="6" name="Shape 4"/>
          <p:cNvSpPr/>
          <p:nvPr/>
        </p:nvSpPr>
        <p:spPr>
          <a:xfrm>
            <a:off x="1416050" y="3668218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1FA85A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75" y="3792043"/>
            <a:ext cx="285750" cy="285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16050" y="4530230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FA85A"/>
          </a:solidFill>
          <a:ln/>
        </p:spPr>
      </p:sp>
      <p:sp>
        <p:nvSpPr>
          <p:cNvPr id="9" name="Text 6"/>
          <p:cNvSpPr/>
          <p:nvPr/>
        </p:nvSpPr>
        <p:spPr>
          <a:xfrm>
            <a:off x="1635125" y="4411168"/>
            <a:ext cx="6880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16050" y="4906468"/>
            <a:ext cx="336672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1FA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6050" y="5204918"/>
            <a:ext cx="3366723" cy="6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to keep driving — service at the next routine check.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5205413" y="3263121"/>
            <a:ext cx="3814763" cy="2834283"/>
          </a:xfrm>
          <a:prstGeom prst="roundRect">
            <a:avLst>
              <a:gd name="adj" fmla="val 8066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802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11763" y="3269471"/>
            <a:ext cx="3802063" cy="95250"/>
          </a:xfrm>
          <a:prstGeom prst="rect">
            <a:avLst/>
          </a:prstGeom>
          <a:solidFill>
            <a:srgbClr val="C8920A"/>
          </a:solidFill>
          <a:ln/>
        </p:spPr>
      </p:sp>
      <p:sp>
        <p:nvSpPr>
          <p:cNvPr id="14" name="Shape 11"/>
          <p:cNvSpPr/>
          <p:nvPr/>
        </p:nvSpPr>
        <p:spPr>
          <a:xfrm>
            <a:off x="5478463" y="3669521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C8920A">
              <a:alpha val="12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88" y="3793346"/>
            <a:ext cx="285750" cy="2857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78463" y="4531534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C8920A"/>
          </a:solidFill>
          <a:ln/>
        </p:spPr>
      </p:sp>
      <p:sp>
        <p:nvSpPr>
          <p:cNvPr id="17" name="Text 13"/>
          <p:cNvSpPr/>
          <p:nvPr/>
        </p:nvSpPr>
        <p:spPr>
          <a:xfrm>
            <a:off x="5697538" y="4412471"/>
            <a:ext cx="129351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5478463" y="4907771"/>
            <a:ext cx="336672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C89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SOON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78463" y="5206221"/>
            <a:ext cx="3366723" cy="6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emergency — book a mechanic within a few days.</a:t>
            </a:r>
            <a:endParaRPr lang="en-US" sz="1575" dirty="0"/>
          </a:p>
        </p:txBody>
      </p:sp>
      <p:sp>
        <p:nvSpPr>
          <p:cNvPr id="20" name="Shape 16"/>
          <p:cNvSpPr/>
          <p:nvPr/>
        </p:nvSpPr>
        <p:spPr>
          <a:xfrm>
            <a:off x="9267825" y="3266775"/>
            <a:ext cx="3814763" cy="2834283"/>
          </a:xfrm>
          <a:prstGeom prst="roundRect">
            <a:avLst>
              <a:gd name="adj" fmla="val 8066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85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274175" y="3273125"/>
            <a:ext cx="3802063" cy="95250"/>
          </a:xfrm>
          <a:prstGeom prst="rect">
            <a:avLst/>
          </a:prstGeom>
          <a:solidFill>
            <a:srgbClr val="E0660F"/>
          </a:solidFill>
          <a:ln/>
        </p:spPr>
      </p:sp>
      <p:sp>
        <p:nvSpPr>
          <p:cNvPr id="22" name="Shape 18"/>
          <p:cNvSpPr/>
          <p:nvPr/>
        </p:nvSpPr>
        <p:spPr>
          <a:xfrm>
            <a:off x="9540875" y="3673175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E0660F">
              <a:alpha val="12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700" y="3797000"/>
            <a:ext cx="285750" cy="28575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540875" y="4535188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E0660F"/>
          </a:solidFill>
          <a:ln/>
        </p:spPr>
      </p:sp>
      <p:sp>
        <p:nvSpPr>
          <p:cNvPr id="25" name="Text 20"/>
          <p:cNvSpPr/>
          <p:nvPr/>
        </p:nvSpPr>
        <p:spPr>
          <a:xfrm>
            <a:off x="9759951" y="4416125"/>
            <a:ext cx="78263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50" dirty="0"/>
          </a:p>
        </p:txBody>
      </p:sp>
      <p:sp>
        <p:nvSpPr>
          <p:cNvPr id="26" name="Text 21"/>
          <p:cNvSpPr/>
          <p:nvPr/>
        </p:nvSpPr>
        <p:spPr>
          <a:xfrm>
            <a:off x="9540875" y="4911425"/>
            <a:ext cx="336672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E06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 TODAY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540875" y="5209875"/>
            <a:ext cx="3366723" cy="6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 mechanic today — driving on risks a costlier fault.</a:t>
            </a:r>
            <a:endParaRPr lang="en-US" sz="1575" dirty="0"/>
          </a:p>
        </p:txBody>
      </p:sp>
      <p:sp>
        <p:nvSpPr>
          <p:cNvPr id="28" name="Shape 23"/>
          <p:cNvSpPr/>
          <p:nvPr/>
        </p:nvSpPr>
        <p:spPr>
          <a:xfrm>
            <a:off x="13330238" y="3274807"/>
            <a:ext cx="3814763" cy="2834283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E11D48">
                <a:alpha val="33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315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3336588" y="3281156"/>
            <a:ext cx="3802063" cy="9525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0" name="Shape 25"/>
          <p:cNvSpPr/>
          <p:nvPr/>
        </p:nvSpPr>
        <p:spPr>
          <a:xfrm>
            <a:off x="13603288" y="3681206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E11D48">
              <a:alpha val="12000"/>
            </a:srgb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7113" y="3805031"/>
            <a:ext cx="285750" cy="28575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3603288" y="4543219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E11D48"/>
          </a:solidFill>
          <a:ln/>
        </p:spPr>
      </p:sp>
      <p:sp>
        <p:nvSpPr>
          <p:cNvPr id="33" name="Text 27"/>
          <p:cNvSpPr/>
          <p:nvPr/>
        </p:nvSpPr>
        <p:spPr>
          <a:xfrm>
            <a:off x="13822363" y="4424156"/>
            <a:ext cx="117435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2250" dirty="0"/>
          </a:p>
        </p:txBody>
      </p:sp>
      <p:sp>
        <p:nvSpPr>
          <p:cNvPr id="34" name="Text 28"/>
          <p:cNvSpPr/>
          <p:nvPr/>
        </p:nvSpPr>
        <p:spPr>
          <a:xfrm>
            <a:off x="13603288" y="4919457"/>
            <a:ext cx="336672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NOW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3603288" y="5217907"/>
            <a:ext cx="3366723" cy="6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driving as soon as it is safe — a non-dismissible prompt confirms.</a:t>
            </a:r>
            <a:endParaRPr lang="en-US" sz="1575" dirty="0"/>
          </a:p>
        </p:txBody>
      </p:sp>
      <p:sp>
        <p:nvSpPr>
          <p:cNvPr id="36" name="Shape 30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562100" y="9534525"/>
            <a:ext cx="1681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048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voices — confident display, friendly body, precise mono.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42770"/>
            <a:ext cx="5143500" cy="3165475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92250" y="3630120"/>
            <a:ext cx="45783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492250" y="4658820"/>
            <a:ext cx="4578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92250" y="5077920"/>
            <a:ext cx="4578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· HEADINGS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92250" y="5420820"/>
            <a:ext cx="4578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titles, section headers, result names. Geometric and confident.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572250" y="3244080"/>
            <a:ext cx="5143500" cy="3165475"/>
          </a:xfrm>
          <a:prstGeom prst="roundRect">
            <a:avLst>
              <a:gd name="adj" fmla="val 7222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8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21500" y="3631430"/>
            <a:ext cx="45783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6921500" y="4660130"/>
            <a:ext cx="4578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Jakarta Sans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21500" y="5079231"/>
            <a:ext cx="4578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· 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1500" y="5422131"/>
            <a:ext cx="4578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reading copy. Humanist, friendly, legible at small sizes.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2001500" y="3247747"/>
            <a:ext cx="5143500" cy="3165475"/>
          </a:xfrm>
          <a:prstGeom prst="roundRect">
            <a:avLst>
              <a:gd name="adj" fmla="val 7222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8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50751" y="3635097"/>
            <a:ext cx="45783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22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12350751" y="4663797"/>
            <a:ext cx="4578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Plex Mono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350751" y="5082897"/>
            <a:ext cx="4578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LABELS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50751" y="5425797"/>
            <a:ext cx="4578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 labels, numeric values, metadata. Signals precision.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143000" y="6764041"/>
            <a:ext cx="1648206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6E6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loaded as downloadable Google Fonts with a safe system fallback — no font binaries shipped, graceful degradation if unavailable.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62100" y="9534525"/>
            <a:ext cx="1681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ICONOGRAPHY, SPACING &amp; SHAPE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1143000" y="1518196"/>
            <a:ext cx="8253512" cy="4638576"/>
          </a:xfrm>
          <a:prstGeom prst="roundRect">
            <a:avLst>
              <a:gd name="adj" fmla="val 3696"/>
            </a:avLst>
          </a:prstGeom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571500" dist="247650" dir="5400000">
              <a:srgbClr val="221A12">
                <a:alpha val="4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18196"/>
            <a:ext cx="8253512" cy="4638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9197" y="6385372"/>
            <a:ext cx="850111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 3 — URGENCY SCALE + THE INTERFACE ICON FAMILY</a:t>
            </a:r>
            <a:endParaRPr lang="en-US" sz="1275" dirty="0"/>
          </a:p>
        </p:txBody>
      </p:sp>
      <p:sp>
        <p:nvSpPr>
          <p:cNvPr id="6" name="Text 3"/>
          <p:cNvSpPr/>
          <p:nvPr/>
        </p:nvSpPr>
        <p:spPr>
          <a:xfrm>
            <a:off x="9968012" y="1606354"/>
            <a:ext cx="7392298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94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icon sets, drawn as one family.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9968012" y="2750661"/>
            <a:ext cx="7392298" cy="1349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6E6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221A12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24-unit grid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6E6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1.7px stroke, round caps &amp; joins — outlined, never filled (except urgency badges). Interface icons for navigation, actions and status; plus eight real dashboard warning-light symbols so users can match what they see.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968012" y="4332694"/>
            <a:ext cx="3502720" cy="9906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02962" y="4567644"/>
            <a:ext cx="312380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SPACING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0202962" y="4789894"/>
            <a:ext cx="31238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 of four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3642181" y="4332694"/>
            <a:ext cx="3502819" cy="9906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3877132" y="4567644"/>
            <a:ext cx="312390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3877132" y="4789894"/>
            <a:ext cx="31239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· pill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968012" y="5494744"/>
            <a:ext cx="3502720" cy="9906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202962" y="5729694"/>
            <a:ext cx="312380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ELEVATION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0202962" y="5951944"/>
            <a:ext cx="31238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Hairline + faint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3642181" y="5494744"/>
            <a:ext cx="3502819" cy="9906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3877132" y="5729694"/>
            <a:ext cx="312390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DRAWN AS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3877132" y="5951944"/>
            <a:ext cx="31239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Vectors, any DPI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62100" y="9534525"/>
            <a:ext cx="1681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COMPONENTS &amp; ACCESSIBILITY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61065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component library — each defined once, themed by tokens.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04678"/>
            <a:ext cx="4301927" cy="949325"/>
          </a:xfrm>
          <a:prstGeom prst="roundRect">
            <a:avLst>
              <a:gd name="adj" fmla="val 24080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7950" y="3420577"/>
            <a:ext cx="394698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/ list row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377950" y="3741252"/>
            <a:ext cx="394698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tile · title · meta · chevron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16377" y="3206014"/>
            <a:ext cx="4302026" cy="949325"/>
          </a:xfrm>
          <a:prstGeom prst="roundRect">
            <a:avLst>
              <a:gd name="adj" fmla="val 24080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7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1327" y="3421914"/>
            <a:ext cx="39470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buttons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851327" y="3742589"/>
            <a:ext cx="394709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ghost · subtle · danger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43000" y="4330502"/>
            <a:ext cx="4301927" cy="949325"/>
          </a:xfrm>
          <a:prstGeom prst="roundRect">
            <a:avLst>
              <a:gd name="adj" fmla="val 24080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71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7950" y="4546402"/>
            <a:ext cx="394698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badge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377950" y="4867077"/>
            <a:ext cx="394698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+ level + action phrase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16377" y="4338648"/>
            <a:ext cx="4302026" cy="949325"/>
          </a:xfrm>
          <a:prstGeom prst="roundRect">
            <a:avLst>
              <a:gd name="adj" fmla="val 24080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ECE2D4">
                <a:alpha val="9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311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1327" y="4554548"/>
            <a:ext cx="39470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meter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5851327" y="4875223"/>
            <a:ext cx="394709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bar + band + 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3000" y="5477087"/>
            <a:ext cx="4301927" cy="949325"/>
          </a:xfrm>
          <a:prstGeom prst="roundRect">
            <a:avLst>
              <a:gd name="adj" fmla="val 24080"/>
            </a:avLst>
          </a:prstGeom>
          <a:solidFill>
            <a:srgbClr val="FFFFFF">
              <a:alpha val="87000"/>
            </a:srgbClr>
          </a:solidFill>
          <a:ln w="6350">
            <a:solidFill>
              <a:srgbClr val="ECE2D4">
                <a:alpha val="8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062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7950" y="5692986"/>
            <a:ext cx="394698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disclaimer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377950" y="6013661"/>
            <a:ext cx="394698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result (FR13)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16377" y="5520210"/>
            <a:ext cx="4302026" cy="949325"/>
          </a:xfrm>
          <a:prstGeom prst="roundRect">
            <a:avLst>
              <a:gd name="adj" fmla="val 24080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CE2D4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2452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51327" y="5736110"/>
            <a:ext cx="39470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 &amp; modals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5851327" y="6056785"/>
            <a:ext cx="394709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sheet · centred modal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43000" y="6750312"/>
            <a:ext cx="4301927" cy="949325"/>
          </a:xfrm>
          <a:prstGeom prst="roundRect">
            <a:avLst>
              <a:gd name="adj" fmla="val 24080"/>
            </a:avLst>
          </a:prstGeom>
          <a:solidFill>
            <a:srgbClr val="FFFFFF">
              <a:alpha val="26000"/>
            </a:srgbClr>
          </a:solidFill>
          <a:ln w="6350">
            <a:solidFill>
              <a:srgbClr val="ECE2D4">
                <a:alpha val="26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9078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7950" y="6966212"/>
            <a:ext cx="394698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 · chips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377950" y="7286887"/>
            <a:ext cx="394698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destinations · filters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394653" y="3211425"/>
            <a:ext cx="6750248" cy="2919016"/>
          </a:xfrm>
          <a:prstGeom prst="roundRect">
            <a:avLst>
              <a:gd name="adj" fmla="val 7831"/>
            </a:avLst>
          </a:prstGeom>
          <a:solidFill>
            <a:srgbClr val="E4F0ED">
              <a:alpha val="97000"/>
            </a:srgbClr>
          </a:solidFill>
          <a:ln w="6350">
            <a:solidFill>
              <a:srgbClr val="CFE5E0">
                <a:alpha val="9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031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3902" y="3586075"/>
            <a:ext cx="323850" cy="3238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201102" y="3579725"/>
            <a:ext cx="4225878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Accessibility, by construction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743902" y="4144875"/>
            <a:ext cx="6233301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 contrast on the paper background</a:t>
            </a:r>
            <a:endParaRPr lang="en-US" sz="1575" dirty="0"/>
          </a:p>
        </p:txBody>
      </p:sp>
      <p:sp>
        <p:nvSpPr>
          <p:cNvPr id="29" name="Text 26"/>
          <p:cNvSpPr/>
          <p:nvPr/>
        </p:nvSpPr>
        <p:spPr>
          <a:xfrm>
            <a:off x="10743902" y="4587291"/>
            <a:ext cx="6233301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= colour + label + action + icon, never colour alone</a:t>
            </a:r>
            <a:endParaRPr lang="en-US" sz="1575" dirty="0"/>
          </a:p>
        </p:txBody>
      </p:sp>
      <p:sp>
        <p:nvSpPr>
          <p:cNvPr id="30" name="Text 27"/>
          <p:cNvSpPr/>
          <p:nvPr/>
        </p:nvSpPr>
        <p:spPr>
          <a:xfrm>
            <a:off x="10743902" y="5029708"/>
            <a:ext cx="6233301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touch targets; one large primary action</a:t>
            </a:r>
            <a:endParaRPr lang="en-US" sz="1575" dirty="0"/>
          </a:p>
        </p:txBody>
      </p:sp>
      <p:sp>
        <p:nvSpPr>
          <p:cNvPr id="31" name="Text 28"/>
          <p:cNvSpPr/>
          <p:nvPr/>
        </p:nvSpPr>
        <p:spPr>
          <a:xfrm>
            <a:off x="10743902" y="5472124"/>
            <a:ext cx="6233301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language; scalable units reflow rather than break</a:t>
            </a:r>
            <a:endParaRPr lang="en-US" sz="1575" dirty="0"/>
          </a:p>
        </p:txBody>
      </p:sp>
      <p:sp>
        <p:nvSpPr>
          <p:cNvPr id="32" name="Shape 29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562100" y="9534525"/>
            <a:ext cx="1681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326076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INVENTORY · §3.8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22401"/>
            <a:ext cx="13260762" cy="67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Sixteen screens, every requirement served.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6184861" y="1336279"/>
            <a:ext cx="103634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30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2494562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58900" y="2723162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78980" y="2691412"/>
            <a:ext cx="84018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58900" y="3012087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lockup · routes onward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5186363" y="2495877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8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02263" y="2724477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22343" y="2692727"/>
            <a:ext cx="145355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5402263" y="3013402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intro slides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9229725" y="2499550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8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625" y="2728150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65705" y="2696401"/>
            <a:ext cx="146893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445625" y="3017075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&amp; mic rationale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3273088" y="2507621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0E7468">
                <a:alpha val="95000"/>
              </a:srgbClr>
            </a:solidFill>
            <a:prstDash val="solid"/>
          </a:ln>
          <a:effectLst>
            <a:outerShdw sx="100000" sy="100000" kx="0" ky="0" algn="bl" rotWithShape="0" blurRad="342900" dist="152400" dir="5400000">
              <a:srgbClr val="0E7468">
                <a:alpha val="5207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488988" y="2736221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809068" y="2704471"/>
            <a:ext cx="12368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hub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3488988" y="3025146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to all pathways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143000" y="3595081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ECE2D4">
                <a:alpha val="8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066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58900" y="3823681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78980" y="3791931"/>
            <a:ext cx="152995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scan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358900" y="4112606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Aim-and-capture · offline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5186363" y="3637680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CE2D4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24648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02263" y="3866280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22343" y="3834530"/>
            <a:ext cx="79791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5402263" y="4155205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· urgency · confidence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9229725" y="3746068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>
              <a:alpha val="27000"/>
            </a:srgbClr>
          </a:solidFill>
          <a:ln w="6350">
            <a:solidFill>
              <a:srgbClr val="ECE2D4">
                <a:alpha val="2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933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445625" y="3974668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65705" y="3942918"/>
            <a:ext cx="170527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search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9445625" y="4263593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light dictionary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1143000" y="5704384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58900" y="5932984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78980" y="5901234"/>
            <a:ext cx="91092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358900" y="6221909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diagnoses + filters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5186363" y="5704384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02263" y="5932984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722343" y="5901234"/>
            <a:ext cx="161458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detail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5402263" y="6221909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· edit note · delete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9229725" y="5704384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445625" y="5932984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765705" y="5901234"/>
            <a:ext cx="17562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garage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9445625" y="6221909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· switch · edit · remove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13273088" y="5704384"/>
            <a:ext cx="3871913" cy="898525"/>
          </a:xfrm>
          <a:prstGeom prst="roundRect">
            <a:avLst>
              <a:gd name="adj" fmla="val 2544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3488988" y="5932984"/>
            <a:ext cx="2819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3809068" y="5901234"/>
            <a:ext cx="103733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3488988" y="6221909"/>
            <a:ext cx="354331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· privacy · language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562100" y="9534525"/>
            <a:ext cx="1681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WALKTHROUGH · EVERY CHECK, ONE TAP FROM HOME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22945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diagnostic pathways — scan, listen, or search.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026245" y="3090368"/>
            <a:ext cx="2484537" cy="5334000"/>
          </a:xfrm>
          <a:prstGeom prst="roundRect">
            <a:avLst>
              <a:gd name="adj" fmla="val 12268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245" y="3090368"/>
            <a:ext cx="2484537" cy="533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76543" y="8614868"/>
            <a:ext cx="341291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 — THE THREE PATHWAYS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7487245" y="3091673"/>
            <a:ext cx="2426295" cy="5334000"/>
          </a:xfrm>
          <a:prstGeom prst="roundRect">
            <a:avLst>
              <a:gd name="adj" fmla="val 12562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245" y="3091673"/>
            <a:ext cx="2426295" cy="533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7543" y="8616173"/>
            <a:ext cx="341291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HUB — ONE TAP TO ANY CHECK</a:t>
            </a:r>
            <a:endParaRPr lang="en-US" sz="1275" dirty="0"/>
          </a:p>
        </p:txBody>
      </p:sp>
      <p:sp>
        <p:nvSpPr>
          <p:cNvPr id="10" name="Shape 6"/>
          <p:cNvSpPr/>
          <p:nvPr/>
        </p:nvSpPr>
        <p:spPr>
          <a:xfrm>
            <a:off x="13161963" y="3095330"/>
            <a:ext cx="2465586" cy="5334000"/>
          </a:xfrm>
          <a:prstGeom prst="roundRect">
            <a:avLst>
              <a:gd name="adj" fmla="val 12362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1963" y="3095330"/>
            <a:ext cx="2465586" cy="5334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118673" y="8619830"/>
            <a:ext cx="297255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SCAN — FULLY OFFLINE</a:t>
            </a:r>
            <a:endParaRPr lang="en-US" sz="1275" dirty="0"/>
          </a:p>
        </p:txBody>
      </p:sp>
      <p:sp>
        <p:nvSpPr>
          <p:cNvPr id="13" name="Shape 8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62100" y="9534525"/>
            <a:ext cx="18046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WALKTHROUGH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&amp; SAFETY · THE TRUST MODEL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1143000" y="1537245"/>
            <a:ext cx="2392561" cy="6477000"/>
          </a:xfrm>
          <a:prstGeom prst="roundRect">
            <a:avLst>
              <a:gd name="adj" fmla="val 12739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37245"/>
            <a:ext cx="2392561" cy="647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5280" y="8204745"/>
            <a:ext cx="396344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— URGENCY, CONFIDENCE, CAUSES</a:t>
            </a:r>
            <a:endParaRPr lang="en-US" sz="1275" dirty="0"/>
          </a:p>
        </p:txBody>
      </p:sp>
      <p:sp>
        <p:nvSpPr>
          <p:cNvPr id="6" name="Shape 3"/>
          <p:cNvSpPr/>
          <p:nvPr/>
        </p:nvSpPr>
        <p:spPr>
          <a:xfrm>
            <a:off x="5448201" y="1539189"/>
            <a:ext cx="2964756" cy="6477000"/>
          </a:xfrm>
          <a:prstGeom prst="roundRect">
            <a:avLst>
              <a:gd name="adj" fmla="val 10281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201" y="1539189"/>
            <a:ext cx="2964756" cy="647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5291" y="8206689"/>
            <a:ext cx="36331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— NON-DISMISSIBLE PROMPT</a:t>
            </a:r>
            <a:endParaRPr lang="en-US" sz="1275" dirty="0"/>
          </a:p>
        </p:txBody>
      </p:sp>
      <p:sp>
        <p:nvSpPr>
          <p:cNvPr id="9" name="Shape 5"/>
          <p:cNvSpPr/>
          <p:nvPr/>
        </p:nvSpPr>
        <p:spPr>
          <a:xfrm>
            <a:off x="9432727" y="2776638"/>
            <a:ext cx="7712273" cy="1158875"/>
          </a:xfrm>
          <a:prstGeom prst="roundRect">
            <a:avLst>
              <a:gd name="adj" fmla="val 19726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6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705777" y="3030638"/>
            <a:ext cx="73811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this first”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9705777" y="3405288"/>
            <a:ext cx="73811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bordered card gives the single most important action before any detail.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432727" y="4108268"/>
            <a:ext cx="7712273" cy="1435100"/>
          </a:xfrm>
          <a:prstGeom prst="roundRect">
            <a:avLst>
              <a:gd name="adj" fmla="val 15929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801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705777" y="4362268"/>
            <a:ext cx="73811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always shown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9705777" y="4736918"/>
            <a:ext cx="738115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refuses to name a fault and routes to manual search instead of guessing.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432727" y="5718474"/>
            <a:ext cx="7712273" cy="1435100"/>
          </a:xfrm>
          <a:prstGeom prst="roundRect">
            <a:avLst>
              <a:gd name="adj" fmla="val 15929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85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705777" y="5972474"/>
            <a:ext cx="73811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interrupts, deliberately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9705777" y="6347124"/>
            <a:ext cx="738115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faults can’t be dismissed by tapping outside, hold the button for 3 s, and offer one-tap dialling of a saved mechanic.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2100" y="9534525"/>
            <a:ext cx="18046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WALKTHROUGH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ENGINE-SOUND PATHWAY · INTENTIONALLY SLOW &amp; CAREFUL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3278389"/>
            <a:ext cx="9089865" cy="553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98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first. Listen safely.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3966195"/>
            <a:ext cx="9089865" cy="729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7A6E6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safety gate lists the rules — park, engine idling, phone near the sound — and keeps </a:t>
            </a:r>
            <a:pPr algn="l" indent="0" marL="0">
              <a:lnSpc>
                <a:spcPct val="155000"/>
              </a:lnSpc>
              <a:buNone/>
            </a:pPr>
            <a:r>
              <a:rPr lang="en-US" sz="1725" b="1" dirty="0">
                <a:solidFill>
                  <a:srgbClr val="221A12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disabled for four seconds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7A6E6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1143000" y="4814015"/>
            <a:ext cx="9089865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7A6E60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runs on a dark, focused screen with a live waveform, a 30-second limit and an ambient-noise check first.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143000" y="5653527"/>
            <a:ext cx="9089865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7A6E60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set of follow-up questions then refines the assessment before it is shown.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143000" y="6239111"/>
            <a:ext cx="1558627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9850" y="6350236"/>
            <a:ext cx="124112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FR05 · Record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15928" y="6239111"/>
            <a:ext cx="180598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2778" y="6350236"/>
            <a:ext cx="14884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FR07 · Follow-up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36207" y="6239111"/>
            <a:ext cx="1858467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3057" y="6350236"/>
            <a:ext cx="154096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FR18 · Safety gate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425311" y="1539199"/>
            <a:ext cx="3341985" cy="6477000"/>
          </a:xfrm>
          <a:prstGeom prst="roundRect">
            <a:avLst>
              <a:gd name="adj" fmla="val 9120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311" y="1539199"/>
            <a:ext cx="3341985" cy="6477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375182" y="8206699"/>
            <a:ext cx="344224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GATE (TIMED)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14224497" y="1543471"/>
            <a:ext cx="2920504" cy="6477001"/>
          </a:xfrm>
          <a:prstGeom prst="roundRect">
            <a:avLst>
              <a:gd name="adj" fmla="val 10437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497" y="1543471"/>
            <a:ext cx="2920504" cy="647700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80689" y="8210972"/>
            <a:ext cx="300811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 + AMBIENT CHECK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62100" y="9534525"/>
            <a:ext cx="18046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WALKTHROUGH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 GUIDANCE, THE GARAGE &amp; PRIVACY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22950"/>
            <a:ext cx="14716125" cy="67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safety tiers, your vehicles, your data.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598712" y="2418362"/>
            <a:ext cx="2189460" cy="5334000"/>
          </a:xfrm>
          <a:prstGeom prst="roundRect">
            <a:avLst>
              <a:gd name="adj" fmla="val 13921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712" y="2418362"/>
            <a:ext cx="2189460" cy="533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83" y="7942862"/>
            <a:ext cx="429363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 — “NOW / BASIC TOOLS / PRO ONLY”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7487245" y="2419674"/>
            <a:ext cx="2045196" cy="5334000"/>
          </a:xfrm>
          <a:prstGeom prst="roundRect">
            <a:avLst>
              <a:gd name="adj" fmla="val 14903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245" y="2419674"/>
            <a:ext cx="2045196" cy="533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7543" y="7944174"/>
            <a:ext cx="341291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GARAGE — SAVE &amp; SWITCH VEHICLES</a:t>
            </a:r>
            <a:endParaRPr lang="en-US" sz="1275" dirty="0"/>
          </a:p>
        </p:txBody>
      </p:sp>
      <p:sp>
        <p:nvSpPr>
          <p:cNvPr id="10" name="Shape 6"/>
          <p:cNvSpPr/>
          <p:nvPr/>
        </p:nvSpPr>
        <p:spPr>
          <a:xfrm>
            <a:off x="13055104" y="2423345"/>
            <a:ext cx="2387798" cy="5334001"/>
          </a:xfrm>
          <a:prstGeom prst="roundRect">
            <a:avLst>
              <a:gd name="adj" fmla="val 12765"/>
            </a:avLst>
          </a:prstGeom>
          <a:ln/>
          <a:effectLst>
            <a:outerShdw sx="100000" sy="100000" kx="0" ky="0" algn="bl" rotWithShape="0" blurRad="762000" dist="381000" dir="5400000">
              <a:srgbClr val="0B3A34">
                <a:alpha val="5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5104" y="2423345"/>
            <a:ext cx="2387798" cy="53340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008607" y="7947845"/>
            <a:ext cx="31927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77" kern="0" dirty="0">
                <a:solidFill>
                  <a:srgbClr val="7A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— CONTACTS &amp; PRIVACY</a:t>
            </a:r>
            <a:endParaRPr lang="en-US" sz="1275" dirty="0"/>
          </a:p>
        </p:txBody>
      </p:sp>
      <p:sp>
        <p:nvSpPr>
          <p:cNvPr id="13" name="Shape 8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62100" y="9534525"/>
            <a:ext cx="18046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WALKTHROUGH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51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661472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624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THREE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3214707"/>
            <a:ext cx="16482060" cy="271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50" b="1" spc="-25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Implementation</a:t>
            </a:r>
            <a:endParaRPr lang="en-US" sz="10350" dirty="0"/>
          </a:p>
        </p:txBody>
      </p:sp>
      <p:sp>
        <p:nvSpPr>
          <p:cNvPr id="5" name="Text 3"/>
          <p:cNvSpPr/>
          <p:nvPr/>
        </p:nvSpPr>
        <p:spPr>
          <a:xfrm>
            <a:off x="1143000" y="6222178"/>
            <a:ext cx="12165330" cy="152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7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 Android app in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13A18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&amp; Jetpack Compose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7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 sixteen screens, running fully offline, structured so the database and ML models of Task 6 attach without changing the UI.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9563100"/>
            <a:ext cx="30519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CARDIAG · CEF 440 TASK 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280706" y="9544050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· MVVM, BACKEND-READY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22947"/>
            <a:ext cx="15304770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depends on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0E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the backend attaches by addition, not rewrite.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09419"/>
            <a:ext cx="7961908" cy="755650"/>
          </a:xfrm>
          <a:prstGeom prst="roundRect">
            <a:avLst>
              <a:gd name="adj" fmla="val 30252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6050" y="3344369"/>
            <a:ext cx="29596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· Compose screens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02760" y="3401519"/>
            <a:ext cx="19052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screens + library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3571" y="3923527"/>
            <a:ext cx="820076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99C8C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renders state · raises events ↓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4225641"/>
            <a:ext cx="7961908" cy="755650"/>
          </a:xfrm>
          <a:prstGeom prst="roundRect">
            <a:avLst>
              <a:gd name="adj" fmla="val 30252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8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6050" y="4460591"/>
            <a:ext cx="76382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· UI state + back-stack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3571" y="5046490"/>
            <a:ext cx="820076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99C8C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talks only to abstractions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43000" y="5362377"/>
            <a:ext cx="7961908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0E7468">
                <a:alpha val="88000"/>
              </a:srgbClr>
            </a:solidFill>
            <a:prstDash val="dash"/>
          </a:ln>
          <a:effectLst>
            <a:outerShdw sx="100000" sy="100000" kx="0" ky="0" algn="bl" rotWithShape="0" blurRad="381000" dist="171450" dir="5400000">
              <a:srgbClr val="221A12">
                <a:alpha val="30681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6050" y="5597327"/>
            <a:ext cx="76382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&amp; Service interfaces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6050" y="5921177"/>
            <a:ext cx="76382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 · CarDiagRepository · DiagnosisService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23571" y="6452583"/>
            <a:ext cx="820076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99C8C">
                    <a:alpha val="7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satisfied today by mocks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6859162"/>
            <a:ext cx="7961908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27000"/>
            </a:srgbClr>
          </a:solidFill>
          <a:ln w="6350">
            <a:solidFill>
              <a:srgbClr val="ECE2D4">
                <a:alpha val="2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939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6050" y="7094111"/>
            <a:ext cx="76382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pure Kotlin domain types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6050" y="7417961"/>
            <a:ext cx="76382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enum carries its own colour, label &amp; action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562108" y="3111812"/>
            <a:ext cx="7582892" cy="3603327"/>
          </a:xfrm>
          <a:prstGeom prst="roundRect">
            <a:avLst>
              <a:gd name="adj" fmla="val 6344"/>
            </a:avLst>
          </a:prstGeom>
          <a:solidFill>
            <a:srgbClr val="0D2B27">
              <a:alpha val="99000"/>
            </a:srgbClr>
          </a:solidFill>
          <a:ln w="6350">
            <a:solidFill>
              <a:srgbClr val="16443D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64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73258" y="3403912"/>
            <a:ext cx="71694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ML / DATA SEAM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873258" y="3746812"/>
            <a:ext cx="7169410" cy="1495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7FB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DiagnosisService {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7FB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 </a:t>
            </a:r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simulateScan(): DiagnosisResult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7FB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 </a:t>
            </a:r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analyzeSound(): DiagnosisResult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7FB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 </a:t>
            </a:r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guidedAssessment(area): DiagnosisResult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873258" y="5413389"/>
            <a:ext cx="1502073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70108" y="5524514"/>
            <a:ext cx="118457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→ Mock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1508681" y="5413389"/>
            <a:ext cx="2136874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5531" y="5524514"/>
            <a:ext cx="181937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→ Room/SQLite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3778905" y="5413389"/>
            <a:ext cx="1548705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975755" y="5524514"/>
            <a:ext cx="123120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Retrofit sync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9873258" y="5984889"/>
            <a:ext cx="1773337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70108" y="6096014"/>
            <a:ext cx="145583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TensorFlow Lite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9562108" y="6956430"/>
            <a:ext cx="3715246" cy="86360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797058" y="7153280"/>
            <a:ext cx="33427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797058" y="7356480"/>
            <a:ext cx="3342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2.0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3429755" y="6956430"/>
            <a:ext cx="3715246" cy="86360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664704" y="7153280"/>
            <a:ext cx="33427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3664704" y="7356480"/>
            <a:ext cx="3342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· M3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562108" y="7972430"/>
            <a:ext cx="3715246" cy="86360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97058" y="8169280"/>
            <a:ext cx="33427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SDK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797058" y="8372480"/>
            <a:ext cx="3342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· Android 8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3429755" y="7972430"/>
            <a:ext cx="3715246" cy="86360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3664704" y="8169280"/>
            <a:ext cx="33427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3664704" y="8372480"/>
            <a:ext cx="3342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562100" y="9534525"/>
            <a:ext cx="29248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IMPLEMENTATION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1"/>
            <a:ext cx="164820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504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 &amp; KEY DESIGN DECISIONS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422953"/>
            <a:ext cx="14716125" cy="130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decisions that turned tensions into a clear brief.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28472"/>
            <a:ext cx="7896225" cy="1511300"/>
          </a:xfrm>
          <a:prstGeom prst="roundRect">
            <a:avLst>
              <a:gd name="adj" fmla="val 15126"/>
            </a:avLst>
          </a:prstGeom>
          <a:solidFill>
            <a:srgbClr val="FFFFFF"/>
          </a:solidFill>
          <a:ln w="6350">
            <a:solidFill>
              <a:srgbClr val="ECE2D4"/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98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73200" y="3420572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68500" y="3420572"/>
            <a:ext cx="69427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reassuring identity over a technical one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968500" y="3795222"/>
            <a:ext cx="69427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“Trusted Companion” + “assistant, not a replacement” turned the trust tension into a design brief.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48775" y="3129790"/>
            <a:ext cx="7896225" cy="1511300"/>
          </a:xfrm>
          <a:prstGeom prst="roundRect">
            <a:avLst>
              <a:gd name="adj" fmla="val 15126"/>
            </a:avLst>
          </a:prstGeom>
          <a:solidFill>
            <a:srgbClr val="FFFFFF">
              <a:alpha val="99000"/>
            </a:srgbClr>
          </a:solidFill>
          <a:ln w="6350">
            <a:solidFill>
              <a:srgbClr val="ECE2D4">
                <a:alpha val="99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79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78975" y="342189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74276" y="3421890"/>
            <a:ext cx="69427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uncertainty responsibly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074276" y="3796540"/>
            <a:ext cx="69427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meter, fault-name suppression and the disclaimer are first-class, not optional.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4854320"/>
            <a:ext cx="7896225" cy="1511300"/>
          </a:xfrm>
          <a:prstGeom prst="roundRect">
            <a:avLst>
              <a:gd name="adj" fmla="val 15126"/>
            </a:avLst>
          </a:prstGeom>
          <a:solidFill>
            <a:srgbClr val="FFFFFF">
              <a:alpha val="98000"/>
            </a:srgbClr>
          </a:solidFill>
          <a:ln w="6350">
            <a:solidFill>
              <a:srgbClr val="ECE2D4">
                <a:alpha val="9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427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73200" y="514642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68500" y="5146420"/>
            <a:ext cx="69427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interruptions that are actually read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968500" y="5521070"/>
            <a:ext cx="69427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non-dismissible modal with an enforced read delay — gentler banners for minor faults.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48775" y="4862403"/>
            <a:ext cx="7896225" cy="1511300"/>
          </a:xfrm>
          <a:prstGeom prst="roundRect">
            <a:avLst>
              <a:gd name="adj" fmla="val 15126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ECE2D4">
                <a:alpha val="9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78975" y="5154503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074276" y="5154503"/>
            <a:ext cx="69427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frontend that won’t be rewritten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074276" y="5529153"/>
            <a:ext cx="69427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all data through interfaces lets Task 6 add a real DB and models by addition.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6600766"/>
            <a:ext cx="16002000" cy="1235075"/>
          </a:xfrm>
          <a:prstGeom prst="roundRect">
            <a:avLst>
              <a:gd name="adj" fmla="val 18509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ECE2D4">
                <a:alpha val="88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21A12">
                <a:alpha val="30661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73200" y="6892866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968500" y="6892866"/>
            <a:ext cx="1390183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2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navigation for rich screen parameters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968500" y="7267516"/>
            <a:ext cx="139018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sealed-type router with a back-stack in the view-model — simpler, type-safe, and a faithful match to the prototype’s flow than string-argument navigation.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9486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E7468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73" y="9541173"/>
            <a:ext cx="177105" cy="17710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62100" y="9534525"/>
            <a:ext cx="29248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IMPLEMENTATION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6280706" y="9515475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0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</a:t>
            </a:r>
            <a:pPr algn="l" indent="0" marL="0">
              <a:buNone/>
            </a:pPr>
            <a:r>
              <a:rPr lang="en-US" sz="1350" spc="162" kern="0" dirty="0">
                <a:solidFill>
                  <a:srgbClr val="A9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514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48" y="2213916"/>
            <a:ext cx="914304" cy="914304"/>
          </a:xfrm>
          <a:prstGeom prst="roundRect">
            <a:avLst>
              <a:gd name="adj" fmla="val 26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730" y="2391598"/>
            <a:ext cx="558940" cy="5589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3509815"/>
            <a:ext cx="13735050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spc="-19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design and a running app — delivered.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143000" y="5818201"/>
            <a:ext cx="1216533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7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recognisable, trustworthy character; a complete, accessible token-based design system; and a native Kotlin &amp; Compose app that runs fully offline and is ready for the backend and on-device ML of Task 6.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143000" y="7692543"/>
            <a:ext cx="3118545" cy="4508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39850" y="7803668"/>
            <a:ext cx="28184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assistant, not a replacement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4394895" y="7692543"/>
            <a:ext cx="1947267" cy="4508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1745" y="7803668"/>
            <a:ext cx="1629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fully offline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15041364" y="7679843"/>
            <a:ext cx="217983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pPr algn="l" indent="0" marL="0">
              <a:buNone/>
            </a:pPr>
            <a:r>
              <a:rPr lang="en-US" sz="3000" b="1" dirty="0">
                <a:solidFill>
                  <a:srgbClr val="13A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143000" y="9563100"/>
            <a:ext cx="43236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CARDIAG · CEF 440 TASK 5 · GROUP 8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280706" y="9544050"/>
            <a:ext cx="9404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3A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algn="l" indent="0" marL="0">
              <a:buNone/>
            </a:pPr>
            <a:r>
              <a:rPr lang="en-US" sz="1350" spc="16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21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2026-06-08T15:22:13Z</dcterms:created>
  <dcterms:modified xsi:type="dcterms:W3CDTF">2026-06-08T15:22:13Z</dcterms:modified>
</cp:coreProperties>
</file>